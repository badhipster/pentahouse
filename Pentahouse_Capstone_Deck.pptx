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1E1B"/>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0552F"/>
          </a:solidFill>
          <a:ln/>
        </p:spPr>
      </p:sp>
      <p:sp>
        <p:nvSpPr>
          <p:cNvPr id="3" name="Text 1"/>
          <p:cNvSpPr/>
          <p:nvPr/>
        </p:nvSpPr>
        <p:spPr>
          <a:xfrm>
            <a:off x="1005840" y="1051560"/>
            <a:ext cx="10058400" cy="274320"/>
          </a:xfrm>
          <a:prstGeom prst="rect">
            <a:avLst/>
          </a:prstGeom>
          <a:noFill/>
          <a:ln/>
        </p:spPr>
        <p:txBody>
          <a:bodyPr wrap="square" rtlCol="0" anchor="ctr"/>
          <a:lstStyle/>
          <a:p>
            <a:pPr indent="0" marL="0">
              <a:buNone/>
            </a:pPr>
            <a:r>
              <a:rPr lang="en-US" sz="1250" b="1" spc="300" kern="0" dirty="0">
                <a:solidFill>
                  <a:srgbClr val="E7D9BD"/>
                </a:solidFill>
                <a:latin typeface="Calibri" pitchFamily="34" charset="0"/>
                <a:ea typeface="Calibri" pitchFamily="34" charset="-122"/>
                <a:cs typeface="Calibri" pitchFamily="34" charset="-120"/>
              </a:rPr>
              <a:t>PRODUCT SPACE · ADVANCED AI PROGRAM · COHORT 11</a:t>
            </a:r>
            <a:endParaRPr lang="en-US" sz="1250" dirty="0"/>
          </a:p>
        </p:txBody>
      </p:sp>
      <p:sp>
        <p:nvSpPr>
          <p:cNvPr id="4" name="Text 2"/>
          <p:cNvSpPr/>
          <p:nvPr/>
        </p:nvSpPr>
        <p:spPr>
          <a:xfrm>
            <a:off x="960120" y="1554480"/>
            <a:ext cx="10058400" cy="1371600"/>
          </a:xfrm>
          <a:prstGeom prst="rect">
            <a:avLst/>
          </a:prstGeom>
          <a:noFill/>
          <a:ln/>
        </p:spPr>
        <p:txBody>
          <a:bodyPr wrap="square" rtlCol="0" anchor="ctr"/>
          <a:lstStyle/>
          <a:p>
            <a:pPr indent="0" marL="0">
              <a:buNone/>
            </a:pPr>
            <a:r>
              <a:rPr lang="en-US" sz="7600" b="1" dirty="0">
                <a:solidFill>
                  <a:srgbClr val="FFFFFF"/>
                </a:solidFill>
                <a:latin typeface="Georgia" pitchFamily="34" charset="0"/>
                <a:ea typeface="Georgia" pitchFamily="34" charset="-122"/>
                <a:cs typeface="Georgia" pitchFamily="34" charset="-120"/>
              </a:rPr>
              <a:t>Pentahouse</a:t>
            </a:r>
            <a:endParaRPr lang="en-US" sz="7600" dirty="0"/>
          </a:p>
        </p:txBody>
      </p:sp>
      <p:sp>
        <p:nvSpPr>
          <p:cNvPr id="5" name="Text 3"/>
          <p:cNvSpPr/>
          <p:nvPr/>
        </p:nvSpPr>
        <p:spPr>
          <a:xfrm>
            <a:off x="1005840" y="2880360"/>
            <a:ext cx="10058400" cy="640080"/>
          </a:xfrm>
          <a:prstGeom prst="rect">
            <a:avLst/>
          </a:prstGeom>
          <a:noFill/>
          <a:ln/>
        </p:spPr>
        <p:txBody>
          <a:bodyPr wrap="square" rtlCol="0" anchor="ctr"/>
          <a:lstStyle/>
          <a:p>
            <a:pPr indent="0" marL="0">
              <a:buNone/>
            </a:pPr>
            <a:r>
              <a:rPr lang="en-US" sz="2500" i="1" dirty="0">
                <a:solidFill>
                  <a:srgbClr val="EDE4D6"/>
                </a:solidFill>
                <a:latin typeface="Georgia" pitchFamily="34" charset="0"/>
                <a:ea typeface="Georgia" pitchFamily="34" charset="-122"/>
                <a:cs typeface="Georgia" pitchFamily="34" charset="-120"/>
              </a:rPr>
              <a:t>Real Estate Marketing &amp; Conversion Intelligence Agent</a:t>
            </a:r>
            <a:endParaRPr lang="en-US" sz="2500" dirty="0"/>
          </a:p>
        </p:txBody>
      </p:sp>
      <p:sp>
        <p:nvSpPr>
          <p:cNvPr id="6" name="Text 4"/>
          <p:cNvSpPr/>
          <p:nvPr/>
        </p:nvSpPr>
        <p:spPr>
          <a:xfrm>
            <a:off x="1005840" y="3657600"/>
            <a:ext cx="9509760" cy="822960"/>
          </a:xfrm>
          <a:prstGeom prst="rect">
            <a:avLst/>
          </a:prstGeom>
          <a:noFill/>
          <a:ln/>
        </p:spPr>
        <p:txBody>
          <a:bodyPr wrap="square" rtlCol="0" anchor="ctr"/>
          <a:lstStyle/>
          <a:p>
            <a:pPr indent="0" marL="0">
              <a:lnSpc>
                <a:spcPts val="2200"/>
              </a:lnSpc>
              <a:buNone/>
            </a:pPr>
            <a:r>
              <a:rPr lang="en-US" sz="1550" dirty="0">
                <a:solidFill>
                  <a:srgbClr val="B9B0A4"/>
                </a:solidFill>
                <a:latin typeface="Calibri" pitchFamily="34" charset="0"/>
                <a:ea typeface="Calibri" pitchFamily="34" charset="-122"/>
                <a:cs typeface="Calibri" pitchFamily="34" charset="-120"/>
              </a:rPr>
              <a:t>A full-funnel, five-agent AI system that turns fragmented property inquiries into qualified site visits — with attribution from the ad rupee to the booking.</a:t>
            </a:r>
            <a:endParaRPr lang="en-US" sz="1550" dirty="0"/>
          </a:p>
        </p:txBody>
      </p:sp>
      <p:sp>
        <p:nvSpPr>
          <p:cNvPr id="7" name="Shape 5"/>
          <p:cNvSpPr/>
          <p:nvPr/>
        </p:nvSpPr>
        <p:spPr>
          <a:xfrm>
            <a:off x="1005840" y="4892040"/>
            <a:ext cx="310896" cy="310896"/>
          </a:xfrm>
          <a:prstGeom prst="ellipse">
            <a:avLst/>
          </a:prstGeom>
          <a:solidFill>
            <a:srgbClr val="3A352F"/>
          </a:solidFill>
          <a:ln/>
        </p:spPr>
      </p:sp>
      <p:sp>
        <p:nvSpPr>
          <p:cNvPr id="8" name="Text 6"/>
          <p:cNvSpPr/>
          <p:nvPr/>
        </p:nvSpPr>
        <p:spPr>
          <a:xfrm>
            <a:off x="777240" y="5248656"/>
            <a:ext cx="777240" cy="274320"/>
          </a:xfrm>
          <a:prstGeom prst="rect">
            <a:avLst/>
          </a:prstGeom>
          <a:noFill/>
          <a:ln/>
        </p:spPr>
        <p:txBody>
          <a:bodyPr wrap="square" rtlCol="0" anchor="ctr"/>
          <a:lstStyle/>
          <a:p>
            <a:pPr algn="ctr" indent="0" marL="0">
              <a:buNone/>
            </a:pPr>
            <a:r>
              <a:rPr lang="en-US" sz="950" dirty="0">
                <a:solidFill>
                  <a:srgbClr val="8A8278"/>
                </a:solidFill>
                <a:latin typeface="Calibri" pitchFamily="34" charset="0"/>
                <a:ea typeface="Calibri" pitchFamily="34" charset="-122"/>
                <a:cs typeface="Calibri" pitchFamily="34" charset="-120"/>
              </a:rPr>
              <a:t>Listing</a:t>
            </a:r>
            <a:endParaRPr lang="en-US" sz="950" dirty="0"/>
          </a:p>
        </p:txBody>
      </p:sp>
      <p:sp>
        <p:nvSpPr>
          <p:cNvPr id="9" name="Shape 7"/>
          <p:cNvSpPr/>
          <p:nvPr/>
        </p:nvSpPr>
        <p:spPr>
          <a:xfrm>
            <a:off x="1920240" y="4892040"/>
            <a:ext cx="310896" cy="310896"/>
          </a:xfrm>
          <a:prstGeom prst="ellipse">
            <a:avLst/>
          </a:prstGeom>
          <a:solidFill>
            <a:srgbClr val="3A352F"/>
          </a:solidFill>
          <a:ln/>
        </p:spPr>
      </p:sp>
      <p:sp>
        <p:nvSpPr>
          <p:cNvPr id="10" name="Text 8"/>
          <p:cNvSpPr/>
          <p:nvPr/>
        </p:nvSpPr>
        <p:spPr>
          <a:xfrm>
            <a:off x="1691640" y="5248656"/>
            <a:ext cx="777240" cy="274320"/>
          </a:xfrm>
          <a:prstGeom prst="rect">
            <a:avLst/>
          </a:prstGeom>
          <a:noFill/>
          <a:ln/>
        </p:spPr>
        <p:txBody>
          <a:bodyPr wrap="square" rtlCol="0" anchor="ctr"/>
          <a:lstStyle/>
          <a:p>
            <a:pPr algn="ctr" indent="0" marL="0">
              <a:buNone/>
            </a:pPr>
            <a:r>
              <a:rPr lang="en-US" sz="950" dirty="0">
                <a:solidFill>
                  <a:srgbClr val="8A8278"/>
                </a:solidFill>
                <a:latin typeface="Calibri" pitchFamily="34" charset="0"/>
                <a:ea typeface="Calibri" pitchFamily="34" charset="-122"/>
                <a:cs typeface="Calibri" pitchFamily="34" charset="-120"/>
              </a:rPr>
              <a:t>Ad</a:t>
            </a:r>
            <a:endParaRPr lang="en-US" sz="950" dirty="0"/>
          </a:p>
        </p:txBody>
      </p:sp>
      <p:sp>
        <p:nvSpPr>
          <p:cNvPr id="11" name="Shape 9"/>
          <p:cNvSpPr/>
          <p:nvPr/>
        </p:nvSpPr>
        <p:spPr>
          <a:xfrm>
            <a:off x="2834640" y="4892040"/>
            <a:ext cx="310896" cy="310896"/>
          </a:xfrm>
          <a:prstGeom prst="ellipse">
            <a:avLst/>
          </a:prstGeom>
          <a:solidFill>
            <a:srgbClr val="C0552F"/>
          </a:solidFill>
          <a:ln/>
        </p:spPr>
      </p:sp>
      <p:sp>
        <p:nvSpPr>
          <p:cNvPr id="12" name="Text 10"/>
          <p:cNvSpPr/>
          <p:nvPr/>
        </p:nvSpPr>
        <p:spPr>
          <a:xfrm>
            <a:off x="2606040" y="5248656"/>
            <a:ext cx="777240" cy="274320"/>
          </a:xfrm>
          <a:prstGeom prst="rect">
            <a:avLst/>
          </a:prstGeom>
          <a:noFill/>
          <a:ln/>
        </p:spPr>
        <p:txBody>
          <a:bodyPr wrap="square" rtlCol="0" anchor="ctr"/>
          <a:lstStyle/>
          <a:p>
            <a:pPr algn="ctr" indent="0" marL="0">
              <a:buNone/>
            </a:pPr>
            <a:r>
              <a:rPr lang="en-US" sz="950" dirty="0">
                <a:solidFill>
                  <a:srgbClr val="8A8278"/>
                </a:solidFill>
                <a:latin typeface="Calibri" pitchFamily="34" charset="0"/>
                <a:ea typeface="Calibri" pitchFamily="34" charset="-122"/>
                <a:cs typeface="Calibri" pitchFamily="34" charset="-120"/>
              </a:rPr>
              <a:t>Lead</a:t>
            </a:r>
            <a:endParaRPr lang="en-US" sz="950" dirty="0"/>
          </a:p>
        </p:txBody>
      </p:sp>
      <p:sp>
        <p:nvSpPr>
          <p:cNvPr id="13" name="Shape 11"/>
          <p:cNvSpPr/>
          <p:nvPr/>
        </p:nvSpPr>
        <p:spPr>
          <a:xfrm>
            <a:off x="3749040" y="4892040"/>
            <a:ext cx="310896" cy="310896"/>
          </a:xfrm>
          <a:prstGeom prst="ellipse">
            <a:avLst/>
          </a:prstGeom>
          <a:solidFill>
            <a:srgbClr val="3A352F"/>
          </a:solidFill>
          <a:ln/>
        </p:spPr>
      </p:sp>
      <p:sp>
        <p:nvSpPr>
          <p:cNvPr id="14" name="Text 12"/>
          <p:cNvSpPr/>
          <p:nvPr/>
        </p:nvSpPr>
        <p:spPr>
          <a:xfrm>
            <a:off x="3520440" y="5248656"/>
            <a:ext cx="777240" cy="274320"/>
          </a:xfrm>
          <a:prstGeom prst="rect">
            <a:avLst/>
          </a:prstGeom>
          <a:noFill/>
          <a:ln/>
        </p:spPr>
        <p:txBody>
          <a:bodyPr wrap="square" rtlCol="0" anchor="ctr"/>
          <a:lstStyle/>
          <a:p>
            <a:pPr algn="ctr" indent="0" marL="0">
              <a:buNone/>
            </a:pPr>
            <a:r>
              <a:rPr lang="en-US" sz="950" dirty="0">
                <a:solidFill>
                  <a:srgbClr val="8A8278"/>
                </a:solidFill>
                <a:latin typeface="Calibri" pitchFamily="34" charset="0"/>
                <a:ea typeface="Calibri" pitchFamily="34" charset="-122"/>
                <a:cs typeface="Calibri" pitchFamily="34" charset="-120"/>
              </a:rPr>
              <a:t>Nurture</a:t>
            </a:r>
            <a:endParaRPr lang="en-US" sz="950" dirty="0"/>
          </a:p>
        </p:txBody>
      </p:sp>
      <p:sp>
        <p:nvSpPr>
          <p:cNvPr id="15" name="Shape 13"/>
          <p:cNvSpPr/>
          <p:nvPr/>
        </p:nvSpPr>
        <p:spPr>
          <a:xfrm>
            <a:off x="4663440" y="4892040"/>
            <a:ext cx="310896" cy="310896"/>
          </a:xfrm>
          <a:prstGeom prst="ellipse">
            <a:avLst/>
          </a:prstGeom>
          <a:solidFill>
            <a:srgbClr val="3A352F"/>
          </a:solidFill>
          <a:ln/>
        </p:spPr>
      </p:sp>
      <p:sp>
        <p:nvSpPr>
          <p:cNvPr id="16" name="Text 14"/>
          <p:cNvSpPr/>
          <p:nvPr/>
        </p:nvSpPr>
        <p:spPr>
          <a:xfrm>
            <a:off x="4434840" y="5248656"/>
            <a:ext cx="777240" cy="274320"/>
          </a:xfrm>
          <a:prstGeom prst="rect">
            <a:avLst/>
          </a:prstGeom>
          <a:noFill/>
          <a:ln/>
        </p:spPr>
        <p:txBody>
          <a:bodyPr wrap="square" rtlCol="0" anchor="ctr"/>
          <a:lstStyle/>
          <a:p>
            <a:pPr algn="ctr" indent="0" marL="0">
              <a:buNone/>
            </a:pPr>
            <a:r>
              <a:rPr lang="en-US" sz="950" dirty="0">
                <a:solidFill>
                  <a:srgbClr val="8A8278"/>
                </a:solidFill>
                <a:latin typeface="Calibri" pitchFamily="34" charset="0"/>
                <a:ea typeface="Calibri" pitchFamily="34" charset="-122"/>
                <a:cs typeface="Calibri" pitchFamily="34" charset="-120"/>
              </a:rPr>
              <a:t>Conversion</a:t>
            </a:r>
            <a:endParaRPr lang="en-US" sz="950" dirty="0"/>
          </a:p>
        </p:txBody>
      </p:sp>
      <p:sp>
        <p:nvSpPr>
          <p:cNvPr id="17" name="Text 15"/>
          <p:cNvSpPr/>
          <p:nvPr/>
        </p:nvSpPr>
        <p:spPr>
          <a:xfrm>
            <a:off x="1005840" y="6126480"/>
            <a:ext cx="1005840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Abhishek Ranjan</a:t>
            </a:r>
            <a:pPr indent="0" marL="0">
              <a:buNone/>
            </a:pPr>
            <a:r>
              <a:rPr lang="en-US" sz="1300" dirty="0">
                <a:solidFill>
                  <a:srgbClr val="9C9488"/>
                </a:solidFill>
                <a:latin typeface="Calibri" pitchFamily="34" charset="0"/>
                <a:ea typeface="Calibri" pitchFamily="34" charset="-122"/>
                <a:cs typeface="Calibri" pitchFamily="34" charset="-120"/>
              </a:rPr>
              <a:t>   ·   APM, Hack2skill   ·   arjha97@gmail.com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4EC"/>
        </a:solidFill>
      </p:bgPr>
    </p:bg>
    <p:spTree>
      <p:nvGrpSpPr>
        <p:cNvPr id="1" name=""/>
        <p:cNvGrpSpPr/>
        <p:nvPr/>
      </p:nvGrpSpPr>
      <p:grpSpPr>
        <a:xfrm>
          <a:off x="0" y="0"/>
          <a:ext cx="0" cy="0"/>
          <a:chOff x="0" y="0"/>
          <a:chExt cx="0" cy="0"/>
        </a:xfrm>
      </p:grpSpPr>
      <p:sp>
        <p:nvSpPr>
          <p:cNvPr id="2" name="Text 0"/>
          <p:cNvSpPr/>
          <p:nvPr/>
        </p:nvSpPr>
        <p:spPr>
          <a:xfrm>
            <a:off x="640080" y="502920"/>
            <a:ext cx="10908792" cy="274320"/>
          </a:xfrm>
          <a:prstGeom prst="rect">
            <a:avLst/>
          </a:prstGeom>
          <a:noFill/>
          <a:ln/>
        </p:spPr>
        <p:txBody>
          <a:bodyPr wrap="square" rtlCol="0" anchor="ctr"/>
          <a:lstStyle/>
          <a:p>
            <a:pPr indent="0" marL="0">
              <a:buNone/>
            </a:pPr>
            <a:r>
              <a:rPr lang="en-US" sz="1200" b="1" spc="300" kern="0" dirty="0">
                <a:solidFill>
                  <a:srgbClr val="C0552F"/>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822960"/>
            <a:ext cx="10908792" cy="1005840"/>
          </a:xfrm>
          <a:prstGeom prst="rect">
            <a:avLst/>
          </a:prstGeom>
          <a:noFill/>
          <a:ln/>
        </p:spPr>
        <p:txBody>
          <a:bodyPr wrap="square" rtlCol="0" anchor="ctr"/>
          <a:lstStyle/>
          <a:p>
            <a:pPr indent="0" marL="0">
              <a:lnSpc>
                <a:spcPts val="3465"/>
              </a:lnSpc>
              <a:buNone/>
            </a:pPr>
            <a:r>
              <a:rPr lang="en-US" sz="3300" b="1" dirty="0">
                <a:solidFill>
                  <a:srgbClr val="201E1B"/>
                </a:solidFill>
                <a:latin typeface="Georgia" pitchFamily="34" charset="0"/>
                <a:ea typeface="Georgia" pitchFamily="34" charset="-122"/>
                <a:cs typeface="Georgia" pitchFamily="34" charset="-120"/>
              </a:rPr>
              <a:t>Leads don't decay from scarcity.</a:t>
            </a:r>
            <a:endParaRPr lang="en-US" sz="3300" dirty="0"/>
          </a:p>
          <a:p>
            <a:pPr indent="0" marL="0">
              <a:lnSpc>
                <a:spcPts val="3465"/>
              </a:lnSpc>
              <a:buNone/>
            </a:pPr>
            <a:r>
              <a:rPr lang="en-US" sz="3300" b="1" dirty="0">
                <a:solidFill>
                  <a:srgbClr val="201E1B"/>
                </a:solidFill>
                <a:latin typeface="Georgia" pitchFamily="34" charset="0"/>
                <a:ea typeface="Georgia" pitchFamily="34" charset="-122"/>
                <a:cs typeface="Georgia" pitchFamily="34" charset="-120"/>
              </a:rPr>
              <a:t>They decay from silence.</a:t>
            </a:r>
            <a:endParaRPr lang="en-US" sz="3300" dirty="0"/>
          </a:p>
        </p:txBody>
      </p:sp>
      <p:sp>
        <p:nvSpPr>
          <p:cNvPr id="4" name="Text 2"/>
          <p:cNvSpPr/>
          <p:nvPr/>
        </p:nvSpPr>
        <p:spPr>
          <a:xfrm>
            <a:off x="640080" y="2286000"/>
            <a:ext cx="5577840" cy="1645920"/>
          </a:xfrm>
          <a:prstGeom prst="rect">
            <a:avLst/>
          </a:prstGeom>
          <a:noFill/>
          <a:ln/>
        </p:spPr>
        <p:txBody>
          <a:bodyPr wrap="square" rtlCol="0" anchor="ctr"/>
          <a:lstStyle/>
          <a:p>
            <a:pPr indent="0" marL="0">
              <a:lnSpc>
                <a:spcPts val="2300"/>
              </a:lnSpc>
              <a:buNone/>
            </a:pPr>
            <a:r>
              <a:rPr lang="en-US" sz="1500" dirty="0">
                <a:solidFill>
                  <a:srgbClr val="2B2722"/>
                </a:solidFill>
                <a:latin typeface="Calibri" pitchFamily="34" charset="0"/>
                <a:ea typeface="Calibri" pitchFamily="34" charset="-122"/>
                <a:cs typeface="Calibri" pitchFamily="34" charset="-120"/>
              </a:rPr>
              <a:t>Inquiries arrive with almost no context — and sales teams act blind. Without knowing why a buyer is here, executives call in sequence, send generic messages, and lose serious buyers to follow-up lag while chasing tyre-kickers.</a:t>
            </a:r>
            <a:endParaRPr lang="en-US" sz="1500" dirty="0"/>
          </a:p>
        </p:txBody>
      </p:sp>
      <p:sp>
        <p:nvSpPr>
          <p:cNvPr id="5" name="Shape 3"/>
          <p:cNvSpPr/>
          <p:nvPr/>
        </p:nvSpPr>
        <p:spPr>
          <a:xfrm>
            <a:off x="640080" y="4160520"/>
            <a:ext cx="5577840" cy="1371600"/>
          </a:xfrm>
          <a:prstGeom prst="roundRect">
            <a:avLst>
              <a:gd name="adj" fmla="val 4000"/>
            </a:avLst>
          </a:prstGeom>
          <a:solidFill>
            <a:srgbClr val="F1E7DA"/>
          </a:solidFill>
          <a:ln/>
        </p:spPr>
      </p:sp>
      <p:sp>
        <p:nvSpPr>
          <p:cNvPr id="6" name="Text 4"/>
          <p:cNvSpPr/>
          <p:nvPr/>
        </p:nvSpPr>
        <p:spPr>
          <a:xfrm>
            <a:off x="960120" y="4160520"/>
            <a:ext cx="4983480" cy="1371600"/>
          </a:xfrm>
          <a:prstGeom prst="rect">
            <a:avLst/>
          </a:prstGeom>
          <a:noFill/>
          <a:ln/>
        </p:spPr>
        <p:txBody>
          <a:bodyPr wrap="square" rtlCol="0" anchor="ctr"/>
          <a:lstStyle/>
          <a:p>
            <a:pPr indent="0" marL="0">
              <a:lnSpc>
                <a:spcPts val="2100"/>
              </a:lnSpc>
              <a:buNone/>
            </a:pPr>
            <a:r>
              <a:rPr lang="en-US" sz="1500" i="1" dirty="0">
                <a:solidFill>
                  <a:srgbClr val="8F3D20"/>
                </a:solidFill>
                <a:latin typeface="Georgia" pitchFamily="34" charset="0"/>
                <a:ea typeface="Georgia" pitchFamily="34" charset="-122"/>
                <a:cs typeface="Georgia" pitchFamily="34" charset="-120"/>
              </a:rPr>
              <a:t>A buyer who shortlisted three projects gets spam calls from two — and a meaningful reply from only one.</a:t>
            </a:r>
            <a:endParaRPr lang="en-US" sz="1500" dirty="0"/>
          </a:p>
        </p:txBody>
      </p:sp>
      <p:sp>
        <p:nvSpPr>
          <p:cNvPr id="7" name="Shape 5"/>
          <p:cNvSpPr/>
          <p:nvPr/>
        </p:nvSpPr>
        <p:spPr>
          <a:xfrm>
            <a:off x="6492240" y="2148840"/>
            <a:ext cx="5029200" cy="141732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8" name="Shape 6"/>
          <p:cNvSpPr/>
          <p:nvPr/>
        </p:nvSpPr>
        <p:spPr>
          <a:xfrm>
            <a:off x="6492240" y="2148840"/>
            <a:ext cx="64008" cy="1417320"/>
          </a:xfrm>
          <a:prstGeom prst="rect">
            <a:avLst/>
          </a:prstGeom>
          <a:solidFill>
            <a:srgbClr val="5E7261"/>
          </a:solidFill>
          <a:ln/>
        </p:spPr>
      </p:sp>
      <p:sp>
        <p:nvSpPr>
          <p:cNvPr id="9" name="Text 7"/>
          <p:cNvSpPr/>
          <p:nvPr/>
        </p:nvSpPr>
        <p:spPr>
          <a:xfrm>
            <a:off x="6766560" y="2286000"/>
            <a:ext cx="4572000" cy="274320"/>
          </a:xfrm>
          <a:prstGeom prst="rect">
            <a:avLst/>
          </a:prstGeom>
          <a:noFill/>
          <a:ln/>
        </p:spPr>
        <p:txBody>
          <a:bodyPr wrap="square" rtlCol="0" anchor="ctr"/>
          <a:lstStyle/>
          <a:p>
            <a:pPr indent="0" marL="0">
              <a:buNone/>
            </a:pPr>
            <a:r>
              <a:rPr lang="en-US" sz="1300" b="1" dirty="0">
                <a:solidFill>
                  <a:srgbClr val="5E7261"/>
                </a:solidFill>
                <a:latin typeface="Calibri" pitchFamily="34" charset="0"/>
                <a:ea typeface="Calibri" pitchFamily="34" charset="-122"/>
                <a:cs typeface="Calibri" pitchFamily="34" charset="-120"/>
              </a:rPr>
              <a:t>What actually arrives</a:t>
            </a:r>
            <a:endParaRPr lang="en-US" sz="1300" dirty="0"/>
          </a:p>
        </p:txBody>
      </p:sp>
      <p:sp>
        <p:nvSpPr>
          <p:cNvPr id="10" name="Shape 8"/>
          <p:cNvSpPr/>
          <p:nvPr/>
        </p:nvSpPr>
        <p:spPr>
          <a:xfrm>
            <a:off x="6766560" y="2697480"/>
            <a:ext cx="1051560" cy="310896"/>
          </a:xfrm>
          <a:prstGeom prst="roundRect">
            <a:avLst>
              <a:gd name="adj" fmla="val 14706"/>
            </a:avLst>
          </a:prstGeom>
          <a:solidFill>
            <a:srgbClr val="EEE9DD"/>
          </a:solidFill>
          <a:ln/>
        </p:spPr>
      </p:sp>
      <p:sp>
        <p:nvSpPr>
          <p:cNvPr id="11" name="Text 9"/>
          <p:cNvSpPr/>
          <p:nvPr/>
        </p:nvSpPr>
        <p:spPr>
          <a:xfrm>
            <a:off x="6766560" y="2697480"/>
            <a:ext cx="1051560" cy="310896"/>
          </a:xfrm>
          <a:prstGeom prst="rect">
            <a:avLst/>
          </a:prstGeom>
          <a:noFill/>
          <a:ln/>
        </p:spPr>
        <p:txBody>
          <a:bodyPr wrap="square" rtlCol="0" anchor="ctr"/>
          <a:lstStyle/>
          <a:p>
            <a:pPr algn="ctr" indent="0" marL="0">
              <a:buNone/>
            </a:pPr>
            <a:r>
              <a:rPr lang="en-US" sz="1100" b="1" dirty="0">
                <a:solidFill>
                  <a:srgbClr val="2B2722"/>
                </a:solidFill>
                <a:latin typeface="Calibri" pitchFamily="34" charset="0"/>
                <a:ea typeface="Calibri" pitchFamily="34" charset="-122"/>
                <a:cs typeface="Calibri" pitchFamily="34" charset="-120"/>
              </a:rPr>
              <a:t>Name</a:t>
            </a:r>
            <a:endParaRPr lang="en-US" sz="1100" dirty="0"/>
          </a:p>
        </p:txBody>
      </p:sp>
      <p:sp>
        <p:nvSpPr>
          <p:cNvPr id="12" name="Shape 10"/>
          <p:cNvSpPr/>
          <p:nvPr/>
        </p:nvSpPr>
        <p:spPr>
          <a:xfrm>
            <a:off x="7909560" y="2697480"/>
            <a:ext cx="1051560" cy="310896"/>
          </a:xfrm>
          <a:prstGeom prst="roundRect">
            <a:avLst>
              <a:gd name="adj" fmla="val 14706"/>
            </a:avLst>
          </a:prstGeom>
          <a:solidFill>
            <a:srgbClr val="EEE9DD"/>
          </a:solidFill>
          <a:ln/>
        </p:spPr>
      </p:sp>
      <p:sp>
        <p:nvSpPr>
          <p:cNvPr id="13" name="Text 11"/>
          <p:cNvSpPr/>
          <p:nvPr/>
        </p:nvSpPr>
        <p:spPr>
          <a:xfrm>
            <a:off x="7909560" y="2697480"/>
            <a:ext cx="1051560" cy="310896"/>
          </a:xfrm>
          <a:prstGeom prst="rect">
            <a:avLst/>
          </a:prstGeom>
          <a:noFill/>
          <a:ln/>
        </p:spPr>
        <p:txBody>
          <a:bodyPr wrap="square" rtlCol="0" anchor="ctr"/>
          <a:lstStyle/>
          <a:p>
            <a:pPr algn="ctr" indent="0" marL="0">
              <a:buNone/>
            </a:pPr>
            <a:r>
              <a:rPr lang="en-US" sz="1100" b="1" dirty="0">
                <a:solidFill>
                  <a:srgbClr val="2B2722"/>
                </a:solidFill>
                <a:latin typeface="Calibri" pitchFamily="34" charset="0"/>
                <a:ea typeface="Calibri" pitchFamily="34" charset="-122"/>
                <a:cs typeface="Calibri" pitchFamily="34" charset="-120"/>
              </a:rPr>
              <a:t>Phone</a:t>
            </a:r>
            <a:endParaRPr lang="en-US" sz="1100" dirty="0"/>
          </a:p>
        </p:txBody>
      </p:sp>
      <p:sp>
        <p:nvSpPr>
          <p:cNvPr id="14" name="Shape 12"/>
          <p:cNvSpPr/>
          <p:nvPr/>
        </p:nvSpPr>
        <p:spPr>
          <a:xfrm>
            <a:off x="9052560" y="2697480"/>
            <a:ext cx="1051560" cy="310896"/>
          </a:xfrm>
          <a:prstGeom prst="roundRect">
            <a:avLst>
              <a:gd name="adj" fmla="val 14706"/>
            </a:avLst>
          </a:prstGeom>
          <a:solidFill>
            <a:srgbClr val="EEE9DD"/>
          </a:solidFill>
          <a:ln/>
        </p:spPr>
      </p:sp>
      <p:sp>
        <p:nvSpPr>
          <p:cNvPr id="15" name="Text 13"/>
          <p:cNvSpPr/>
          <p:nvPr/>
        </p:nvSpPr>
        <p:spPr>
          <a:xfrm>
            <a:off x="9052560" y="2697480"/>
            <a:ext cx="1051560" cy="310896"/>
          </a:xfrm>
          <a:prstGeom prst="rect">
            <a:avLst/>
          </a:prstGeom>
          <a:noFill/>
          <a:ln/>
        </p:spPr>
        <p:txBody>
          <a:bodyPr wrap="square" rtlCol="0" anchor="ctr"/>
          <a:lstStyle/>
          <a:p>
            <a:pPr algn="ctr" indent="0" marL="0">
              <a:buNone/>
            </a:pPr>
            <a:r>
              <a:rPr lang="en-US" sz="1100" b="1" dirty="0">
                <a:solidFill>
                  <a:srgbClr val="2B2722"/>
                </a:solidFill>
                <a:latin typeface="Calibri" pitchFamily="34" charset="0"/>
                <a:ea typeface="Calibri" pitchFamily="34" charset="-122"/>
                <a:cs typeface="Calibri" pitchFamily="34" charset="-120"/>
              </a:rPr>
              <a:t>Email</a:t>
            </a:r>
            <a:endParaRPr lang="en-US" sz="1100" dirty="0"/>
          </a:p>
        </p:txBody>
      </p:sp>
      <p:sp>
        <p:nvSpPr>
          <p:cNvPr id="16" name="Shape 14"/>
          <p:cNvSpPr/>
          <p:nvPr/>
        </p:nvSpPr>
        <p:spPr>
          <a:xfrm>
            <a:off x="10195560" y="2697480"/>
            <a:ext cx="1051560" cy="310896"/>
          </a:xfrm>
          <a:prstGeom prst="roundRect">
            <a:avLst>
              <a:gd name="adj" fmla="val 14706"/>
            </a:avLst>
          </a:prstGeom>
          <a:solidFill>
            <a:srgbClr val="EEE9DD"/>
          </a:solidFill>
          <a:ln/>
        </p:spPr>
      </p:sp>
      <p:sp>
        <p:nvSpPr>
          <p:cNvPr id="17" name="Text 15"/>
          <p:cNvSpPr/>
          <p:nvPr/>
        </p:nvSpPr>
        <p:spPr>
          <a:xfrm>
            <a:off x="10195560" y="2697480"/>
            <a:ext cx="1051560" cy="310896"/>
          </a:xfrm>
          <a:prstGeom prst="rect">
            <a:avLst/>
          </a:prstGeom>
          <a:noFill/>
          <a:ln/>
        </p:spPr>
        <p:txBody>
          <a:bodyPr wrap="square" rtlCol="0" anchor="ctr"/>
          <a:lstStyle/>
          <a:p>
            <a:pPr algn="ctr" indent="0" marL="0">
              <a:buNone/>
            </a:pPr>
            <a:r>
              <a:rPr lang="en-US" sz="1100" b="1" dirty="0">
                <a:solidFill>
                  <a:srgbClr val="2B2722"/>
                </a:solidFill>
                <a:latin typeface="Calibri" pitchFamily="34" charset="0"/>
                <a:ea typeface="Calibri" pitchFamily="34" charset="-122"/>
                <a:cs typeface="Calibri" pitchFamily="34" charset="-120"/>
              </a:rPr>
              <a:t>Project</a:t>
            </a:r>
            <a:endParaRPr lang="en-US" sz="1100" dirty="0"/>
          </a:p>
        </p:txBody>
      </p:sp>
      <p:sp>
        <p:nvSpPr>
          <p:cNvPr id="18" name="Shape 16"/>
          <p:cNvSpPr/>
          <p:nvPr/>
        </p:nvSpPr>
        <p:spPr>
          <a:xfrm>
            <a:off x="6492240" y="3794760"/>
            <a:ext cx="5029200" cy="233172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9" name="Shape 17"/>
          <p:cNvSpPr/>
          <p:nvPr/>
        </p:nvSpPr>
        <p:spPr>
          <a:xfrm>
            <a:off x="6492240" y="3794760"/>
            <a:ext cx="64008" cy="2331720"/>
          </a:xfrm>
          <a:prstGeom prst="rect">
            <a:avLst/>
          </a:prstGeom>
          <a:solidFill>
            <a:srgbClr val="C0552F"/>
          </a:solidFill>
          <a:ln/>
        </p:spPr>
      </p:sp>
      <p:sp>
        <p:nvSpPr>
          <p:cNvPr id="20" name="Text 18"/>
          <p:cNvSpPr/>
          <p:nvPr/>
        </p:nvSpPr>
        <p:spPr>
          <a:xfrm>
            <a:off x="6766560" y="3931920"/>
            <a:ext cx="4572000" cy="274320"/>
          </a:xfrm>
          <a:prstGeom prst="rect">
            <a:avLst/>
          </a:prstGeom>
          <a:noFill/>
          <a:ln/>
        </p:spPr>
        <p:txBody>
          <a:bodyPr wrap="square" rtlCol="0" anchor="ctr"/>
          <a:lstStyle/>
          <a:p>
            <a:pPr indent="0" marL="0">
              <a:buNone/>
            </a:pPr>
            <a:r>
              <a:rPr lang="en-US" sz="1300" b="1" dirty="0">
                <a:solidFill>
                  <a:srgbClr val="8F3D20"/>
                </a:solidFill>
                <a:latin typeface="Calibri" pitchFamily="34" charset="0"/>
                <a:ea typeface="Calibri" pitchFamily="34" charset="-122"/>
                <a:cs typeface="Calibri" pitchFamily="34" charset="-120"/>
              </a:rPr>
              <a:t>What's missing — the intent</a:t>
            </a:r>
            <a:endParaRPr lang="en-US" sz="1300" dirty="0"/>
          </a:p>
        </p:txBody>
      </p:sp>
      <p:sp>
        <p:nvSpPr>
          <p:cNvPr id="21" name="Shape 19"/>
          <p:cNvSpPr/>
          <p:nvPr/>
        </p:nvSpPr>
        <p:spPr>
          <a:xfrm>
            <a:off x="6766560" y="4343400"/>
            <a:ext cx="1051560" cy="310896"/>
          </a:xfrm>
          <a:prstGeom prst="roundRect">
            <a:avLst>
              <a:gd name="adj" fmla="val 14706"/>
            </a:avLst>
          </a:prstGeom>
          <a:solidFill>
            <a:srgbClr val="F4E2D8"/>
          </a:solidFill>
          <a:ln/>
        </p:spPr>
      </p:sp>
      <p:sp>
        <p:nvSpPr>
          <p:cNvPr id="22" name="Text 20"/>
          <p:cNvSpPr/>
          <p:nvPr/>
        </p:nvSpPr>
        <p:spPr>
          <a:xfrm>
            <a:off x="6766560" y="4343400"/>
            <a:ext cx="1051560" cy="310896"/>
          </a:xfrm>
          <a:prstGeom prst="rect">
            <a:avLst/>
          </a:prstGeom>
          <a:noFill/>
          <a:ln/>
        </p:spPr>
        <p:txBody>
          <a:bodyPr wrap="square" rtlCol="0" anchor="ctr"/>
          <a:lstStyle/>
          <a:p>
            <a:pPr algn="ctr" indent="0" marL="0">
              <a:buNone/>
            </a:pPr>
            <a:r>
              <a:rPr lang="en-US" sz="1100" b="1" dirty="0">
                <a:solidFill>
                  <a:srgbClr val="8F3D20"/>
                </a:solidFill>
                <a:latin typeface="Calibri" pitchFamily="34" charset="0"/>
                <a:ea typeface="Calibri" pitchFamily="34" charset="-122"/>
                <a:cs typeface="Calibri" pitchFamily="34" charset="-120"/>
              </a:rPr>
              <a:t>Purpose</a:t>
            </a:r>
            <a:endParaRPr lang="en-US" sz="1100" dirty="0"/>
          </a:p>
        </p:txBody>
      </p:sp>
      <p:sp>
        <p:nvSpPr>
          <p:cNvPr id="23" name="Shape 21"/>
          <p:cNvSpPr/>
          <p:nvPr/>
        </p:nvSpPr>
        <p:spPr>
          <a:xfrm>
            <a:off x="7909560" y="4343400"/>
            <a:ext cx="1051560" cy="310896"/>
          </a:xfrm>
          <a:prstGeom prst="roundRect">
            <a:avLst>
              <a:gd name="adj" fmla="val 14706"/>
            </a:avLst>
          </a:prstGeom>
          <a:solidFill>
            <a:srgbClr val="F4E2D8"/>
          </a:solidFill>
          <a:ln/>
        </p:spPr>
      </p:sp>
      <p:sp>
        <p:nvSpPr>
          <p:cNvPr id="24" name="Text 22"/>
          <p:cNvSpPr/>
          <p:nvPr/>
        </p:nvSpPr>
        <p:spPr>
          <a:xfrm>
            <a:off x="7909560" y="4343400"/>
            <a:ext cx="1051560" cy="310896"/>
          </a:xfrm>
          <a:prstGeom prst="rect">
            <a:avLst/>
          </a:prstGeom>
          <a:noFill/>
          <a:ln/>
        </p:spPr>
        <p:txBody>
          <a:bodyPr wrap="square" rtlCol="0" anchor="ctr"/>
          <a:lstStyle/>
          <a:p>
            <a:pPr algn="ctr" indent="0" marL="0">
              <a:buNone/>
            </a:pPr>
            <a:r>
              <a:rPr lang="en-US" sz="1100" b="1" dirty="0">
                <a:solidFill>
                  <a:srgbClr val="8F3D20"/>
                </a:solidFill>
                <a:latin typeface="Calibri" pitchFamily="34" charset="0"/>
                <a:ea typeface="Calibri" pitchFamily="34" charset="-122"/>
                <a:cs typeface="Calibri" pitchFamily="34" charset="-120"/>
              </a:rPr>
              <a:t>Budget</a:t>
            </a:r>
            <a:endParaRPr lang="en-US" sz="1100" dirty="0"/>
          </a:p>
        </p:txBody>
      </p:sp>
      <p:sp>
        <p:nvSpPr>
          <p:cNvPr id="25" name="Shape 23"/>
          <p:cNvSpPr/>
          <p:nvPr/>
        </p:nvSpPr>
        <p:spPr>
          <a:xfrm>
            <a:off x="9052560" y="4343400"/>
            <a:ext cx="1051560" cy="310896"/>
          </a:xfrm>
          <a:prstGeom prst="roundRect">
            <a:avLst>
              <a:gd name="adj" fmla="val 14706"/>
            </a:avLst>
          </a:prstGeom>
          <a:solidFill>
            <a:srgbClr val="F4E2D8"/>
          </a:solidFill>
          <a:ln/>
        </p:spPr>
      </p:sp>
      <p:sp>
        <p:nvSpPr>
          <p:cNvPr id="26" name="Text 24"/>
          <p:cNvSpPr/>
          <p:nvPr/>
        </p:nvSpPr>
        <p:spPr>
          <a:xfrm>
            <a:off x="9052560" y="4343400"/>
            <a:ext cx="1051560" cy="310896"/>
          </a:xfrm>
          <a:prstGeom prst="rect">
            <a:avLst/>
          </a:prstGeom>
          <a:noFill/>
          <a:ln/>
        </p:spPr>
        <p:txBody>
          <a:bodyPr wrap="square" rtlCol="0" anchor="ctr"/>
          <a:lstStyle/>
          <a:p>
            <a:pPr algn="ctr" indent="0" marL="0">
              <a:buNone/>
            </a:pPr>
            <a:r>
              <a:rPr lang="en-US" sz="1100" b="1" dirty="0">
                <a:solidFill>
                  <a:srgbClr val="8F3D20"/>
                </a:solidFill>
                <a:latin typeface="Calibri" pitchFamily="34" charset="0"/>
                <a:ea typeface="Calibri" pitchFamily="34" charset="-122"/>
                <a:cs typeface="Calibri" pitchFamily="34" charset="-120"/>
              </a:rPr>
              <a:t>Config</a:t>
            </a:r>
            <a:endParaRPr lang="en-US" sz="1100" dirty="0"/>
          </a:p>
        </p:txBody>
      </p:sp>
      <p:sp>
        <p:nvSpPr>
          <p:cNvPr id="27" name="Shape 25"/>
          <p:cNvSpPr/>
          <p:nvPr/>
        </p:nvSpPr>
        <p:spPr>
          <a:xfrm>
            <a:off x="10195560" y="4343400"/>
            <a:ext cx="1051560" cy="310896"/>
          </a:xfrm>
          <a:prstGeom prst="roundRect">
            <a:avLst>
              <a:gd name="adj" fmla="val 14706"/>
            </a:avLst>
          </a:prstGeom>
          <a:solidFill>
            <a:srgbClr val="F4E2D8"/>
          </a:solidFill>
          <a:ln/>
        </p:spPr>
      </p:sp>
      <p:sp>
        <p:nvSpPr>
          <p:cNvPr id="28" name="Text 26"/>
          <p:cNvSpPr/>
          <p:nvPr/>
        </p:nvSpPr>
        <p:spPr>
          <a:xfrm>
            <a:off x="10195560" y="4343400"/>
            <a:ext cx="1051560" cy="310896"/>
          </a:xfrm>
          <a:prstGeom prst="rect">
            <a:avLst/>
          </a:prstGeom>
          <a:noFill/>
          <a:ln/>
        </p:spPr>
        <p:txBody>
          <a:bodyPr wrap="square" rtlCol="0" anchor="ctr"/>
          <a:lstStyle/>
          <a:p>
            <a:pPr algn="ctr" indent="0" marL="0">
              <a:buNone/>
            </a:pPr>
            <a:r>
              <a:rPr lang="en-US" sz="1100" b="1" dirty="0">
                <a:solidFill>
                  <a:srgbClr val="8F3D20"/>
                </a:solidFill>
                <a:latin typeface="Calibri" pitchFamily="34" charset="0"/>
                <a:ea typeface="Calibri" pitchFamily="34" charset="-122"/>
                <a:cs typeface="Calibri" pitchFamily="34" charset="-120"/>
              </a:rPr>
              <a:t>Timeline</a:t>
            </a:r>
            <a:endParaRPr lang="en-US" sz="1100" dirty="0"/>
          </a:p>
        </p:txBody>
      </p:sp>
      <p:sp>
        <p:nvSpPr>
          <p:cNvPr id="29" name="Shape 27"/>
          <p:cNvSpPr/>
          <p:nvPr/>
        </p:nvSpPr>
        <p:spPr>
          <a:xfrm>
            <a:off x="6766560" y="4818888"/>
            <a:ext cx="1051560" cy="310896"/>
          </a:xfrm>
          <a:prstGeom prst="roundRect">
            <a:avLst>
              <a:gd name="adj" fmla="val 14706"/>
            </a:avLst>
          </a:prstGeom>
          <a:solidFill>
            <a:srgbClr val="F4E2D8"/>
          </a:solidFill>
          <a:ln/>
        </p:spPr>
      </p:sp>
      <p:sp>
        <p:nvSpPr>
          <p:cNvPr id="30" name="Text 28"/>
          <p:cNvSpPr/>
          <p:nvPr/>
        </p:nvSpPr>
        <p:spPr>
          <a:xfrm>
            <a:off x="6766560" y="4818888"/>
            <a:ext cx="1051560" cy="310896"/>
          </a:xfrm>
          <a:prstGeom prst="rect">
            <a:avLst/>
          </a:prstGeom>
          <a:noFill/>
          <a:ln/>
        </p:spPr>
        <p:txBody>
          <a:bodyPr wrap="square" rtlCol="0" anchor="ctr"/>
          <a:lstStyle/>
          <a:p>
            <a:pPr algn="ctr" indent="0" marL="0">
              <a:buNone/>
            </a:pPr>
            <a:r>
              <a:rPr lang="en-US" sz="1100" b="1" dirty="0">
                <a:solidFill>
                  <a:srgbClr val="8F3D20"/>
                </a:solidFill>
                <a:latin typeface="Calibri" pitchFamily="34" charset="0"/>
                <a:ea typeface="Calibri" pitchFamily="34" charset="-122"/>
                <a:cs typeface="Calibri" pitchFamily="34" charset="-120"/>
              </a:rPr>
              <a:t>Locality</a:t>
            </a:r>
            <a:endParaRPr lang="en-US" sz="1100" dirty="0"/>
          </a:p>
        </p:txBody>
      </p:sp>
      <p:sp>
        <p:nvSpPr>
          <p:cNvPr id="31" name="Shape 29"/>
          <p:cNvSpPr/>
          <p:nvPr/>
        </p:nvSpPr>
        <p:spPr>
          <a:xfrm>
            <a:off x="7909560" y="4818888"/>
            <a:ext cx="1051560" cy="310896"/>
          </a:xfrm>
          <a:prstGeom prst="roundRect">
            <a:avLst>
              <a:gd name="adj" fmla="val 14706"/>
            </a:avLst>
          </a:prstGeom>
          <a:solidFill>
            <a:srgbClr val="F4E2D8"/>
          </a:solidFill>
          <a:ln/>
        </p:spPr>
      </p:sp>
      <p:sp>
        <p:nvSpPr>
          <p:cNvPr id="32" name="Text 30"/>
          <p:cNvSpPr/>
          <p:nvPr/>
        </p:nvSpPr>
        <p:spPr>
          <a:xfrm>
            <a:off x="7909560" y="4818888"/>
            <a:ext cx="1051560" cy="310896"/>
          </a:xfrm>
          <a:prstGeom prst="rect">
            <a:avLst/>
          </a:prstGeom>
          <a:noFill/>
          <a:ln/>
        </p:spPr>
        <p:txBody>
          <a:bodyPr wrap="square" rtlCol="0" anchor="ctr"/>
          <a:lstStyle/>
          <a:p>
            <a:pPr algn="ctr" indent="0" marL="0">
              <a:buNone/>
            </a:pPr>
            <a:r>
              <a:rPr lang="en-US" sz="1100" b="1" dirty="0">
                <a:solidFill>
                  <a:srgbClr val="8F3D20"/>
                </a:solidFill>
                <a:latin typeface="Calibri" pitchFamily="34" charset="0"/>
                <a:ea typeface="Calibri" pitchFamily="34" charset="-122"/>
                <a:cs typeface="Calibri" pitchFamily="34" charset="-120"/>
              </a:rPr>
              <a:t>Financing</a:t>
            </a:r>
            <a:endParaRPr lang="en-US" sz="1100" dirty="0"/>
          </a:p>
        </p:txBody>
      </p:sp>
      <p:sp>
        <p:nvSpPr>
          <p:cNvPr id="33" name="Shape 31"/>
          <p:cNvSpPr/>
          <p:nvPr/>
        </p:nvSpPr>
        <p:spPr>
          <a:xfrm>
            <a:off x="9052560" y="4818888"/>
            <a:ext cx="1051560" cy="310896"/>
          </a:xfrm>
          <a:prstGeom prst="roundRect">
            <a:avLst>
              <a:gd name="adj" fmla="val 14706"/>
            </a:avLst>
          </a:prstGeom>
          <a:solidFill>
            <a:srgbClr val="F4E2D8"/>
          </a:solidFill>
          <a:ln/>
        </p:spPr>
      </p:sp>
      <p:sp>
        <p:nvSpPr>
          <p:cNvPr id="34" name="Text 32"/>
          <p:cNvSpPr/>
          <p:nvPr/>
        </p:nvSpPr>
        <p:spPr>
          <a:xfrm>
            <a:off x="9052560" y="4818888"/>
            <a:ext cx="1051560" cy="310896"/>
          </a:xfrm>
          <a:prstGeom prst="rect">
            <a:avLst/>
          </a:prstGeom>
          <a:noFill/>
          <a:ln/>
        </p:spPr>
        <p:txBody>
          <a:bodyPr wrap="square" rtlCol="0" anchor="ctr"/>
          <a:lstStyle/>
          <a:p>
            <a:pPr algn="ctr" indent="0" marL="0">
              <a:buNone/>
            </a:pPr>
            <a:r>
              <a:rPr lang="en-US" sz="1100" b="1" dirty="0">
                <a:solidFill>
                  <a:srgbClr val="8F3D20"/>
                </a:solidFill>
                <a:latin typeface="Calibri" pitchFamily="34" charset="0"/>
                <a:ea typeface="Calibri" pitchFamily="34" charset="-122"/>
                <a:cs typeface="Calibri" pitchFamily="34" charset="-120"/>
              </a:rPr>
              <a:t>Visit-ready</a:t>
            </a:r>
            <a:endParaRPr lang="en-US" sz="1100" dirty="0"/>
          </a:p>
        </p:txBody>
      </p:sp>
      <p:sp>
        <p:nvSpPr>
          <p:cNvPr id="35" name="Shape 33"/>
          <p:cNvSpPr/>
          <p:nvPr/>
        </p:nvSpPr>
        <p:spPr>
          <a:xfrm>
            <a:off x="10195560" y="4818888"/>
            <a:ext cx="1051560" cy="310896"/>
          </a:xfrm>
          <a:prstGeom prst="roundRect">
            <a:avLst>
              <a:gd name="adj" fmla="val 14706"/>
            </a:avLst>
          </a:prstGeom>
          <a:solidFill>
            <a:srgbClr val="F4E2D8"/>
          </a:solidFill>
          <a:ln/>
        </p:spPr>
      </p:sp>
      <p:sp>
        <p:nvSpPr>
          <p:cNvPr id="36" name="Text 34"/>
          <p:cNvSpPr/>
          <p:nvPr/>
        </p:nvSpPr>
        <p:spPr>
          <a:xfrm>
            <a:off x="10195560" y="4818888"/>
            <a:ext cx="1051560" cy="310896"/>
          </a:xfrm>
          <a:prstGeom prst="rect">
            <a:avLst/>
          </a:prstGeom>
          <a:noFill/>
          <a:ln/>
        </p:spPr>
        <p:txBody>
          <a:bodyPr wrap="square" rtlCol="0" anchor="ctr"/>
          <a:lstStyle/>
          <a:p>
            <a:pPr algn="ctr" indent="0" marL="0">
              <a:buNone/>
            </a:pPr>
            <a:r>
              <a:rPr lang="en-US" sz="1100" b="1" dirty="0">
                <a:solidFill>
                  <a:srgbClr val="8F3D20"/>
                </a:solidFill>
                <a:latin typeface="Calibri" pitchFamily="34" charset="0"/>
                <a:ea typeface="Calibri" pitchFamily="34" charset="-122"/>
                <a:cs typeface="Calibri" pitchFamily="34" charset="-120"/>
              </a:rPr>
              <a:t>Decider</a:t>
            </a:r>
            <a:endParaRPr lang="en-US" sz="1100" dirty="0"/>
          </a:p>
        </p:txBody>
      </p:sp>
      <p:sp>
        <p:nvSpPr>
          <p:cNvPr id="37" name="Text 35"/>
          <p:cNvSpPr/>
          <p:nvPr/>
        </p:nvSpPr>
        <p:spPr>
          <a:xfrm>
            <a:off x="6492240" y="5486400"/>
            <a:ext cx="5029200" cy="548640"/>
          </a:xfrm>
          <a:prstGeom prst="rect">
            <a:avLst/>
          </a:prstGeom>
          <a:noFill/>
          <a:ln/>
        </p:spPr>
        <p:txBody>
          <a:bodyPr wrap="square" rtlCol="0" anchor="ctr"/>
          <a:lstStyle/>
          <a:p>
            <a:pPr indent="0" marL="0">
              <a:buNone/>
            </a:pPr>
            <a:r>
              <a:rPr lang="en-US" sz="1150" i="1" dirty="0">
                <a:solidFill>
                  <a:srgbClr val="6F685E"/>
                </a:solidFill>
                <a:latin typeface="Calibri" pitchFamily="34" charset="0"/>
                <a:ea typeface="Calibri" pitchFamily="34" charset="-122"/>
                <a:cs typeface="Calibri" pitchFamily="34" charset="-120"/>
              </a:rPr>
              <a:t>Missing intent data is the root cause of funnel decay — the core problem, not lead supply.</a:t>
            </a:r>
            <a:endParaRPr lang="en-US" sz="1150" dirty="0"/>
          </a:p>
        </p:txBody>
      </p:sp>
      <p:sp>
        <p:nvSpPr>
          <p:cNvPr id="38" name="Text 36"/>
          <p:cNvSpPr/>
          <p:nvPr/>
        </p:nvSpPr>
        <p:spPr>
          <a:xfrm>
            <a:off x="640080" y="6446520"/>
            <a:ext cx="2743200" cy="274320"/>
          </a:xfrm>
          <a:prstGeom prst="rect">
            <a:avLst/>
          </a:prstGeom>
          <a:noFill/>
          <a:ln/>
        </p:spPr>
        <p:txBody>
          <a:bodyPr wrap="square" rtlCol="0" anchor="ctr"/>
          <a:lstStyle/>
          <a:p>
            <a:pPr indent="0" marL="0">
              <a:buNone/>
            </a:pPr>
            <a:r>
              <a:rPr lang="en-US" sz="1000" i="1" dirty="0">
                <a:solidFill>
                  <a:srgbClr val="6F685E"/>
                </a:solidFill>
                <a:latin typeface="Georgia" pitchFamily="34" charset="0"/>
                <a:ea typeface="Georgia" pitchFamily="34" charset="-122"/>
                <a:cs typeface="Georgia" pitchFamily="34" charset="-120"/>
              </a:rPr>
              <a:t>Pentahouse</a:t>
            </a:r>
            <a:endParaRPr lang="en-US" sz="1000" dirty="0"/>
          </a:p>
        </p:txBody>
      </p:sp>
      <p:sp>
        <p:nvSpPr>
          <p:cNvPr id="39" name="Text 37"/>
          <p:cNvSpPr/>
          <p:nvPr/>
        </p:nvSpPr>
        <p:spPr>
          <a:xfrm>
            <a:off x="11091672" y="6446520"/>
            <a:ext cx="457200" cy="274320"/>
          </a:xfrm>
          <a:prstGeom prst="rect">
            <a:avLst/>
          </a:prstGeom>
          <a:noFill/>
          <a:ln/>
        </p:spPr>
        <p:txBody>
          <a:bodyPr wrap="square" rtlCol="0" anchor="ctr"/>
          <a:lstStyle/>
          <a:p>
            <a:pPr algn="r" indent="0" marL="0">
              <a:buNone/>
            </a:pPr>
            <a:r>
              <a:rPr lang="en-US" sz="1000" dirty="0">
                <a:solidFill>
                  <a:srgbClr val="6F685E"/>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4EC"/>
        </a:solidFill>
      </p:bgPr>
    </p:bg>
    <p:spTree>
      <p:nvGrpSpPr>
        <p:cNvPr id="1" name=""/>
        <p:cNvGrpSpPr/>
        <p:nvPr/>
      </p:nvGrpSpPr>
      <p:grpSpPr>
        <a:xfrm>
          <a:off x="0" y="0"/>
          <a:ext cx="0" cy="0"/>
          <a:chOff x="0" y="0"/>
          <a:chExt cx="0" cy="0"/>
        </a:xfrm>
      </p:grpSpPr>
      <p:sp>
        <p:nvSpPr>
          <p:cNvPr id="2" name="Text 0"/>
          <p:cNvSpPr/>
          <p:nvPr/>
        </p:nvSpPr>
        <p:spPr>
          <a:xfrm>
            <a:off x="640080" y="502920"/>
            <a:ext cx="10908792" cy="274320"/>
          </a:xfrm>
          <a:prstGeom prst="rect">
            <a:avLst/>
          </a:prstGeom>
          <a:noFill/>
          <a:ln/>
        </p:spPr>
        <p:txBody>
          <a:bodyPr wrap="square" rtlCol="0" anchor="ctr"/>
          <a:lstStyle/>
          <a:p>
            <a:pPr indent="0" marL="0">
              <a:buNone/>
            </a:pPr>
            <a:r>
              <a:rPr lang="en-US" sz="1200" b="1" spc="300" kern="0" dirty="0">
                <a:solidFill>
                  <a:srgbClr val="C0552F"/>
                </a:solidFill>
                <a:latin typeface="Calibri" pitchFamily="34" charset="0"/>
                <a:ea typeface="Calibri" pitchFamily="34" charset="-122"/>
                <a:cs typeface="Calibri" pitchFamily="34" charset="-120"/>
              </a:rPr>
              <a:t>THE COST</a:t>
            </a:r>
            <a:endParaRPr lang="en-US" sz="1200" dirty="0"/>
          </a:p>
        </p:txBody>
      </p:sp>
      <p:sp>
        <p:nvSpPr>
          <p:cNvPr id="3" name="Text 1"/>
          <p:cNvSpPr/>
          <p:nvPr/>
        </p:nvSpPr>
        <p:spPr>
          <a:xfrm>
            <a:off x="640080" y="822960"/>
            <a:ext cx="10908792" cy="1005840"/>
          </a:xfrm>
          <a:prstGeom prst="rect">
            <a:avLst/>
          </a:prstGeom>
          <a:noFill/>
          <a:ln/>
        </p:spPr>
        <p:txBody>
          <a:bodyPr wrap="square" rtlCol="0" anchor="ctr"/>
          <a:lstStyle/>
          <a:p>
            <a:pPr indent="0" marL="0">
              <a:lnSpc>
                <a:spcPts val="3465"/>
              </a:lnSpc>
              <a:buNone/>
            </a:pPr>
            <a:r>
              <a:rPr lang="en-US" sz="3300" b="1" dirty="0">
                <a:solidFill>
                  <a:srgbClr val="201E1B"/>
                </a:solidFill>
                <a:latin typeface="Georgia" pitchFamily="34" charset="0"/>
                <a:ea typeface="Georgia" pitchFamily="34" charset="-122"/>
                <a:cs typeface="Georgia" pitchFamily="34" charset="-120"/>
              </a:rPr>
              <a:t>A leaky funnel, not a lead shortage</a:t>
            </a:r>
            <a:endParaRPr lang="en-US" sz="3300" dirty="0"/>
          </a:p>
        </p:txBody>
      </p:sp>
      <p:sp>
        <p:nvSpPr>
          <p:cNvPr id="4" name="Shape 2"/>
          <p:cNvSpPr/>
          <p:nvPr/>
        </p:nvSpPr>
        <p:spPr>
          <a:xfrm>
            <a:off x="640080" y="2331720"/>
            <a:ext cx="2514600" cy="228600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5" name="Text 3"/>
          <p:cNvSpPr/>
          <p:nvPr/>
        </p:nvSpPr>
        <p:spPr>
          <a:xfrm>
            <a:off x="731520" y="2697480"/>
            <a:ext cx="2331720" cy="822960"/>
          </a:xfrm>
          <a:prstGeom prst="rect">
            <a:avLst/>
          </a:prstGeom>
          <a:noFill/>
          <a:ln/>
        </p:spPr>
        <p:txBody>
          <a:bodyPr wrap="square" rtlCol="0" anchor="ctr"/>
          <a:lstStyle/>
          <a:p>
            <a:pPr algn="ctr" indent="0" marL="0">
              <a:buNone/>
            </a:pPr>
            <a:r>
              <a:rPr lang="en-US" sz="3000" b="1" dirty="0">
                <a:solidFill>
                  <a:srgbClr val="C0552F"/>
                </a:solidFill>
                <a:latin typeface="Georgia" pitchFamily="34" charset="0"/>
                <a:ea typeface="Georgia" pitchFamily="34" charset="-122"/>
                <a:cs typeface="Georgia" pitchFamily="34" charset="-120"/>
              </a:rPr>
              <a:t>~5 hrs</a:t>
            </a:r>
            <a:endParaRPr lang="en-US" sz="3000" dirty="0"/>
          </a:p>
        </p:txBody>
      </p:sp>
      <p:sp>
        <p:nvSpPr>
          <p:cNvPr id="6" name="Text 4"/>
          <p:cNvSpPr/>
          <p:nvPr/>
        </p:nvSpPr>
        <p:spPr>
          <a:xfrm>
            <a:off x="868680" y="3611880"/>
            <a:ext cx="2057400" cy="868680"/>
          </a:xfrm>
          <a:prstGeom prst="rect">
            <a:avLst/>
          </a:prstGeom>
          <a:noFill/>
          <a:ln/>
        </p:spPr>
        <p:txBody>
          <a:bodyPr wrap="square" rtlCol="0" anchor="ctr"/>
          <a:lstStyle/>
          <a:p>
            <a:pPr algn="ctr" indent="0" marL="0">
              <a:lnSpc>
                <a:spcPts val="1700"/>
              </a:lnSpc>
              <a:buNone/>
            </a:pPr>
            <a:r>
              <a:rPr lang="en-US" sz="1250" dirty="0">
                <a:solidFill>
                  <a:srgbClr val="2B2722"/>
                </a:solidFill>
                <a:latin typeface="Calibri" pitchFamily="34" charset="0"/>
                <a:ea typeface="Calibri" pitchFamily="34" charset="-122"/>
                <a:cs typeface="Calibri" pitchFamily="34" charset="-120"/>
              </a:rPr>
              <a:t>median first response to a new inquiry</a:t>
            </a:r>
            <a:endParaRPr lang="en-US" sz="1250" dirty="0"/>
          </a:p>
        </p:txBody>
      </p:sp>
      <p:sp>
        <p:nvSpPr>
          <p:cNvPr id="7" name="Shape 5"/>
          <p:cNvSpPr/>
          <p:nvPr/>
        </p:nvSpPr>
        <p:spPr>
          <a:xfrm>
            <a:off x="3383280" y="2331720"/>
            <a:ext cx="2514600" cy="228600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8" name="Text 6"/>
          <p:cNvSpPr/>
          <p:nvPr/>
        </p:nvSpPr>
        <p:spPr>
          <a:xfrm>
            <a:off x="3474720" y="2697480"/>
            <a:ext cx="2331720" cy="822960"/>
          </a:xfrm>
          <a:prstGeom prst="rect">
            <a:avLst/>
          </a:prstGeom>
          <a:noFill/>
          <a:ln/>
        </p:spPr>
        <p:txBody>
          <a:bodyPr wrap="square" rtlCol="0" anchor="ctr"/>
          <a:lstStyle/>
          <a:p>
            <a:pPr algn="ctr" indent="0" marL="0">
              <a:buNone/>
            </a:pPr>
            <a:r>
              <a:rPr lang="en-US" sz="3000" b="1" dirty="0">
                <a:solidFill>
                  <a:srgbClr val="C0552F"/>
                </a:solidFill>
                <a:latin typeface="Georgia" pitchFamily="34" charset="0"/>
                <a:ea typeface="Georgia" pitchFamily="34" charset="-122"/>
                <a:cs typeface="Georgia" pitchFamily="34" charset="-120"/>
              </a:rPr>
              <a:t>Rs 700–4,500</a:t>
            </a:r>
            <a:endParaRPr lang="en-US" sz="3000" dirty="0"/>
          </a:p>
        </p:txBody>
      </p:sp>
      <p:sp>
        <p:nvSpPr>
          <p:cNvPr id="9" name="Text 7"/>
          <p:cNvSpPr/>
          <p:nvPr/>
        </p:nvSpPr>
        <p:spPr>
          <a:xfrm>
            <a:off x="3611880" y="3611880"/>
            <a:ext cx="2057400" cy="868680"/>
          </a:xfrm>
          <a:prstGeom prst="rect">
            <a:avLst/>
          </a:prstGeom>
          <a:noFill/>
          <a:ln/>
        </p:spPr>
        <p:txBody>
          <a:bodyPr wrap="square" rtlCol="0" anchor="ctr"/>
          <a:lstStyle/>
          <a:p>
            <a:pPr algn="ctr" indent="0" marL="0">
              <a:lnSpc>
                <a:spcPts val="1700"/>
              </a:lnSpc>
              <a:buNone/>
            </a:pPr>
            <a:r>
              <a:rPr lang="en-US" sz="1250" dirty="0">
                <a:solidFill>
                  <a:srgbClr val="2B2722"/>
                </a:solidFill>
                <a:latin typeface="Calibri" pitchFamily="34" charset="0"/>
                <a:ea typeface="Calibri" pitchFamily="34" charset="-122"/>
                <a:cs typeface="Calibri" pitchFamily="34" charset="-120"/>
              </a:rPr>
              <a:t>spent per lead across portals &amp; ads</a:t>
            </a:r>
            <a:endParaRPr lang="en-US" sz="1250" dirty="0"/>
          </a:p>
        </p:txBody>
      </p:sp>
      <p:sp>
        <p:nvSpPr>
          <p:cNvPr id="10" name="Shape 8"/>
          <p:cNvSpPr/>
          <p:nvPr/>
        </p:nvSpPr>
        <p:spPr>
          <a:xfrm>
            <a:off x="6126480" y="2331720"/>
            <a:ext cx="2514600" cy="228600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1" name="Text 9"/>
          <p:cNvSpPr/>
          <p:nvPr/>
        </p:nvSpPr>
        <p:spPr>
          <a:xfrm>
            <a:off x="6217920" y="2697480"/>
            <a:ext cx="2331720" cy="822960"/>
          </a:xfrm>
          <a:prstGeom prst="rect">
            <a:avLst/>
          </a:prstGeom>
          <a:noFill/>
          <a:ln/>
        </p:spPr>
        <p:txBody>
          <a:bodyPr wrap="square" rtlCol="0" anchor="ctr"/>
          <a:lstStyle/>
          <a:p>
            <a:pPr algn="ctr" indent="0" marL="0">
              <a:buNone/>
            </a:pPr>
            <a:r>
              <a:rPr lang="en-US" sz="3000" b="1" dirty="0">
                <a:solidFill>
                  <a:srgbClr val="C0552F"/>
                </a:solidFill>
                <a:latin typeface="Georgia" pitchFamily="34" charset="0"/>
                <a:ea typeface="Georgia" pitchFamily="34" charset="-122"/>
                <a:cs typeface="Georgia" pitchFamily="34" charset="-120"/>
              </a:rPr>
              <a:t>~12%</a:t>
            </a:r>
            <a:endParaRPr lang="en-US" sz="3000" dirty="0"/>
          </a:p>
        </p:txBody>
      </p:sp>
      <p:sp>
        <p:nvSpPr>
          <p:cNvPr id="12" name="Text 10"/>
          <p:cNvSpPr/>
          <p:nvPr/>
        </p:nvSpPr>
        <p:spPr>
          <a:xfrm>
            <a:off x="6355080" y="3611880"/>
            <a:ext cx="2057400" cy="868680"/>
          </a:xfrm>
          <a:prstGeom prst="rect">
            <a:avLst/>
          </a:prstGeom>
          <a:noFill/>
          <a:ln/>
        </p:spPr>
        <p:txBody>
          <a:bodyPr wrap="square" rtlCol="0" anchor="ctr"/>
          <a:lstStyle/>
          <a:p>
            <a:pPr algn="ctr" indent="0" marL="0">
              <a:lnSpc>
                <a:spcPts val="1700"/>
              </a:lnSpc>
              <a:buNone/>
            </a:pPr>
            <a:r>
              <a:rPr lang="en-US" sz="1250" dirty="0">
                <a:solidFill>
                  <a:srgbClr val="2B2722"/>
                </a:solidFill>
                <a:latin typeface="Calibri" pitchFamily="34" charset="0"/>
                <a:ea typeface="Calibri" pitchFamily="34" charset="-122"/>
                <a:cs typeface="Calibri" pitchFamily="34" charset="-120"/>
              </a:rPr>
              <a:t>of inquiries that ever get qualified</a:t>
            </a:r>
            <a:endParaRPr lang="en-US" sz="1250" dirty="0"/>
          </a:p>
        </p:txBody>
      </p:sp>
      <p:sp>
        <p:nvSpPr>
          <p:cNvPr id="13" name="Shape 11"/>
          <p:cNvSpPr/>
          <p:nvPr/>
        </p:nvSpPr>
        <p:spPr>
          <a:xfrm>
            <a:off x="8869680" y="2331720"/>
            <a:ext cx="2514600" cy="228600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4" name="Text 12"/>
          <p:cNvSpPr/>
          <p:nvPr/>
        </p:nvSpPr>
        <p:spPr>
          <a:xfrm>
            <a:off x="8961120" y="2697480"/>
            <a:ext cx="2331720" cy="822960"/>
          </a:xfrm>
          <a:prstGeom prst="rect">
            <a:avLst/>
          </a:prstGeom>
          <a:noFill/>
          <a:ln/>
        </p:spPr>
        <p:txBody>
          <a:bodyPr wrap="square" rtlCol="0" anchor="ctr"/>
          <a:lstStyle/>
          <a:p>
            <a:pPr algn="ctr" indent="0" marL="0">
              <a:buNone/>
            </a:pPr>
            <a:r>
              <a:rPr lang="en-US" sz="3000" b="1" dirty="0">
                <a:solidFill>
                  <a:srgbClr val="C0552F"/>
                </a:solidFill>
                <a:latin typeface="Georgia" pitchFamily="34" charset="0"/>
                <a:ea typeface="Georgia" pitchFamily="34" charset="-122"/>
                <a:cs typeface="Georgia" pitchFamily="34" charset="-120"/>
              </a:rPr>
              <a:t>&lt;30%</a:t>
            </a:r>
            <a:endParaRPr lang="en-US" sz="3000" dirty="0"/>
          </a:p>
        </p:txBody>
      </p:sp>
      <p:sp>
        <p:nvSpPr>
          <p:cNvPr id="15" name="Text 13"/>
          <p:cNvSpPr/>
          <p:nvPr/>
        </p:nvSpPr>
        <p:spPr>
          <a:xfrm>
            <a:off x="9098280" y="3611880"/>
            <a:ext cx="2057400" cy="868680"/>
          </a:xfrm>
          <a:prstGeom prst="rect">
            <a:avLst/>
          </a:prstGeom>
          <a:noFill/>
          <a:ln/>
        </p:spPr>
        <p:txBody>
          <a:bodyPr wrap="square" rtlCol="0" anchor="ctr"/>
          <a:lstStyle/>
          <a:p>
            <a:pPr algn="ctr" indent="0" marL="0">
              <a:lnSpc>
                <a:spcPts val="1700"/>
              </a:lnSpc>
              <a:buNone/>
            </a:pPr>
            <a:r>
              <a:rPr lang="en-US" sz="1250" dirty="0">
                <a:solidFill>
                  <a:srgbClr val="2B2722"/>
                </a:solidFill>
                <a:latin typeface="Calibri" pitchFamily="34" charset="0"/>
                <a:ea typeface="Calibri" pitchFamily="34" charset="-122"/>
                <a:cs typeface="Calibri" pitchFamily="34" charset="-120"/>
              </a:rPr>
              <a:t>of bookings traceable to ad spend</a:t>
            </a:r>
            <a:endParaRPr lang="en-US" sz="1250" dirty="0"/>
          </a:p>
        </p:txBody>
      </p:sp>
      <p:sp>
        <p:nvSpPr>
          <p:cNvPr id="16" name="Shape 14"/>
          <p:cNvSpPr/>
          <p:nvPr/>
        </p:nvSpPr>
        <p:spPr>
          <a:xfrm>
            <a:off x="640080" y="4983480"/>
            <a:ext cx="10908792" cy="868680"/>
          </a:xfrm>
          <a:prstGeom prst="roundRect">
            <a:avLst>
              <a:gd name="adj" fmla="val 6316"/>
            </a:avLst>
          </a:prstGeom>
          <a:solidFill>
            <a:srgbClr val="201E1B"/>
          </a:solidFill>
          <a:ln/>
        </p:spPr>
      </p:sp>
      <p:sp>
        <p:nvSpPr>
          <p:cNvPr id="17" name="Text 15"/>
          <p:cNvSpPr/>
          <p:nvPr/>
        </p:nvSpPr>
        <p:spPr>
          <a:xfrm>
            <a:off x="914400" y="4983480"/>
            <a:ext cx="10360152" cy="868680"/>
          </a:xfrm>
          <a:prstGeom prst="rect">
            <a:avLst/>
          </a:prstGeom>
          <a:noFill/>
          <a:ln/>
        </p:spPr>
        <p:txBody>
          <a:bodyPr wrap="square" rtlCol="0" anchor="ctr"/>
          <a:lstStyle/>
          <a:p>
            <a:pPr indent="0" marL="0">
              <a:buNone/>
            </a:pPr>
            <a:r>
              <a:rPr lang="en-US" sz="1500" dirty="0">
                <a:solidFill>
                  <a:srgbClr val="C9C0B4"/>
                </a:solidFill>
                <a:latin typeface="Calibri" pitchFamily="34" charset="0"/>
                <a:ea typeface="Calibri" pitchFamily="34" charset="-122"/>
                <a:cs typeface="Calibri" pitchFamily="34" charset="-120"/>
              </a:rPr>
              <a:t>The shape of the leak:  </a:t>
            </a:r>
            <a:pPr indent="0" marL="0">
              <a:buNone/>
            </a:pPr>
            <a:r>
              <a:rPr lang="en-US" sz="1500" b="1" dirty="0">
                <a:solidFill>
                  <a:srgbClr val="FFFFFF"/>
                </a:solidFill>
                <a:latin typeface="Calibri" pitchFamily="34" charset="0"/>
                <a:ea typeface="Calibri" pitchFamily="34" charset="-122"/>
                <a:cs typeface="Calibri" pitchFamily="34" charset="-120"/>
              </a:rPr>
              <a:t>30,000+ annual inquiries</a:t>
            </a:r>
            <a:pPr indent="0" marL="0">
              <a:buNone/>
            </a:pPr>
            <a:r>
              <a:rPr lang="en-US" sz="1500" dirty="0">
                <a:solidFill>
                  <a:srgbClr val="C0552F"/>
                </a:solidFill>
                <a:latin typeface="Calibri" pitchFamily="34" charset="0"/>
                <a:ea typeface="Calibri" pitchFamily="34" charset="-122"/>
                <a:cs typeface="Calibri" pitchFamily="34" charset="-120"/>
              </a:rPr>
              <a:t>   to   </a:t>
            </a:r>
            <a:pPr indent="0" marL="0">
              <a:buNone/>
            </a:pPr>
            <a:r>
              <a:rPr lang="en-US" sz="1500" b="1" dirty="0">
                <a:solidFill>
                  <a:srgbClr val="FFFFFF"/>
                </a:solidFill>
                <a:latin typeface="Calibri" pitchFamily="34" charset="0"/>
                <a:ea typeface="Calibri" pitchFamily="34" charset="-122"/>
                <a:cs typeface="Calibri" pitchFamily="34" charset="-120"/>
              </a:rPr>
              <a:t>~108 bookings.</a:t>
            </a:r>
            <a:pPr indent="0" marL="0">
              <a:buNone/>
            </a:pPr>
            <a:r>
              <a:rPr lang="en-US" sz="1500" dirty="0">
                <a:solidFill>
                  <a:srgbClr val="C9C0B4"/>
                </a:solidFill>
                <a:latin typeface="Calibri" pitchFamily="34" charset="0"/>
                <a:ea typeface="Calibri" pitchFamily="34" charset="-122"/>
                <a:cs typeface="Calibri" pitchFamily="34" charset="-120"/>
              </a:rPr>
              <a:t>   The rupees are spent. The follow-through isn't.</a:t>
            </a:r>
            <a:endParaRPr lang="en-US" sz="1500" dirty="0"/>
          </a:p>
        </p:txBody>
      </p:sp>
      <p:sp>
        <p:nvSpPr>
          <p:cNvPr id="18" name="Text 16"/>
          <p:cNvSpPr/>
          <p:nvPr/>
        </p:nvSpPr>
        <p:spPr>
          <a:xfrm>
            <a:off x="640080" y="5989320"/>
            <a:ext cx="10908792" cy="274320"/>
          </a:xfrm>
          <a:prstGeom prst="rect">
            <a:avLst/>
          </a:prstGeom>
          <a:noFill/>
          <a:ln/>
        </p:spPr>
        <p:txBody>
          <a:bodyPr wrap="square" rtlCol="0" anchor="ctr"/>
          <a:lstStyle/>
          <a:p>
            <a:pPr indent="0" marL="0">
              <a:buNone/>
            </a:pPr>
            <a:r>
              <a:rPr lang="en-US" sz="1050" i="1" dirty="0">
                <a:solidFill>
                  <a:srgbClr val="6F685E"/>
                </a:solidFill>
                <a:latin typeface="Calibri" pitchFamily="34" charset="0"/>
                <a:ea typeface="Calibri" pitchFamily="34" charset="-122"/>
                <a:cs typeface="Calibri" pitchFamily="34" charset="-120"/>
              </a:rPr>
              <a:t>Figures from the project's India proptech market research.</a:t>
            </a:r>
            <a:endParaRPr lang="en-US" sz="1050" dirty="0"/>
          </a:p>
        </p:txBody>
      </p:sp>
      <p:sp>
        <p:nvSpPr>
          <p:cNvPr id="19" name="Text 17"/>
          <p:cNvSpPr/>
          <p:nvPr/>
        </p:nvSpPr>
        <p:spPr>
          <a:xfrm>
            <a:off x="640080" y="6446520"/>
            <a:ext cx="2743200" cy="274320"/>
          </a:xfrm>
          <a:prstGeom prst="rect">
            <a:avLst/>
          </a:prstGeom>
          <a:noFill/>
          <a:ln/>
        </p:spPr>
        <p:txBody>
          <a:bodyPr wrap="square" rtlCol="0" anchor="ctr"/>
          <a:lstStyle/>
          <a:p>
            <a:pPr indent="0" marL="0">
              <a:buNone/>
            </a:pPr>
            <a:r>
              <a:rPr lang="en-US" sz="1000" i="1" dirty="0">
                <a:solidFill>
                  <a:srgbClr val="6F685E"/>
                </a:solidFill>
                <a:latin typeface="Georgia" pitchFamily="34" charset="0"/>
                <a:ea typeface="Georgia" pitchFamily="34" charset="-122"/>
                <a:cs typeface="Georgia" pitchFamily="34" charset="-120"/>
              </a:rPr>
              <a:t>Pentahouse</a:t>
            </a:r>
            <a:endParaRPr lang="en-US" sz="1000" dirty="0"/>
          </a:p>
        </p:txBody>
      </p:sp>
      <p:sp>
        <p:nvSpPr>
          <p:cNvPr id="20" name="Text 18"/>
          <p:cNvSpPr/>
          <p:nvPr/>
        </p:nvSpPr>
        <p:spPr>
          <a:xfrm>
            <a:off x="11091672" y="6446520"/>
            <a:ext cx="457200" cy="274320"/>
          </a:xfrm>
          <a:prstGeom prst="rect">
            <a:avLst/>
          </a:prstGeom>
          <a:noFill/>
          <a:ln/>
        </p:spPr>
        <p:txBody>
          <a:bodyPr wrap="square" rtlCol="0" anchor="ctr"/>
          <a:lstStyle/>
          <a:p>
            <a:pPr algn="r" indent="0" marL="0">
              <a:buNone/>
            </a:pPr>
            <a:r>
              <a:rPr lang="en-US" sz="1000" dirty="0">
                <a:solidFill>
                  <a:srgbClr val="6F685E"/>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4EC"/>
        </a:solidFill>
      </p:bgPr>
    </p:bg>
    <p:spTree>
      <p:nvGrpSpPr>
        <p:cNvPr id="1" name=""/>
        <p:cNvGrpSpPr/>
        <p:nvPr/>
      </p:nvGrpSpPr>
      <p:grpSpPr>
        <a:xfrm>
          <a:off x="0" y="0"/>
          <a:ext cx="0" cy="0"/>
          <a:chOff x="0" y="0"/>
          <a:chExt cx="0" cy="0"/>
        </a:xfrm>
      </p:grpSpPr>
      <p:sp>
        <p:nvSpPr>
          <p:cNvPr id="2" name="Text 0"/>
          <p:cNvSpPr/>
          <p:nvPr/>
        </p:nvSpPr>
        <p:spPr>
          <a:xfrm>
            <a:off x="640080" y="502920"/>
            <a:ext cx="10908792" cy="274320"/>
          </a:xfrm>
          <a:prstGeom prst="rect">
            <a:avLst/>
          </a:prstGeom>
          <a:noFill/>
          <a:ln/>
        </p:spPr>
        <p:txBody>
          <a:bodyPr wrap="square" rtlCol="0" anchor="ctr"/>
          <a:lstStyle/>
          <a:p>
            <a:pPr indent="0" marL="0">
              <a:buNone/>
            </a:pPr>
            <a:r>
              <a:rPr lang="en-US" sz="1200" b="1" spc="300" kern="0" dirty="0">
                <a:solidFill>
                  <a:srgbClr val="C0552F"/>
                </a:solidFill>
                <a:latin typeface="Calibri" pitchFamily="34" charset="0"/>
                <a:ea typeface="Calibri" pitchFamily="34" charset="-122"/>
                <a:cs typeface="Calibri" pitchFamily="34" charset="-120"/>
              </a:rPr>
              <a:t>WHY NOW</a:t>
            </a:r>
            <a:endParaRPr lang="en-US" sz="1200" dirty="0"/>
          </a:p>
        </p:txBody>
      </p:sp>
      <p:sp>
        <p:nvSpPr>
          <p:cNvPr id="3" name="Text 1"/>
          <p:cNvSpPr/>
          <p:nvPr/>
        </p:nvSpPr>
        <p:spPr>
          <a:xfrm>
            <a:off x="640080" y="822960"/>
            <a:ext cx="10908792" cy="1005840"/>
          </a:xfrm>
          <a:prstGeom prst="rect">
            <a:avLst/>
          </a:prstGeom>
          <a:noFill/>
          <a:ln/>
        </p:spPr>
        <p:txBody>
          <a:bodyPr wrap="square" rtlCol="0" anchor="ctr"/>
          <a:lstStyle/>
          <a:p>
            <a:pPr indent="0" marL="0">
              <a:lnSpc>
                <a:spcPts val="3465"/>
              </a:lnSpc>
              <a:buNone/>
            </a:pPr>
            <a:r>
              <a:rPr lang="en-US" sz="3300" b="1" dirty="0">
                <a:solidFill>
                  <a:srgbClr val="201E1B"/>
                </a:solidFill>
                <a:latin typeface="Georgia" pitchFamily="34" charset="0"/>
                <a:ea typeface="Georgia" pitchFamily="34" charset="-122"/>
                <a:cs typeface="Georgia" pitchFamily="34" charset="-120"/>
              </a:rPr>
              <a:t>Four shifts make this the moment</a:t>
            </a:r>
            <a:endParaRPr lang="en-US" sz="3300" dirty="0"/>
          </a:p>
        </p:txBody>
      </p:sp>
      <p:sp>
        <p:nvSpPr>
          <p:cNvPr id="4" name="Shape 2"/>
          <p:cNvSpPr/>
          <p:nvPr/>
        </p:nvSpPr>
        <p:spPr>
          <a:xfrm>
            <a:off x="640080" y="2240280"/>
            <a:ext cx="5257800" cy="164592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5" name="Shape 3"/>
          <p:cNvSpPr/>
          <p:nvPr/>
        </p:nvSpPr>
        <p:spPr>
          <a:xfrm>
            <a:off x="640080" y="2240280"/>
            <a:ext cx="64008" cy="1645920"/>
          </a:xfrm>
          <a:prstGeom prst="rect">
            <a:avLst/>
          </a:prstGeom>
          <a:solidFill>
            <a:srgbClr val="C0552F"/>
          </a:solidFill>
          <a:ln/>
        </p:spPr>
      </p:sp>
      <p:sp>
        <p:nvSpPr>
          <p:cNvPr id="6" name="Shape 4"/>
          <p:cNvSpPr/>
          <p:nvPr/>
        </p:nvSpPr>
        <p:spPr>
          <a:xfrm>
            <a:off x="896112" y="2514600"/>
            <a:ext cx="457200" cy="457200"/>
          </a:xfrm>
          <a:prstGeom prst="ellipse">
            <a:avLst/>
          </a:prstGeom>
          <a:solidFill>
            <a:srgbClr val="E7D9BD"/>
          </a:solidFill>
          <a:ln/>
        </p:spPr>
      </p:sp>
      <p:sp>
        <p:nvSpPr>
          <p:cNvPr id="7" name="Text 5"/>
          <p:cNvSpPr/>
          <p:nvPr/>
        </p:nvSpPr>
        <p:spPr>
          <a:xfrm>
            <a:off x="896112" y="2514600"/>
            <a:ext cx="457200" cy="457200"/>
          </a:xfrm>
          <a:prstGeom prst="rect">
            <a:avLst/>
          </a:prstGeom>
          <a:noFill/>
          <a:ln/>
        </p:spPr>
        <p:txBody>
          <a:bodyPr wrap="square" rtlCol="0" anchor="ctr"/>
          <a:lstStyle/>
          <a:p>
            <a:pPr algn="ctr" indent="0" marL="0">
              <a:buNone/>
            </a:pPr>
            <a:r>
              <a:rPr lang="en-US" sz="1300" b="1" dirty="0">
                <a:solidFill>
                  <a:srgbClr val="8F3D20"/>
                </a:solidFill>
                <a:latin typeface="Georgia" pitchFamily="34" charset="0"/>
                <a:ea typeface="Georgia" pitchFamily="34" charset="-122"/>
                <a:cs typeface="Georgia" pitchFamily="34" charset="-120"/>
              </a:rPr>
              <a:t>1</a:t>
            </a:r>
            <a:endParaRPr lang="en-US" sz="1300" dirty="0"/>
          </a:p>
        </p:txBody>
      </p:sp>
      <p:sp>
        <p:nvSpPr>
          <p:cNvPr id="8" name="Text 6"/>
          <p:cNvSpPr/>
          <p:nvPr/>
        </p:nvSpPr>
        <p:spPr>
          <a:xfrm>
            <a:off x="1554480" y="2487168"/>
            <a:ext cx="4114800" cy="365760"/>
          </a:xfrm>
          <a:prstGeom prst="rect">
            <a:avLst/>
          </a:prstGeom>
          <a:noFill/>
          <a:ln/>
        </p:spPr>
        <p:txBody>
          <a:bodyPr wrap="square" rtlCol="0" anchor="ctr"/>
          <a:lstStyle/>
          <a:p>
            <a:pPr indent="0" marL="0">
              <a:buNone/>
            </a:pPr>
            <a:r>
              <a:rPr lang="en-US" sz="1550" b="1" dirty="0">
                <a:solidFill>
                  <a:srgbClr val="201E1B"/>
                </a:solidFill>
                <a:latin typeface="Calibri" pitchFamily="34" charset="0"/>
                <a:ea typeface="Calibri" pitchFamily="34" charset="-122"/>
                <a:cs typeface="Calibri" pitchFamily="34" charset="-120"/>
              </a:rPr>
              <a:t>WhatsApp is the channel</a:t>
            </a:r>
            <a:endParaRPr lang="en-US" sz="1550" dirty="0"/>
          </a:p>
        </p:txBody>
      </p:sp>
      <p:sp>
        <p:nvSpPr>
          <p:cNvPr id="9" name="Text 7"/>
          <p:cNvSpPr/>
          <p:nvPr/>
        </p:nvSpPr>
        <p:spPr>
          <a:xfrm>
            <a:off x="1554480" y="2898648"/>
            <a:ext cx="4160520" cy="868680"/>
          </a:xfrm>
          <a:prstGeom prst="rect">
            <a:avLst/>
          </a:prstGeom>
          <a:noFill/>
          <a:ln/>
        </p:spPr>
        <p:txBody>
          <a:bodyPr wrap="square" rtlCol="0" anchor="ctr"/>
          <a:lstStyle/>
          <a:p>
            <a:pPr indent="0" marL="0">
              <a:lnSpc>
                <a:spcPts val="1750"/>
              </a:lnSpc>
              <a:buNone/>
            </a:pPr>
            <a:r>
              <a:rPr lang="en-US" sz="1250" dirty="0">
                <a:solidFill>
                  <a:srgbClr val="2B2722"/>
                </a:solidFill>
                <a:latin typeface="Calibri" pitchFamily="34" charset="0"/>
                <a:ea typeface="Calibri" pitchFamily="34" charset="-122"/>
                <a:cs typeface="Calibri" pitchFamily="34" charset="-120"/>
              </a:rPr>
              <a:t>Business API matured in Indian sales; buyers already compare brochures and floor plans over chat.</a:t>
            </a:r>
            <a:endParaRPr lang="en-US" sz="1250" dirty="0"/>
          </a:p>
        </p:txBody>
      </p:sp>
      <p:sp>
        <p:nvSpPr>
          <p:cNvPr id="10" name="Shape 8"/>
          <p:cNvSpPr/>
          <p:nvPr/>
        </p:nvSpPr>
        <p:spPr>
          <a:xfrm>
            <a:off x="6172200" y="2240280"/>
            <a:ext cx="5257800" cy="164592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1" name="Shape 9"/>
          <p:cNvSpPr/>
          <p:nvPr/>
        </p:nvSpPr>
        <p:spPr>
          <a:xfrm>
            <a:off x="6172200" y="2240280"/>
            <a:ext cx="64008" cy="1645920"/>
          </a:xfrm>
          <a:prstGeom prst="rect">
            <a:avLst/>
          </a:prstGeom>
          <a:solidFill>
            <a:srgbClr val="C0552F"/>
          </a:solidFill>
          <a:ln/>
        </p:spPr>
      </p:sp>
      <p:sp>
        <p:nvSpPr>
          <p:cNvPr id="12" name="Shape 10"/>
          <p:cNvSpPr/>
          <p:nvPr/>
        </p:nvSpPr>
        <p:spPr>
          <a:xfrm>
            <a:off x="6428232" y="2514600"/>
            <a:ext cx="457200" cy="457200"/>
          </a:xfrm>
          <a:prstGeom prst="ellipse">
            <a:avLst/>
          </a:prstGeom>
          <a:solidFill>
            <a:srgbClr val="E7D9BD"/>
          </a:solidFill>
          <a:ln/>
        </p:spPr>
      </p:sp>
      <p:sp>
        <p:nvSpPr>
          <p:cNvPr id="13" name="Text 11"/>
          <p:cNvSpPr/>
          <p:nvPr/>
        </p:nvSpPr>
        <p:spPr>
          <a:xfrm>
            <a:off x="6428232" y="2514600"/>
            <a:ext cx="457200" cy="457200"/>
          </a:xfrm>
          <a:prstGeom prst="rect">
            <a:avLst/>
          </a:prstGeom>
          <a:noFill/>
          <a:ln/>
        </p:spPr>
        <p:txBody>
          <a:bodyPr wrap="square" rtlCol="0" anchor="ctr"/>
          <a:lstStyle/>
          <a:p>
            <a:pPr algn="ctr" indent="0" marL="0">
              <a:buNone/>
            </a:pPr>
            <a:r>
              <a:rPr lang="en-US" sz="1300" b="1" dirty="0">
                <a:solidFill>
                  <a:srgbClr val="8F3D20"/>
                </a:solidFill>
                <a:latin typeface="Georgia" pitchFamily="34" charset="0"/>
                <a:ea typeface="Georgia" pitchFamily="34" charset="-122"/>
                <a:cs typeface="Georgia" pitchFamily="34" charset="-120"/>
              </a:rPr>
              <a:t>2</a:t>
            </a:r>
            <a:endParaRPr lang="en-US" sz="1300" dirty="0"/>
          </a:p>
        </p:txBody>
      </p:sp>
      <p:sp>
        <p:nvSpPr>
          <p:cNvPr id="14" name="Text 12"/>
          <p:cNvSpPr/>
          <p:nvPr/>
        </p:nvSpPr>
        <p:spPr>
          <a:xfrm>
            <a:off x="7086600" y="2487168"/>
            <a:ext cx="4114800" cy="365760"/>
          </a:xfrm>
          <a:prstGeom prst="rect">
            <a:avLst/>
          </a:prstGeom>
          <a:noFill/>
          <a:ln/>
        </p:spPr>
        <p:txBody>
          <a:bodyPr wrap="square" rtlCol="0" anchor="ctr"/>
          <a:lstStyle/>
          <a:p>
            <a:pPr indent="0" marL="0">
              <a:buNone/>
            </a:pPr>
            <a:r>
              <a:rPr lang="en-US" sz="1550" b="1" dirty="0">
                <a:solidFill>
                  <a:srgbClr val="201E1B"/>
                </a:solidFill>
                <a:latin typeface="Calibri" pitchFamily="34" charset="0"/>
                <a:ea typeface="Calibri" pitchFamily="34" charset="-122"/>
                <a:cs typeface="Calibri" pitchFamily="34" charset="-120"/>
              </a:rPr>
              <a:t>Reasoning got cheap</a:t>
            </a:r>
            <a:endParaRPr lang="en-US" sz="1550" dirty="0"/>
          </a:p>
        </p:txBody>
      </p:sp>
      <p:sp>
        <p:nvSpPr>
          <p:cNvPr id="15" name="Text 13"/>
          <p:cNvSpPr/>
          <p:nvPr/>
        </p:nvSpPr>
        <p:spPr>
          <a:xfrm>
            <a:off x="7086600" y="2898648"/>
            <a:ext cx="4160520" cy="868680"/>
          </a:xfrm>
          <a:prstGeom prst="rect">
            <a:avLst/>
          </a:prstGeom>
          <a:noFill/>
          <a:ln/>
        </p:spPr>
        <p:txBody>
          <a:bodyPr wrap="square" rtlCol="0" anchor="ctr"/>
          <a:lstStyle/>
          <a:p>
            <a:pPr indent="0" marL="0">
              <a:lnSpc>
                <a:spcPts val="1750"/>
              </a:lnSpc>
              <a:buNone/>
            </a:pPr>
            <a:r>
              <a:rPr lang="en-US" sz="1250" dirty="0">
                <a:solidFill>
                  <a:srgbClr val="2B2722"/>
                </a:solidFill>
                <a:latin typeface="Calibri" pitchFamily="34" charset="0"/>
                <a:ea typeface="Calibri" pitchFamily="34" charset="-122"/>
                <a:cs typeface="Calibri" pitchFamily="34" charset="-120"/>
              </a:rPr>
              <a:t>Gemini 2.5 Flash makes multi-step reasoning per lead affordable at under Rs 0.50 a decision.</a:t>
            </a:r>
            <a:endParaRPr lang="en-US" sz="1250" dirty="0"/>
          </a:p>
        </p:txBody>
      </p:sp>
      <p:sp>
        <p:nvSpPr>
          <p:cNvPr id="16" name="Shape 14"/>
          <p:cNvSpPr/>
          <p:nvPr/>
        </p:nvSpPr>
        <p:spPr>
          <a:xfrm>
            <a:off x="640080" y="4114800"/>
            <a:ext cx="5257800" cy="164592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7" name="Shape 15"/>
          <p:cNvSpPr/>
          <p:nvPr/>
        </p:nvSpPr>
        <p:spPr>
          <a:xfrm>
            <a:off x="640080" y="4114800"/>
            <a:ext cx="64008" cy="1645920"/>
          </a:xfrm>
          <a:prstGeom prst="rect">
            <a:avLst/>
          </a:prstGeom>
          <a:solidFill>
            <a:srgbClr val="C0552F"/>
          </a:solidFill>
          <a:ln/>
        </p:spPr>
      </p:sp>
      <p:sp>
        <p:nvSpPr>
          <p:cNvPr id="18" name="Shape 16"/>
          <p:cNvSpPr/>
          <p:nvPr/>
        </p:nvSpPr>
        <p:spPr>
          <a:xfrm>
            <a:off x="896112" y="4389120"/>
            <a:ext cx="457200" cy="457200"/>
          </a:xfrm>
          <a:prstGeom prst="ellipse">
            <a:avLst/>
          </a:prstGeom>
          <a:solidFill>
            <a:srgbClr val="E7D9BD"/>
          </a:solidFill>
          <a:ln/>
        </p:spPr>
      </p:sp>
      <p:sp>
        <p:nvSpPr>
          <p:cNvPr id="19" name="Text 17"/>
          <p:cNvSpPr/>
          <p:nvPr/>
        </p:nvSpPr>
        <p:spPr>
          <a:xfrm>
            <a:off x="896112" y="4389120"/>
            <a:ext cx="457200" cy="457200"/>
          </a:xfrm>
          <a:prstGeom prst="rect">
            <a:avLst/>
          </a:prstGeom>
          <a:noFill/>
          <a:ln/>
        </p:spPr>
        <p:txBody>
          <a:bodyPr wrap="square" rtlCol="0" anchor="ctr"/>
          <a:lstStyle/>
          <a:p>
            <a:pPr algn="ctr" indent="0" marL="0">
              <a:buNone/>
            </a:pPr>
            <a:r>
              <a:rPr lang="en-US" sz="1300" b="1" dirty="0">
                <a:solidFill>
                  <a:srgbClr val="8F3D20"/>
                </a:solidFill>
                <a:latin typeface="Georgia" pitchFamily="34" charset="0"/>
                <a:ea typeface="Georgia" pitchFamily="34" charset="-122"/>
                <a:cs typeface="Georgia" pitchFamily="34" charset="-120"/>
              </a:rPr>
              <a:t>3</a:t>
            </a:r>
            <a:endParaRPr lang="en-US" sz="1300" dirty="0"/>
          </a:p>
        </p:txBody>
      </p:sp>
      <p:sp>
        <p:nvSpPr>
          <p:cNvPr id="20" name="Text 18"/>
          <p:cNvSpPr/>
          <p:nvPr/>
        </p:nvSpPr>
        <p:spPr>
          <a:xfrm>
            <a:off x="1554480" y="4361688"/>
            <a:ext cx="4114800" cy="365760"/>
          </a:xfrm>
          <a:prstGeom prst="rect">
            <a:avLst/>
          </a:prstGeom>
          <a:noFill/>
          <a:ln/>
        </p:spPr>
        <p:txBody>
          <a:bodyPr wrap="square" rtlCol="0" anchor="ctr"/>
          <a:lstStyle/>
          <a:p>
            <a:pPr indent="0" marL="0">
              <a:buNone/>
            </a:pPr>
            <a:r>
              <a:rPr lang="en-US" sz="1550" b="1" dirty="0">
                <a:solidFill>
                  <a:srgbClr val="201E1B"/>
                </a:solidFill>
                <a:latin typeface="Calibri" pitchFamily="34" charset="0"/>
                <a:ea typeface="Calibri" pitchFamily="34" charset="-122"/>
                <a:cs typeface="Calibri" pitchFamily="34" charset="-120"/>
              </a:rPr>
              <a:t>Compliance demands a trail</a:t>
            </a:r>
            <a:endParaRPr lang="en-US" sz="1550" dirty="0"/>
          </a:p>
        </p:txBody>
      </p:sp>
      <p:sp>
        <p:nvSpPr>
          <p:cNvPr id="21" name="Text 19"/>
          <p:cNvSpPr/>
          <p:nvPr/>
        </p:nvSpPr>
        <p:spPr>
          <a:xfrm>
            <a:off x="1554480" y="4773168"/>
            <a:ext cx="4160520" cy="868680"/>
          </a:xfrm>
          <a:prstGeom prst="rect">
            <a:avLst/>
          </a:prstGeom>
          <a:noFill/>
          <a:ln/>
        </p:spPr>
        <p:txBody>
          <a:bodyPr wrap="square" rtlCol="0" anchor="ctr"/>
          <a:lstStyle/>
          <a:p>
            <a:pPr indent="0" marL="0">
              <a:lnSpc>
                <a:spcPts val="1750"/>
              </a:lnSpc>
              <a:buNone/>
            </a:pPr>
            <a:r>
              <a:rPr lang="en-US" sz="1250" dirty="0">
                <a:solidFill>
                  <a:srgbClr val="2B2722"/>
                </a:solidFill>
                <a:latin typeface="Calibri" pitchFamily="34" charset="0"/>
                <a:ea typeface="Calibri" pitchFamily="34" charset="-122"/>
                <a:cs typeface="Calibri" pitchFamily="34" charset="-120"/>
              </a:rPr>
              <a:t>The DPDP Act requires an auditable consent and messaging record — approval-gated AI is native to it.</a:t>
            </a:r>
            <a:endParaRPr lang="en-US" sz="1250" dirty="0"/>
          </a:p>
        </p:txBody>
      </p:sp>
      <p:sp>
        <p:nvSpPr>
          <p:cNvPr id="22" name="Shape 20"/>
          <p:cNvSpPr/>
          <p:nvPr/>
        </p:nvSpPr>
        <p:spPr>
          <a:xfrm>
            <a:off x="6172200" y="4114800"/>
            <a:ext cx="5257800" cy="164592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23" name="Shape 21"/>
          <p:cNvSpPr/>
          <p:nvPr/>
        </p:nvSpPr>
        <p:spPr>
          <a:xfrm>
            <a:off x="6172200" y="4114800"/>
            <a:ext cx="64008" cy="1645920"/>
          </a:xfrm>
          <a:prstGeom prst="rect">
            <a:avLst/>
          </a:prstGeom>
          <a:solidFill>
            <a:srgbClr val="C0552F"/>
          </a:solidFill>
          <a:ln/>
        </p:spPr>
      </p:sp>
      <p:sp>
        <p:nvSpPr>
          <p:cNvPr id="24" name="Shape 22"/>
          <p:cNvSpPr/>
          <p:nvPr/>
        </p:nvSpPr>
        <p:spPr>
          <a:xfrm>
            <a:off x="6428232" y="4389120"/>
            <a:ext cx="457200" cy="457200"/>
          </a:xfrm>
          <a:prstGeom prst="ellipse">
            <a:avLst/>
          </a:prstGeom>
          <a:solidFill>
            <a:srgbClr val="E7D9BD"/>
          </a:solidFill>
          <a:ln/>
        </p:spPr>
      </p:sp>
      <p:sp>
        <p:nvSpPr>
          <p:cNvPr id="25" name="Text 23"/>
          <p:cNvSpPr/>
          <p:nvPr/>
        </p:nvSpPr>
        <p:spPr>
          <a:xfrm>
            <a:off x="6428232" y="4389120"/>
            <a:ext cx="457200" cy="457200"/>
          </a:xfrm>
          <a:prstGeom prst="rect">
            <a:avLst/>
          </a:prstGeom>
          <a:noFill/>
          <a:ln/>
        </p:spPr>
        <p:txBody>
          <a:bodyPr wrap="square" rtlCol="0" anchor="ctr"/>
          <a:lstStyle/>
          <a:p>
            <a:pPr algn="ctr" indent="0" marL="0">
              <a:buNone/>
            </a:pPr>
            <a:r>
              <a:rPr lang="en-US" sz="1300" b="1" dirty="0">
                <a:solidFill>
                  <a:srgbClr val="8F3D20"/>
                </a:solidFill>
                <a:latin typeface="Georgia" pitchFamily="34" charset="0"/>
                <a:ea typeface="Georgia" pitchFamily="34" charset="-122"/>
                <a:cs typeface="Georgia" pitchFamily="34" charset="-120"/>
              </a:rPr>
              <a:t>4</a:t>
            </a:r>
            <a:endParaRPr lang="en-US" sz="1300" dirty="0"/>
          </a:p>
        </p:txBody>
      </p:sp>
      <p:sp>
        <p:nvSpPr>
          <p:cNvPr id="26" name="Text 24"/>
          <p:cNvSpPr/>
          <p:nvPr/>
        </p:nvSpPr>
        <p:spPr>
          <a:xfrm>
            <a:off x="7086600" y="4361688"/>
            <a:ext cx="4114800" cy="365760"/>
          </a:xfrm>
          <a:prstGeom prst="rect">
            <a:avLst/>
          </a:prstGeom>
          <a:noFill/>
          <a:ln/>
        </p:spPr>
        <p:txBody>
          <a:bodyPr wrap="square" rtlCol="0" anchor="ctr"/>
          <a:lstStyle/>
          <a:p>
            <a:pPr indent="0" marL="0">
              <a:buNone/>
            </a:pPr>
            <a:r>
              <a:rPr lang="en-US" sz="1550" b="1" dirty="0">
                <a:solidFill>
                  <a:srgbClr val="201E1B"/>
                </a:solidFill>
                <a:latin typeface="Calibri" pitchFamily="34" charset="0"/>
                <a:ea typeface="Calibri" pitchFamily="34" charset="-122"/>
                <a:cs typeface="Calibri" pitchFamily="34" charset="-120"/>
              </a:rPr>
              <a:t>Discovery moved online</a:t>
            </a:r>
            <a:endParaRPr lang="en-US" sz="1550" dirty="0"/>
          </a:p>
        </p:txBody>
      </p:sp>
      <p:sp>
        <p:nvSpPr>
          <p:cNvPr id="27" name="Text 25"/>
          <p:cNvSpPr/>
          <p:nvPr/>
        </p:nvSpPr>
        <p:spPr>
          <a:xfrm>
            <a:off x="7086600" y="4773168"/>
            <a:ext cx="4160520" cy="868680"/>
          </a:xfrm>
          <a:prstGeom prst="rect">
            <a:avLst/>
          </a:prstGeom>
          <a:noFill/>
          <a:ln/>
        </p:spPr>
        <p:txBody>
          <a:bodyPr wrap="square" rtlCol="0" anchor="ctr"/>
          <a:lstStyle/>
          <a:p>
            <a:pPr indent="0" marL="0">
              <a:lnSpc>
                <a:spcPts val="1750"/>
              </a:lnSpc>
              <a:buNone/>
            </a:pPr>
            <a:r>
              <a:rPr lang="en-US" sz="1250" dirty="0">
                <a:solidFill>
                  <a:srgbClr val="2B2722"/>
                </a:solidFill>
                <a:latin typeface="Calibri" pitchFamily="34" charset="0"/>
                <a:ea typeface="Calibri" pitchFamily="34" charset="-122"/>
                <a:cs typeface="Calibri" pitchFamily="34" charset="-120"/>
              </a:rPr>
              <a:t>Post-COVID, property search is digital-first, and mid-market launches outpace manual qualification.</a:t>
            </a:r>
            <a:endParaRPr lang="en-US" sz="1250" dirty="0"/>
          </a:p>
        </p:txBody>
      </p:sp>
      <p:sp>
        <p:nvSpPr>
          <p:cNvPr id="28" name="Text 26"/>
          <p:cNvSpPr/>
          <p:nvPr/>
        </p:nvSpPr>
        <p:spPr>
          <a:xfrm>
            <a:off x="640080" y="6446520"/>
            <a:ext cx="2743200" cy="274320"/>
          </a:xfrm>
          <a:prstGeom prst="rect">
            <a:avLst/>
          </a:prstGeom>
          <a:noFill/>
          <a:ln/>
        </p:spPr>
        <p:txBody>
          <a:bodyPr wrap="square" rtlCol="0" anchor="ctr"/>
          <a:lstStyle/>
          <a:p>
            <a:pPr indent="0" marL="0">
              <a:buNone/>
            </a:pPr>
            <a:r>
              <a:rPr lang="en-US" sz="1000" i="1" dirty="0">
                <a:solidFill>
                  <a:srgbClr val="6F685E"/>
                </a:solidFill>
                <a:latin typeface="Georgia" pitchFamily="34" charset="0"/>
                <a:ea typeface="Georgia" pitchFamily="34" charset="-122"/>
                <a:cs typeface="Georgia" pitchFamily="34" charset="-120"/>
              </a:rPr>
              <a:t>Pentahouse</a:t>
            </a:r>
            <a:endParaRPr lang="en-US" sz="1000" dirty="0"/>
          </a:p>
        </p:txBody>
      </p:sp>
      <p:sp>
        <p:nvSpPr>
          <p:cNvPr id="29" name="Text 27"/>
          <p:cNvSpPr/>
          <p:nvPr/>
        </p:nvSpPr>
        <p:spPr>
          <a:xfrm>
            <a:off x="11091672" y="6446520"/>
            <a:ext cx="457200" cy="274320"/>
          </a:xfrm>
          <a:prstGeom prst="rect">
            <a:avLst/>
          </a:prstGeom>
          <a:noFill/>
          <a:ln/>
        </p:spPr>
        <p:txBody>
          <a:bodyPr wrap="square" rtlCol="0" anchor="ctr"/>
          <a:lstStyle/>
          <a:p>
            <a:pPr algn="r" indent="0" marL="0">
              <a:buNone/>
            </a:pPr>
            <a:r>
              <a:rPr lang="en-US" sz="1000" dirty="0">
                <a:solidFill>
                  <a:srgbClr val="6F685E"/>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4EC"/>
        </a:solidFill>
      </p:bgPr>
    </p:bg>
    <p:spTree>
      <p:nvGrpSpPr>
        <p:cNvPr id="1" name=""/>
        <p:cNvGrpSpPr/>
        <p:nvPr/>
      </p:nvGrpSpPr>
      <p:grpSpPr>
        <a:xfrm>
          <a:off x="0" y="0"/>
          <a:ext cx="0" cy="0"/>
          <a:chOff x="0" y="0"/>
          <a:chExt cx="0" cy="0"/>
        </a:xfrm>
      </p:grpSpPr>
      <p:sp>
        <p:nvSpPr>
          <p:cNvPr id="2" name="Text 0"/>
          <p:cNvSpPr/>
          <p:nvPr/>
        </p:nvSpPr>
        <p:spPr>
          <a:xfrm>
            <a:off x="640080" y="502920"/>
            <a:ext cx="10908792" cy="274320"/>
          </a:xfrm>
          <a:prstGeom prst="rect">
            <a:avLst/>
          </a:prstGeom>
          <a:noFill/>
          <a:ln/>
        </p:spPr>
        <p:txBody>
          <a:bodyPr wrap="square" rtlCol="0" anchor="ctr"/>
          <a:lstStyle/>
          <a:p>
            <a:pPr indent="0" marL="0">
              <a:buNone/>
            </a:pPr>
            <a:r>
              <a:rPr lang="en-US" sz="1200" b="1" spc="300" kern="0" dirty="0">
                <a:solidFill>
                  <a:srgbClr val="C0552F"/>
                </a:solidFill>
                <a:latin typeface="Calibri" pitchFamily="34" charset="0"/>
                <a:ea typeface="Calibri" pitchFamily="34" charset="-122"/>
                <a:cs typeface="Calibri" pitchFamily="34" charset="-120"/>
              </a:rPr>
              <a:t>WHO IT'S FOR</a:t>
            </a:r>
            <a:endParaRPr lang="en-US" sz="1200" dirty="0"/>
          </a:p>
        </p:txBody>
      </p:sp>
      <p:sp>
        <p:nvSpPr>
          <p:cNvPr id="3" name="Text 1"/>
          <p:cNvSpPr/>
          <p:nvPr/>
        </p:nvSpPr>
        <p:spPr>
          <a:xfrm>
            <a:off x="640080" y="822960"/>
            <a:ext cx="10908792" cy="1005840"/>
          </a:xfrm>
          <a:prstGeom prst="rect">
            <a:avLst/>
          </a:prstGeom>
          <a:noFill/>
          <a:ln/>
        </p:spPr>
        <p:txBody>
          <a:bodyPr wrap="square" rtlCol="0" anchor="ctr"/>
          <a:lstStyle/>
          <a:p>
            <a:pPr indent="0" marL="0">
              <a:lnSpc>
                <a:spcPts val="3465"/>
              </a:lnSpc>
              <a:buNone/>
            </a:pPr>
            <a:r>
              <a:rPr lang="en-US" sz="3300" b="1" dirty="0">
                <a:solidFill>
                  <a:srgbClr val="201E1B"/>
                </a:solidFill>
                <a:latin typeface="Georgia" pitchFamily="34" charset="0"/>
                <a:ea typeface="Georgia" pitchFamily="34" charset="-122"/>
                <a:cs typeface="Georgia" pitchFamily="34" charset="-120"/>
              </a:rPr>
              <a:t>Built for the people on the sales floor</a:t>
            </a:r>
            <a:endParaRPr lang="en-US" sz="3300" dirty="0"/>
          </a:p>
        </p:txBody>
      </p:sp>
      <p:sp>
        <p:nvSpPr>
          <p:cNvPr id="4" name="Shape 2"/>
          <p:cNvSpPr/>
          <p:nvPr/>
        </p:nvSpPr>
        <p:spPr>
          <a:xfrm>
            <a:off x="640080" y="2286000"/>
            <a:ext cx="3429000" cy="338328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5" name="Shape 3"/>
          <p:cNvSpPr/>
          <p:nvPr/>
        </p:nvSpPr>
        <p:spPr>
          <a:xfrm>
            <a:off x="960120" y="2606040"/>
            <a:ext cx="777240" cy="777240"/>
          </a:xfrm>
          <a:prstGeom prst="ellipse">
            <a:avLst/>
          </a:prstGeom>
          <a:solidFill>
            <a:srgbClr val="C0552F"/>
          </a:solidFill>
          <a:ln/>
        </p:spPr>
      </p:sp>
      <p:sp>
        <p:nvSpPr>
          <p:cNvPr id="6" name="Text 4"/>
          <p:cNvSpPr/>
          <p:nvPr/>
        </p:nvSpPr>
        <p:spPr>
          <a:xfrm>
            <a:off x="960120" y="2606040"/>
            <a:ext cx="777240" cy="777240"/>
          </a:xfrm>
          <a:prstGeom prst="rect">
            <a:avLst/>
          </a:prstGeom>
          <a:noFill/>
          <a:ln/>
        </p:spPr>
        <p:txBody>
          <a:bodyPr wrap="square" rtlCol="0" anchor="ctr"/>
          <a:lstStyle/>
          <a:p>
            <a:pPr algn="ctr" indent="0" marL="0">
              <a:buNone/>
            </a:pPr>
            <a:r>
              <a:rPr lang="en-US" sz="2210" b="1" dirty="0">
                <a:solidFill>
                  <a:srgbClr val="FFFFFF"/>
                </a:solidFill>
                <a:latin typeface="Georgia" pitchFamily="34" charset="0"/>
                <a:ea typeface="Georgia" pitchFamily="34" charset="-122"/>
                <a:cs typeface="Georgia" pitchFamily="34" charset="-120"/>
              </a:rPr>
              <a:t>RS</a:t>
            </a:r>
            <a:endParaRPr lang="en-US" sz="2210" dirty="0"/>
          </a:p>
        </p:txBody>
      </p:sp>
      <p:sp>
        <p:nvSpPr>
          <p:cNvPr id="7" name="Text 5"/>
          <p:cNvSpPr/>
          <p:nvPr/>
        </p:nvSpPr>
        <p:spPr>
          <a:xfrm>
            <a:off x="1920240" y="2743200"/>
            <a:ext cx="2103120" cy="457200"/>
          </a:xfrm>
          <a:prstGeom prst="rect">
            <a:avLst/>
          </a:prstGeom>
          <a:noFill/>
          <a:ln/>
        </p:spPr>
        <p:txBody>
          <a:bodyPr wrap="square" rtlCol="0" anchor="ctr"/>
          <a:lstStyle/>
          <a:p>
            <a:pPr indent="0" marL="0">
              <a:buNone/>
            </a:pPr>
            <a:r>
              <a:rPr lang="en-US" sz="1900" b="1" dirty="0">
                <a:solidFill>
                  <a:srgbClr val="201E1B"/>
                </a:solidFill>
                <a:latin typeface="Georgia" pitchFamily="34" charset="0"/>
                <a:ea typeface="Georgia" pitchFamily="34" charset="-122"/>
                <a:cs typeface="Georgia" pitchFamily="34" charset="-120"/>
              </a:rPr>
              <a:t>Sales Head</a:t>
            </a:r>
            <a:endParaRPr lang="en-US" sz="1900" dirty="0"/>
          </a:p>
        </p:txBody>
      </p:sp>
      <p:sp>
        <p:nvSpPr>
          <p:cNvPr id="8" name="Text 6"/>
          <p:cNvSpPr/>
          <p:nvPr/>
        </p:nvSpPr>
        <p:spPr>
          <a:xfrm>
            <a:off x="960120" y="3657600"/>
            <a:ext cx="2834640" cy="1828800"/>
          </a:xfrm>
          <a:prstGeom prst="rect">
            <a:avLst/>
          </a:prstGeom>
          <a:noFill/>
          <a:ln/>
        </p:spPr>
        <p:txBody>
          <a:bodyPr wrap="square" rtlCol="0" anchor="ctr"/>
          <a:lstStyle/>
          <a:p>
            <a:pPr indent="0" marL="0">
              <a:lnSpc>
                <a:spcPts val="2000"/>
              </a:lnSpc>
              <a:buNone/>
            </a:pPr>
            <a:r>
              <a:rPr lang="en-US" sz="1350" dirty="0">
                <a:solidFill>
                  <a:srgbClr val="2B2722"/>
                </a:solidFill>
                <a:latin typeface="Calibri" pitchFamily="34" charset="0"/>
                <a:ea typeface="Calibri" pitchFamily="34" charset="-122"/>
                <a:cs typeface="Calibri" pitchFamily="34" charset="-120"/>
              </a:rPr>
              <a:t>Approves every outbound message, protects the brand, and owns visit-to-booking conversion across the floor.</a:t>
            </a:r>
            <a:endParaRPr lang="en-US" sz="1350" dirty="0"/>
          </a:p>
        </p:txBody>
      </p:sp>
      <p:sp>
        <p:nvSpPr>
          <p:cNvPr id="9" name="Shape 7"/>
          <p:cNvSpPr/>
          <p:nvPr/>
        </p:nvSpPr>
        <p:spPr>
          <a:xfrm>
            <a:off x="4343400" y="2286000"/>
            <a:ext cx="3429000" cy="338328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0" name="Shape 8"/>
          <p:cNvSpPr/>
          <p:nvPr/>
        </p:nvSpPr>
        <p:spPr>
          <a:xfrm>
            <a:off x="4663440" y="2606040"/>
            <a:ext cx="777240" cy="777240"/>
          </a:xfrm>
          <a:prstGeom prst="ellipse">
            <a:avLst/>
          </a:prstGeom>
          <a:solidFill>
            <a:srgbClr val="5E7261"/>
          </a:solidFill>
          <a:ln/>
        </p:spPr>
      </p:sp>
      <p:sp>
        <p:nvSpPr>
          <p:cNvPr id="11" name="Text 9"/>
          <p:cNvSpPr/>
          <p:nvPr/>
        </p:nvSpPr>
        <p:spPr>
          <a:xfrm>
            <a:off x="4663440" y="2606040"/>
            <a:ext cx="777240" cy="777240"/>
          </a:xfrm>
          <a:prstGeom prst="rect">
            <a:avLst/>
          </a:prstGeom>
          <a:noFill/>
          <a:ln/>
        </p:spPr>
        <p:txBody>
          <a:bodyPr wrap="square" rtlCol="0" anchor="ctr"/>
          <a:lstStyle/>
          <a:p>
            <a:pPr algn="ctr" indent="0" marL="0">
              <a:buNone/>
            </a:pPr>
            <a:r>
              <a:rPr lang="en-US" sz="2210" b="1" dirty="0">
                <a:solidFill>
                  <a:srgbClr val="FFFFFF"/>
                </a:solidFill>
                <a:latin typeface="Georgia" pitchFamily="34" charset="0"/>
                <a:ea typeface="Georgia" pitchFamily="34" charset="-122"/>
                <a:cs typeface="Georgia" pitchFamily="34" charset="-120"/>
              </a:rPr>
              <a:t>RJ</a:t>
            </a:r>
            <a:endParaRPr lang="en-US" sz="2210" dirty="0"/>
          </a:p>
        </p:txBody>
      </p:sp>
      <p:sp>
        <p:nvSpPr>
          <p:cNvPr id="12" name="Text 10"/>
          <p:cNvSpPr/>
          <p:nvPr/>
        </p:nvSpPr>
        <p:spPr>
          <a:xfrm>
            <a:off x="5623560" y="2743200"/>
            <a:ext cx="2103120" cy="457200"/>
          </a:xfrm>
          <a:prstGeom prst="rect">
            <a:avLst/>
          </a:prstGeom>
          <a:noFill/>
          <a:ln/>
        </p:spPr>
        <p:txBody>
          <a:bodyPr wrap="square" rtlCol="0" anchor="ctr"/>
          <a:lstStyle/>
          <a:p>
            <a:pPr indent="0" marL="0">
              <a:buNone/>
            </a:pPr>
            <a:r>
              <a:rPr lang="en-US" sz="1900" b="1" dirty="0">
                <a:solidFill>
                  <a:srgbClr val="201E1B"/>
                </a:solidFill>
                <a:latin typeface="Georgia" pitchFamily="34" charset="0"/>
                <a:ea typeface="Georgia" pitchFamily="34" charset="-122"/>
                <a:cs typeface="Georgia" pitchFamily="34" charset="-120"/>
              </a:rPr>
              <a:t>Sales Rep</a:t>
            </a:r>
            <a:endParaRPr lang="en-US" sz="1900" dirty="0"/>
          </a:p>
        </p:txBody>
      </p:sp>
      <p:sp>
        <p:nvSpPr>
          <p:cNvPr id="13" name="Text 11"/>
          <p:cNvSpPr/>
          <p:nvPr/>
        </p:nvSpPr>
        <p:spPr>
          <a:xfrm>
            <a:off x="4663440" y="3657600"/>
            <a:ext cx="2834640" cy="1828800"/>
          </a:xfrm>
          <a:prstGeom prst="rect">
            <a:avLst/>
          </a:prstGeom>
          <a:noFill/>
          <a:ln/>
        </p:spPr>
        <p:txBody>
          <a:bodyPr wrap="square" rtlCol="0" anchor="ctr"/>
          <a:lstStyle/>
          <a:p>
            <a:pPr indent="0" marL="0">
              <a:lnSpc>
                <a:spcPts val="2000"/>
              </a:lnSpc>
              <a:buNone/>
            </a:pPr>
            <a:r>
              <a:rPr lang="en-US" sz="1350" dirty="0">
                <a:solidFill>
                  <a:srgbClr val="2B2722"/>
                </a:solidFill>
                <a:latin typeface="Calibri" pitchFamily="34" charset="0"/>
                <a:ea typeface="Calibri" pitchFamily="34" charset="-122"/>
                <a:cs typeface="Calibri" pitchFamily="34" charset="-120"/>
              </a:rPr>
              <a:t>Works a ranked queue of who to call first, with the next best action and a reply already drafted.</a:t>
            </a:r>
            <a:endParaRPr lang="en-US" sz="1350" dirty="0"/>
          </a:p>
        </p:txBody>
      </p:sp>
      <p:sp>
        <p:nvSpPr>
          <p:cNvPr id="14" name="Shape 12"/>
          <p:cNvSpPr/>
          <p:nvPr/>
        </p:nvSpPr>
        <p:spPr>
          <a:xfrm>
            <a:off x="8046720" y="2286000"/>
            <a:ext cx="3429000" cy="338328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5" name="Shape 13"/>
          <p:cNvSpPr/>
          <p:nvPr/>
        </p:nvSpPr>
        <p:spPr>
          <a:xfrm>
            <a:off x="8366760" y="2606040"/>
            <a:ext cx="777240" cy="777240"/>
          </a:xfrm>
          <a:prstGeom prst="ellipse">
            <a:avLst/>
          </a:prstGeom>
          <a:solidFill>
            <a:srgbClr val="8F3D20"/>
          </a:solidFill>
          <a:ln/>
        </p:spPr>
      </p:sp>
      <p:sp>
        <p:nvSpPr>
          <p:cNvPr id="16" name="Text 14"/>
          <p:cNvSpPr/>
          <p:nvPr/>
        </p:nvSpPr>
        <p:spPr>
          <a:xfrm>
            <a:off x="8366760" y="2606040"/>
            <a:ext cx="777240" cy="777240"/>
          </a:xfrm>
          <a:prstGeom prst="rect">
            <a:avLst/>
          </a:prstGeom>
          <a:noFill/>
          <a:ln/>
        </p:spPr>
        <p:txBody>
          <a:bodyPr wrap="square" rtlCol="0" anchor="ctr"/>
          <a:lstStyle/>
          <a:p>
            <a:pPr algn="ctr" indent="0" marL="0">
              <a:buNone/>
            </a:pPr>
            <a:r>
              <a:rPr lang="en-US" sz="2210" b="1" dirty="0">
                <a:solidFill>
                  <a:srgbClr val="FFFFFF"/>
                </a:solidFill>
                <a:latin typeface="Georgia" pitchFamily="34" charset="0"/>
                <a:ea typeface="Georgia" pitchFamily="34" charset="-122"/>
                <a:cs typeface="Georgia" pitchFamily="34" charset="-120"/>
              </a:rPr>
              <a:t>MP</a:t>
            </a:r>
            <a:endParaRPr lang="en-US" sz="2210" dirty="0"/>
          </a:p>
        </p:txBody>
      </p:sp>
      <p:sp>
        <p:nvSpPr>
          <p:cNvPr id="17" name="Text 15"/>
          <p:cNvSpPr/>
          <p:nvPr/>
        </p:nvSpPr>
        <p:spPr>
          <a:xfrm>
            <a:off x="9326880" y="2743200"/>
            <a:ext cx="2103120" cy="457200"/>
          </a:xfrm>
          <a:prstGeom prst="rect">
            <a:avLst/>
          </a:prstGeom>
          <a:noFill/>
          <a:ln/>
        </p:spPr>
        <p:txBody>
          <a:bodyPr wrap="square" rtlCol="0" anchor="ctr"/>
          <a:lstStyle/>
          <a:p>
            <a:pPr indent="0" marL="0">
              <a:buNone/>
            </a:pPr>
            <a:r>
              <a:rPr lang="en-US" sz="1900" b="1" dirty="0">
                <a:solidFill>
                  <a:srgbClr val="201E1B"/>
                </a:solidFill>
                <a:latin typeface="Georgia" pitchFamily="34" charset="0"/>
                <a:ea typeface="Georgia" pitchFamily="34" charset="-122"/>
                <a:cs typeface="Georgia" pitchFamily="34" charset="-120"/>
              </a:rPr>
              <a:t>Marketing Lead</a:t>
            </a:r>
            <a:endParaRPr lang="en-US" sz="1900" dirty="0"/>
          </a:p>
        </p:txBody>
      </p:sp>
      <p:sp>
        <p:nvSpPr>
          <p:cNvPr id="18" name="Text 16"/>
          <p:cNvSpPr/>
          <p:nvPr/>
        </p:nvSpPr>
        <p:spPr>
          <a:xfrm>
            <a:off x="8366760" y="3657600"/>
            <a:ext cx="2834640" cy="1828800"/>
          </a:xfrm>
          <a:prstGeom prst="rect">
            <a:avLst/>
          </a:prstGeom>
          <a:noFill/>
          <a:ln/>
        </p:spPr>
        <p:txBody>
          <a:bodyPr wrap="square" rtlCol="0" anchor="ctr"/>
          <a:lstStyle/>
          <a:p>
            <a:pPr indent="0" marL="0">
              <a:lnSpc>
                <a:spcPts val="2000"/>
              </a:lnSpc>
              <a:buNone/>
            </a:pPr>
            <a:r>
              <a:rPr lang="en-US" sz="1350" dirty="0">
                <a:solidFill>
                  <a:srgbClr val="2B2722"/>
                </a:solidFill>
                <a:latin typeface="Calibri" pitchFamily="34" charset="0"/>
                <a:ea typeface="Calibri" pitchFamily="34" charset="-122"/>
                <a:cs typeface="Calibri" pitchFamily="34" charset="-120"/>
              </a:rPr>
              <a:t>Allocates spend by what actually converts — sees cost per lead, visit, and booking by channel.</a:t>
            </a:r>
            <a:endParaRPr lang="en-US" sz="1350" dirty="0"/>
          </a:p>
        </p:txBody>
      </p:sp>
      <p:sp>
        <p:nvSpPr>
          <p:cNvPr id="19" name="Text 17"/>
          <p:cNvSpPr/>
          <p:nvPr/>
        </p:nvSpPr>
        <p:spPr>
          <a:xfrm>
            <a:off x="640080" y="6446520"/>
            <a:ext cx="2743200" cy="274320"/>
          </a:xfrm>
          <a:prstGeom prst="rect">
            <a:avLst/>
          </a:prstGeom>
          <a:noFill/>
          <a:ln/>
        </p:spPr>
        <p:txBody>
          <a:bodyPr wrap="square" rtlCol="0" anchor="ctr"/>
          <a:lstStyle/>
          <a:p>
            <a:pPr indent="0" marL="0">
              <a:buNone/>
            </a:pPr>
            <a:r>
              <a:rPr lang="en-US" sz="1000" i="1" dirty="0">
                <a:solidFill>
                  <a:srgbClr val="6F685E"/>
                </a:solidFill>
                <a:latin typeface="Georgia" pitchFamily="34" charset="0"/>
                <a:ea typeface="Georgia" pitchFamily="34" charset="-122"/>
                <a:cs typeface="Georgia" pitchFamily="34" charset="-120"/>
              </a:rPr>
              <a:t>Pentahouse</a:t>
            </a:r>
            <a:endParaRPr lang="en-US" sz="1000" dirty="0"/>
          </a:p>
        </p:txBody>
      </p:sp>
      <p:sp>
        <p:nvSpPr>
          <p:cNvPr id="20" name="Text 18"/>
          <p:cNvSpPr/>
          <p:nvPr/>
        </p:nvSpPr>
        <p:spPr>
          <a:xfrm>
            <a:off x="11091672" y="6446520"/>
            <a:ext cx="457200" cy="274320"/>
          </a:xfrm>
          <a:prstGeom prst="rect">
            <a:avLst/>
          </a:prstGeom>
          <a:noFill/>
          <a:ln/>
        </p:spPr>
        <p:txBody>
          <a:bodyPr wrap="square" rtlCol="0" anchor="ctr"/>
          <a:lstStyle/>
          <a:p>
            <a:pPr algn="r" indent="0" marL="0">
              <a:buNone/>
            </a:pPr>
            <a:r>
              <a:rPr lang="en-US" sz="1000" dirty="0">
                <a:solidFill>
                  <a:srgbClr val="6F685E"/>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4EC"/>
        </a:solidFill>
      </p:bgPr>
    </p:bg>
    <p:spTree>
      <p:nvGrpSpPr>
        <p:cNvPr id="1" name=""/>
        <p:cNvGrpSpPr/>
        <p:nvPr/>
      </p:nvGrpSpPr>
      <p:grpSpPr>
        <a:xfrm>
          <a:off x="0" y="0"/>
          <a:ext cx="0" cy="0"/>
          <a:chOff x="0" y="0"/>
          <a:chExt cx="0" cy="0"/>
        </a:xfrm>
      </p:grpSpPr>
      <p:sp>
        <p:nvSpPr>
          <p:cNvPr id="2" name="Text 0"/>
          <p:cNvSpPr/>
          <p:nvPr/>
        </p:nvSpPr>
        <p:spPr>
          <a:xfrm>
            <a:off x="640080" y="502920"/>
            <a:ext cx="10908792" cy="274320"/>
          </a:xfrm>
          <a:prstGeom prst="rect">
            <a:avLst/>
          </a:prstGeom>
          <a:noFill/>
          <a:ln/>
        </p:spPr>
        <p:txBody>
          <a:bodyPr wrap="square" rtlCol="0" anchor="ctr"/>
          <a:lstStyle/>
          <a:p>
            <a:pPr indent="0" marL="0">
              <a:buNone/>
            </a:pPr>
            <a:r>
              <a:rPr lang="en-US" sz="1200" b="1" spc="300" kern="0" dirty="0">
                <a:solidFill>
                  <a:srgbClr val="C0552F"/>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640080" y="822960"/>
            <a:ext cx="10908792" cy="1005840"/>
          </a:xfrm>
          <a:prstGeom prst="rect">
            <a:avLst/>
          </a:prstGeom>
          <a:noFill/>
          <a:ln/>
        </p:spPr>
        <p:txBody>
          <a:bodyPr wrap="square" rtlCol="0" anchor="ctr"/>
          <a:lstStyle/>
          <a:p>
            <a:pPr indent="0" marL="0">
              <a:lnSpc>
                <a:spcPts val="3465"/>
              </a:lnSpc>
              <a:buNone/>
            </a:pPr>
            <a:r>
              <a:rPr lang="en-US" sz="3300" b="1" dirty="0">
                <a:solidFill>
                  <a:srgbClr val="201E1B"/>
                </a:solidFill>
                <a:latin typeface="Georgia" pitchFamily="34" charset="0"/>
                <a:ea typeface="Georgia" pitchFamily="34" charset="-122"/>
                <a:cs typeface="Georgia" pitchFamily="34" charset="-120"/>
              </a:rPr>
              <a:t>One closed-loop, five-agent system</a:t>
            </a:r>
            <a:endParaRPr lang="en-US" sz="3300" dirty="0"/>
          </a:p>
        </p:txBody>
      </p:sp>
      <p:sp>
        <p:nvSpPr>
          <p:cNvPr id="4" name="Shape 2"/>
          <p:cNvSpPr/>
          <p:nvPr/>
        </p:nvSpPr>
        <p:spPr>
          <a:xfrm>
            <a:off x="777240" y="2468880"/>
            <a:ext cx="1993392" cy="1554480"/>
          </a:xfrm>
          <a:prstGeom prst="roundRect">
            <a:avLst>
              <a:gd name="adj" fmla="val 4118"/>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5" name="Text 3"/>
          <p:cNvSpPr/>
          <p:nvPr/>
        </p:nvSpPr>
        <p:spPr>
          <a:xfrm>
            <a:off x="777240" y="2697480"/>
            <a:ext cx="1993392" cy="365760"/>
          </a:xfrm>
          <a:prstGeom prst="rect">
            <a:avLst/>
          </a:prstGeom>
          <a:noFill/>
          <a:ln/>
        </p:spPr>
        <p:txBody>
          <a:bodyPr wrap="square" rtlCol="0" anchor="ctr"/>
          <a:lstStyle/>
          <a:p>
            <a:pPr algn="ctr" indent="0" marL="0">
              <a:buNone/>
            </a:pPr>
            <a:r>
              <a:rPr lang="en-US" sz="1700" b="1" dirty="0">
                <a:solidFill>
                  <a:srgbClr val="C0552F"/>
                </a:solidFill>
                <a:latin typeface="Georgia" pitchFamily="34" charset="0"/>
                <a:ea typeface="Georgia" pitchFamily="34" charset="-122"/>
                <a:cs typeface="Georgia" pitchFamily="34" charset="-120"/>
              </a:rPr>
              <a:t>Listing</a:t>
            </a:r>
            <a:endParaRPr lang="en-US" sz="1700" dirty="0"/>
          </a:p>
        </p:txBody>
      </p:sp>
      <p:sp>
        <p:nvSpPr>
          <p:cNvPr id="6" name="Text 4"/>
          <p:cNvSpPr/>
          <p:nvPr/>
        </p:nvSpPr>
        <p:spPr>
          <a:xfrm>
            <a:off x="914400" y="3108960"/>
            <a:ext cx="1719072" cy="822960"/>
          </a:xfrm>
          <a:prstGeom prst="rect">
            <a:avLst/>
          </a:prstGeom>
          <a:noFill/>
          <a:ln/>
        </p:spPr>
        <p:txBody>
          <a:bodyPr wrap="square" rtlCol="0" anchor="ctr"/>
          <a:lstStyle/>
          <a:p>
            <a:pPr algn="ctr" indent="0" marL="0">
              <a:lnSpc>
                <a:spcPts val="1500"/>
              </a:lnSpc>
              <a:buNone/>
            </a:pPr>
            <a:r>
              <a:rPr lang="en-US" sz="1150" dirty="0">
                <a:solidFill>
                  <a:srgbClr val="2B2722"/>
                </a:solidFill>
                <a:latin typeface="Calibri" pitchFamily="34" charset="0"/>
                <a:ea typeface="Calibri" pitchFamily="34" charset="-122"/>
                <a:cs typeface="Calibri" pitchFamily="34" charset="-120"/>
              </a:rPr>
              <a:t>syncs &amp; verifies inventory</a:t>
            </a:r>
            <a:endParaRPr lang="en-US" sz="1150" dirty="0"/>
          </a:p>
        </p:txBody>
      </p:sp>
      <p:sp>
        <p:nvSpPr>
          <p:cNvPr id="7" name="Text 5"/>
          <p:cNvSpPr/>
          <p:nvPr/>
        </p:nvSpPr>
        <p:spPr>
          <a:xfrm>
            <a:off x="2752344" y="2468880"/>
            <a:ext cx="283464" cy="1554480"/>
          </a:xfrm>
          <a:prstGeom prst="rect">
            <a:avLst/>
          </a:prstGeom>
          <a:noFill/>
          <a:ln/>
        </p:spPr>
        <p:txBody>
          <a:bodyPr wrap="square" rtlCol="0" anchor="ctr"/>
          <a:lstStyle/>
          <a:p>
            <a:pPr algn="ctr" indent="0" marL="0">
              <a:buNone/>
            </a:pPr>
            <a:r>
              <a:rPr lang="en-US" sz="1800" b="1" dirty="0">
                <a:solidFill>
                  <a:srgbClr val="C0552F"/>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3017520" y="2468880"/>
            <a:ext cx="1993392" cy="1554480"/>
          </a:xfrm>
          <a:prstGeom prst="roundRect">
            <a:avLst>
              <a:gd name="adj" fmla="val 4118"/>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9" name="Text 7"/>
          <p:cNvSpPr/>
          <p:nvPr/>
        </p:nvSpPr>
        <p:spPr>
          <a:xfrm>
            <a:off x="3017520" y="2697480"/>
            <a:ext cx="1993392" cy="365760"/>
          </a:xfrm>
          <a:prstGeom prst="rect">
            <a:avLst/>
          </a:prstGeom>
          <a:noFill/>
          <a:ln/>
        </p:spPr>
        <p:txBody>
          <a:bodyPr wrap="square" rtlCol="0" anchor="ctr"/>
          <a:lstStyle/>
          <a:p>
            <a:pPr algn="ctr" indent="0" marL="0">
              <a:buNone/>
            </a:pPr>
            <a:r>
              <a:rPr lang="en-US" sz="1700" b="1" dirty="0">
                <a:solidFill>
                  <a:srgbClr val="C0552F"/>
                </a:solidFill>
                <a:latin typeface="Georgia" pitchFamily="34" charset="0"/>
                <a:ea typeface="Georgia" pitchFamily="34" charset="-122"/>
                <a:cs typeface="Georgia" pitchFamily="34" charset="-120"/>
              </a:rPr>
              <a:t>Ad</a:t>
            </a:r>
            <a:endParaRPr lang="en-US" sz="1700" dirty="0"/>
          </a:p>
        </p:txBody>
      </p:sp>
      <p:sp>
        <p:nvSpPr>
          <p:cNvPr id="10" name="Text 8"/>
          <p:cNvSpPr/>
          <p:nvPr/>
        </p:nvSpPr>
        <p:spPr>
          <a:xfrm>
            <a:off x="3154680" y="3108960"/>
            <a:ext cx="1719072" cy="822960"/>
          </a:xfrm>
          <a:prstGeom prst="rect">
            <a:avLst/>
          </a:prstGeom>
          <a:noFill/>
          <a:ln/>
        </p:spPr>
        <p:txBody>
          <a:bodyPr wrap="square" rtlCol="0" anchor="ctr"/>
          <a:lstStyle/>
          <a:p>
            <a:pPr algn="ctr" indent="0" marL="0">
              <a:lnSpc>
                <a:spcPts val="1500"/>
              </a:lnSpc>
              <a:buNone/>
            </a:pPr>
            <a:r>
              <a:rPr lang="en-US" sz="1150" dirty="0">
                <a:solidFill>
                  <a:srgbClr val="2B2722"/>
                </a:solidFill>
                <a:latin typeface="Calibri" pitchFamily="34" charset="0"/>
                <a:ea typeface="Calibri" pitchFamily="34" charset="-122"/>
                <a:cs typeface="Calibri" pitchFamily="34" charset="-120"/>
              </a:rPr>
              <a:t>drafts targeted campaigns</a:t>
            </a:r>
            <a:endParaRPr lang="en-US" sz="1150" dirty="0"/>
          </a:p>
        </p:txBody>
      </p:sp>
      <p:sp>
        <p:nvSpPr>
          <p:cNvPr id="11" name="Text 9"/>
          <p:cNvSpPr/>
          <p:nvPr/>
        </p:nvSpPr>
        <p:spPr>
          <a:xfrm>
            <a:off x="4992624" y="2468880"/>
            <a:ext cx="283464" cy="1554480"/>
          </a:xfrm>
          <a:prstGeom prst="rect">
            <a:avLst/>
          </a:prstGeom>
          <a:noFill/>
          <a:ln/>
        </p:spPr>
        <p:txBody>
          <a:bodyPr wrap="square" rtlCol="0" anchor="ctr"/>
          <a:lstStyle/>
          <a:p>
            <a:pPr algn="ctr" indent="0" marL="0">
              <a:buNone/>
            </a:pPr>
            <a:r>
              <a:rPr lang="en-US" sz="1800" b="1" dirty="0">
                <a:solidFill>
                  <a:srgbClr val="C0552F"/>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5257800" y="2468880"/>
            <a:ext cx="1993392" cy="1554480"/>
          </a:xfrm>
          <a:prstGeom prst="roundRect">
            <a:avLst>
              <a:gd name="adj" fmla="val 4118"/>
            </a:avLst>
          </a:prstGeom>
          <a:solidFill>
            <a:srgbClr val="201E1B"/>
          </a:solidFill>
          <a:ln w="12700">
            <a:solidFill>
              <a:srgbClr val="201E1B"/>
            </a:solidFill>
            <a:prstDash val="solid"/>
          </a:ln>
          <a:effectLst>
            <a:outerShdw sx="100000" sy="100000" kx="0" ky="0" algn="bl" rotWithShape="0" blurRad="114300" dist="38100" dir="8100000">
              <a:srgbClr val="000000">
                <a:alpha val="10000"/>
              </a:srgbClr>
            </a:outerShdw>
          </a:effectLst>
        </p:spPr>
      </p:sp>
      <p:sp>
        <p:nvSpPr>
          <p:cNvPr id="13" name="Text 11"/>
          <p:cNvSpPr/>
          <p:nvPr/>
        </p:nvSpPr>
        <p:spPr>
          <a:xfrm>
            <a:off x="5257800" y="2697480"/>
            <a:ext cx="1993392" cy="365760"/>
          </a:xfrm>
          <a:prstGeom prst="rect">
            <a:avLst/>
          </a:prstGeom>
          <a:noFill/>
          <a:ln/>
        </p:spPr>
        <p:txBody>
          <a:bodyPr wrap="square"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Lead</a:t>
            </a:r>
            <a:endParaRPr lang="en-US" sz="1700" dirty="0"/>
          </a:p>
        </p:txBody>
      </p:sp>
      <p:sp>
        <p:nvSpPr>
          <p:cNvPr id="14" name="Text 12"/>
          <p:cNvSpPr/>
          <p:nvPr/>
        </p:nvSpPr>
        <p:spPr>
          <a:xfrm>
            <a:off x="5394960" y="3108960"/>
            <a:ext cx="1719072" cy="822960"/>
          </a:xfrm>
          <a:prstGeom prst="rect">
            <a:avLst/>
          </a:prstGeom>
          <a:noFill/>
          <a:ln/>
        </p:spPr>
        <p:txBody>
          <a:bodyPr wrap="square" rtlCol="0" anchor="ctr"/>
          <a:lstStyle/>
          <a:p>
            <a:pPr algn="ctr" indent="0" marL="0">
              <a:lnSpc>
                <a:spcPts val="1500"/>
              </a:lnSpc>
              <a:buNone/>
            </a:pPr>
            <a:r>
              <a:rPr lang="en-US" sz="1150" dirty="0">
                <a:solidFill>
                  <a:srgbClr val="D9D2C7"/>
                </a:solidFill>
                <a:latin typeface="Calibri" pitchFamily="34" charset="0"/>
                <a:ea typeface="Calibri" pitchFamily="34" charset="-122"/>
                <a:cs typeface="Calibri" pitchFamily="34" charset="-120"/>
              </a:rPr>
              <a:t>scores intent, decides next step</a:t>
            </a:r>
            <a:endParaRPr lang="en-US" sz="1150" dirty="0"/>
          </a:p>
        </p:txBody>
      </p:sp>
      <p:sp>
        <p:nvSpPr>
          <p:cNvPr id="15" name="Text 13"/>
          <p:cNvSpPr/>
          <p:nvPr/>
        </p:nvSpPr>
        <p:spPr>
          <a:xfrm>
            <a:off x="7232904" y="2468880"/>
            <a:ext cx="283464" cy="1554480"/>
          </a:xfrm>
          <a:prstGeom prst="rect">
            <a:avLst/>
          </a:prstGeom>
          <a:noFill/>
          <a:ln/>
        </p:spPr>
        <p:txBody>
          <a:bodyPr wrap="square" rtlCol="0" anchor="ctr"/>
          <a:lstStyle/>
          <a:p>
            <a:pPr algn="ctr" indent="0" marL="0">
              <a:buNone/>
            </a:pPr>
            <a:r>
              <a:rPr lang="en-US" sz="1800" b="1" dirty="0">
                <a:solidFill>
                  <a:srgbClr val="C0552F"/>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7498080" y="2468880"/>
            <a:ext cx="1993392" cy="1554480"/>
          </a:xfrm>
          <a:prstGeom prst="roundRect">
            <a:avLst>
              <a:gd name="adj" fmla="val 4118"/>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7" name="Text 15"/>
          <p:cNvSpPr/>
          <p:nvPr/>
        </p:nvSpPr>
        <p:spPr>
          <a:xfrm>
            <a:off x="7498080" y="2697480"/>
            <a:ext cx="1993392" cy="365760"/>
          </a:xfrm>
          <a:prstGeom prst="rect">
            <a:avLst/>
          </a:prstGeom>
          <a:noFill/>
          <a:ln/>
        </p:spPr>
        <p:txBody>
          <a:bodyPr wrap="square" rtlCol="0" anchor="ctr"/>
          <a:lstStyle/>
          <a:p>
            <a:pPr algn="ctr" indent="0" marL="0">
              <a:buNone/>
            </a:pPr>
            <a:r>
              <a:rPr lang="en-US" sz="1700" b="1" dirty="0">
                <a:solidFill>
                  <a:srgbClr val="C0552F"/>
                </a:solidFill>
                <a:latin typeface="Georgia" pitchFamily="34" charset="0"/>
                <a:ea typeface="Georgia" pitchFamily="34" charset="-122"/>
                <a:cs typeface="Georgia" pitchFamily="34" charset="-120"/>
              </a:rPr>
              <a:t>Nurture</a:t>
            </a:r>
            <a:endParaRPr lang="en-US" sz="1700" dirty="0"/>
          </a:p>
        </p:txBody>
      </p:sp>
      <p:sp>
        <p:nvSpPr>
          <p:cNvPr id="18" name="Text 16"/>
          <p:cNvSpPr/>
          <p:nvPr/>
        </p:nvSpPr>
        <p:spPr>
          <a:xfrm>
            <a:off x="7635240" y="3108960"/>
            <a:ext cx="1719072" cy="822960"/>
          </a:xfrm>
          <a:prstGeom prst="rect">
            <a:avLst/>
          </a:prstGeom>
          <a:noFill/>
          <a:ln/>
        </p:spPr>
        <p:txBody>
          <a:bodyPr wrap="square" rtlCol="0" anchor="ctr"/>
          <a:lstStyle/>
          <a:p>
            <a:pPr algn="ctr" indent="0" marL="0">
              <a:lnSpc>
                <a:spcPts val="1500"/>
              </a:lnSpc>
              <a:buNone/>
            </a:pPr>
            <a:r>
              <a:rPr lang="en-US" sz="1150" dirty="0">
                <a:solidFill>
                  <a:srgbClr val="2B2722"/>
                </a:solidFill>
                <a:latin typeface="Calibri" pitchFamily="34" charset="0"/>
                <a:ea typeface="Calibri" pitchFamily="34" charset="-122"/>
                <a:cs typeface="Calibri" pitchFamily="34" charset="-120"/>
              </a:rPr>
              <a:t>drafts WhatsApp, you approve</a:t>
            </a:r>
            <a:endParaRPr lang="en-US" sz="1150" dirty="0"/>
          </a:p>
        </p:txBody>
      </p:sp>
      <p:sp>
        <p:nvSpPr>
          <p:cNvPr id="19" name="Text 17"/>
          <p:cNvSpPr/>
          <p:nvPr/>
        </p:nvSpPr>
        <p:spPr>
          <a:xfrm>
            <a:off x="9473184" y="2468880"/>
            <a:ext cx="283464" cy="1554480"/>
          </a:xfrm>
          <a:prstGeom prst="rect">
            <a:avLst/>
          </a:prstGeom>
          <a:noFill/>
          <a:ln/>
        </p:spPr>
        <p:txBody>
          <a:bodyPr wrap="square" rtlCol="0" anchor="ctr"/>
          <a:lstStyle/>
          <a:p>
            <a:pPr algn="ctr" indent="0" marL="0">
              <a:buNone/>
            </a:pPr>
            <a:r>
              <a:rPr lang="en-US" sz="1800" b="1" dirty="0">
                <a:solidFill>
                  <a:srgbClr val="C0552F"/>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9738360" y="2468880"/>
            <a:ext cx="1993392" cy="1554480"/>
          </a:xfrm>
          <a:prstGeom prst="roundRect">
            <a:avLst>
              <a:gd name="adj" fmla="val 4118"/>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21" name="Text 19"/>
          <p:cNvSpPr/>
          <p:nvPr/>
        </p:nvSpPr>
        <p:spPr>
          <a:xfrm>
            <a:off x="9738360" y="2697480"/>
            <a:ext cx="1993392" cy="365760"/>
          </a:xfrm>
          <a:prstGeom prst="rect">
            <a:avLst/>
          </a:prstGeom>
          <a:noFill/>
          <a:ln/>
        </p:spPr>
        <p:txBody>
          <a:bodyPr wrap="square" rtlCol="0" anchor="ctr"/>
          <a:lstStyle/>
          <a:p>
            <a:pPr algn="ctr" indent="0" marL="0">
              <a:buNone/>
            </a:pPr>
            <a:r>
              <a:rPr lang="en-US" sz="1700" b="1" dirty="0">
                <a:solidFill>
                  <a:srgbClr val="C0552F"/>
                </a:solidFill>
                <a:latin typeface="Georgia" pitchFamily="34" charset="0"/>
                <a:ea typeface="Georgia" pitchFamily="34" charset="-122"/>
                <a:cs typeface="Georgia" pitchFamily="34" charset="-120"/>
              </a:rPr>
              <a:t>Conversion</a:t>
            </a:r>
            <a:endParaRPr lang="en-US" sz="1700" dirty="0"/>
          </a:p>
        </p:txBody>
      </p:sp>
      <p:sp>
        <p:nvSpPr>
          <p:cNvPr id="22" name="Text 20"/>
          <p:cNvSpPr/>
          <p:nvPr/>
        </p:nvSpPr>
        <p:spPr>
          <a:xfrm>
            <a:off x="9875520" y="3108960"/>
            <a:ext cx="1719072" cy="822960"/>
          </a:xfrm>
          <a:prstGeom prst="rect">
            <a:avLst/>
          </a:prstGeom>
          <a:noFill/>
          <a:ln/>
        </p:spPr>
        <p:txBody>
          <a:bodyPr wrap="square" rtlCol="0" anchor="ctr"/>
          <a:lstStyle/>
          <a:p>
            <a:pPr algn="ctr" indent="0" marL="0">
              <a:lnSpc>
                <a:spcPts val="1500"/>
              </a:lnSpc>
              <a:buNone/>
            </a:pPr>
            <a:r>
              <a:rPr lang="en-US" sz="1150" dirty="0">
                <a:solidFill>
                  <a:srgbClr val="2B2722"/>
                </a:solidFill>
                <a:latin typeface="Calibri" pitchFamily="34" charset="0"/>
                <a:ea typeface="Calibri" pitchFamily="34" charset="-122"/>
                <a:cs typeface="Calibri" pitchFamily="34" charset="-120"/>
              </a:rPr>
              <a:t>tracks visits &amp; bookings</a:t>
            </a:r>
            <a:endParaRPr lang="en-US" sz="1150" dirty="0"/>
          </a:p>
        </p:txBody>
      </p:sp>
      <p:sp>
        <p:nvSpPr>
          <p:cNvPr id="23" name="Shape 21"/>
          <p:cNvSpPr/>
          <p:nvPr/>
        </p:nvSpPr>
        <p:spPr>
          <a:xfrm>
            <a:off x="1773936" y="4389120"/>
            <a:ext cx="8961120" cy="0"/>
          </a:xfrm>
          <a:prstGeom prst="line">
            <a:avLst/>
          </a:prstGeom>
          <a:noFill/>
          <a:ln w="19050">
            <a:solidFill>
              <a:srgbClr val="5E7261"/>
            </a:solidFill>
            <a:prstDash val="dash"/>
            <a:headEnd type="triangle"/>
            <a:tailEnd type="triangle"/>
          </a:ln>
        </p:spPr>
      </p:sp>
      <p:sp>
        <p:nvSpPr>
          <p:cNvPr id="24" name="Text 22"/>
          <p:cNvSpPr/>
          <p:nvPr/>
        </p:nvSpPr>
        <p:spPr>
          <a:xfrm>
            <a:off x="777240" y="4480560"/>
            <a:ext cx="10954512" cy="274320"/>
          </a:xfrm>
          <a:prstGeom prst="rect">
            <a:avLst/>
          </a:prstGeom>
          <a:noFill/>
          <a:ln/>
        </p:spPr>
        <p:txBody>
          <a:bodyPr wrap="square" rtlCol="0" anchor="ctr"/>
          <a:lstStyle/>
          <a:p>
            <a:pPr algn="ctr" indent="0" marL="0">
              <a:buNone/>
            </a:pPr>
            <a:r>
              <a:rPr lang="en-US" sz="1200" i="1" dirty="0">
                <a:solidFill>
                  <a:srgbClr val="5E7261"/>
                </a:solidFill>
                <a:latin typeface="Calibri" pitchFamily="34" charset="0"/>
                <a:ea typeface="Calibri" pitchFamily="34" charset="-122"/>
                <a:cs typeface="Calibri" pitchFamily="34" charset="-120"/>
              </a:rPr>
              <a:t>Feedback loop — visit &amp; booking outcomes flow back into scoring and spend</a:t>
            </a:r>
            <a:endParaRPr lang="en-US" sz="1200" dirty="0"/>
          </a:p>
        </p:txBody>
      </p:sp>
      <p:sp>
        <p:nvSpPr>
          <p:cNvPr id="25" name="Shape 23"/>
          <p:cNvSpPr/>
          <p:nvPr/>
        </p:nvSpPr>
        <p:spPr>
          <a:xfrm>
            <a:off x="640080" y="5120640"/>
            <a:ext cx="10908792" cy="777240"/>
          </a:xfrm>
          <a:prstGeom prst="roundRect">
            <a:avLst>
              <a:gd name="adj" fmla="val 7059"/>
            </a:avLst>
          </a:prstGeom>
          <a:solidFill>
            <a:srgbClr val="E7D9BD"/>
          </a:solidFill>
          <a:ln/>
        </p:spPr>
      </p:sp>
      <p:sp>
        <p:nvSpPr>
          <p:cNvPr id="26" name="Text 24"/>
          <p:cNvSpPr/>
          <p:nvPr/>
        </p:nvSpPr>
        <p:spPr>
          <a:xfrm>
            <a:off x="914400" y="5120640"/>
            <a:ext cx="10360152" cy="777240"/>
          </a:xfrm>
          <a:prstGeom prst="rect">
            <a:avLst/>
          </a:prstGeom>
          <a:noFill/>
          <a:ln/>
        </p:spPr>
        <p:txBody>
          <a:bodyPr wrap="square" rtlCol="0" anchor="ctr"/>
          <a:lstStyle/>
          <a:p>
            <a:pPr indent="0" marL="0">
              <a:buNone/>
            </a:pPr>
            <a:r>
              <a:rPr lang="en-US" sz="1300" b="1" dirty="0">
                <a:solidFill>
                  <a:srgbClr val="8F3D20"/>
                </a:solidFill>
                <a:latin typeface="Calibri" pitchFamily="34" charset="0"/>
                <a:ea typeface="Calibri" pitchFamily="34" charset="-122"/>
                <a:cs typeface="Calibri" pitchFamily="34" charset="-120"/>
              </a:rPr>
              <a:t>Shared data plane:  </a:t>
            </a:r>
            <a:pPr indent="0" marL="0">
              <a:buNone/>
            </a:pPr>
            <a:r>
              <a:rPr lang="en-US" sz="1300" dirty="0">
                <a:solidFill>
                  <a:srgbClr val="2B2722"/>
                </a:solidFill>
                <a:latin typeface="Calibri" pitchFamily="34" charset="0"/>
                <a:ea typeface="Calibri" pitchFamily="34" charset="-122"/>
                <a:cs typeface="Calibri" pitchFamily="34" charset="-120"/>
              </a:rPr>
              <a:t>Supabase (Postgres + pgvector)  ·  n8n orchestration  ·  Gemini 2.5 Flash  ·  Twilio WhatsApp  ·  Google Calendar &amp; Sheets</a:t>
            </a:r>
            <a:endParaRPr lang="en-US" sz="1300" dirty="0"/>
          </a:p>
        </p:txBody>
      </p:sp>
      <p:sp>
        <p:nvSpPr>
          <p:cNvPr id="27" name="Text 25"/>
          <p:cNvSpPr/>
          <p:nvPr/>
        </p:nvSpPr>
        <p:spPr>
          <a:xfrm>
            <a:off x="640080" y="6446520"/>
            <a:ext cx="2743200" cy="274320"/>
          </a:xfrm>
          <a:prstGeom prst="rect">
            <a:avLst/>
          </a:prstGeom>
          <a:noFill/>
          <a:ln/>
        </p:spPr>
        <p:txBody>
          <a:bodyPr wrap="square" rtlCol="0" anchor="ctr"/>
          <a:lstStyle/>
          <a:p>
            <a:pPr indent="0" marL="0">
              <a:buNone/>
            </a:pPr>
            <a:r>
              <a:rPr lang="en-US" sz="1000" i="1" dirty="0">
                <a:solidFill>
                  <a:srgbClr val="6F685E"/>
                </a:solidFill>
                <a:latin typeface="Georgia" pitchFamily="34" charset="0"/>
                <a:ea typeface="Georgia" pitchFamily="34" charset="-122"/>
                <a:cs typeface="Georgia" pitchFamily="34" charset="-120"/>
              </a:rPr>
              <a:t>Pentahouse</a:t>
            </a:r>
            <a:endParaRPr lang="en-US" sz="1000" dirty="0"/>
          </a:p>
        </p:txBody>
      </p:sp>
      <p:sp>
        <p:nvSpPr>
          <p:cNvPr id="28" name="Text 26"/>
          <p:cNvSpPr/>
          <p:nvPr/>
        </p:nvSpPr>
        <p:spPr>
          <a:xfrm>
            <a:off x="11091672" y="6446520"/>
            <a:ext cx="457200" cy="274320"/>
          </a:xfrm>
          <a:prstGeom prst="rect">
            <a:avLst/>
          </a:prstGeom>
          <a:noFill/>
          <a:ln/>
        </p:spPr>
        <p:txBody>
          <a:bodyPr wrap="square" rtlCol="0" anchor="ctr"/>
          <a:lstStyle/>
          <a:p>
            <a:pPr algn="r" indent="0" marL="0">
              <a:buNone/>
            </a:pPr>
            <a:r>
              <a:rPr lang="en-US" sz="1000" dirty="0">
                <a:solidFill>
                  <a:srgbClr val="6F685E"/>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4EC"/>
        </a:solidFill>
      </p:bgPr>
    </p:bg>
    <p:spTree>
      <p:nvGrpSpPr>
        <p:cNvPr id="1" name=""/>
        <p:cNvGrpSpPr/>
        <p:nvPr/>
      </p:nvGrpSpPr>
      <p:grpSpPr>
        <a:xfrm>
          <a:off x="0" y="0"/>
          <a:ext cx="0" cy="0"/>
          <a:chOff x="0" y="0"/>
          <a:chExt cx="0" cy="0"/>
        </a:xfrm>
      </p:grpSpPr>
      <p:sp>
        <p:nvSpPr>
          <p:cNvPr id="2" name="Text 0"/>
          <p:cNvSpPr/>
          <p:nvPr/>
        </p:nvSpPr>
        <p:spPr>
          <a:xfrm>
            <a:off x="640080" y="502920"/>
            <a:ext cx="10908792" cy="274320"/>
          </a:xfrm>
          <a:prstGeom prst="rect">
            <a:avLst/>
          </a:prstGeom>
          <a:noFill/>
          <a:ln/>
        </p:spPr>
        <p:txBody>
          <a:bodyPr wrap="square" rtlCol="0" anchor="ctr"/>
          <a:lstStyle/>
          <a:p>
            <a:pPr indent="0" marL="0">
              <a:buNone/>
            </a:pPr>
            <a:r>
              <a:rPr lang="en-US" sz="1200" b="1" spc="300" kern="0" dirty="0">
                <a:solidFill>
                  <a:srgbClr val="C0552F"/>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640080" y="822960"/>
            <a:ext cx="10908792" cy="1005840"/>
          </a:xfrm>
          <a:prstGeom prst="rect">
            <a:avLst/>
          </a:prstGeom>
          <a:noFill/>
          <a:ln/>
        </p:spPr>
        <p:txBody>
          <a:bodyPr wrap="square" rtlCol="0" anchor="ctr"/>
          <a:lstStyle/>
          <a:p>
            <a:pPr indent="0" marL="0">
              <a:lnSpc>
                <a:spcPts val="3465"/>
              </a:lnSpc>
              <a:buNone/>
            </a:pPr>
            <a:r>
              <a:rPr lang="en-US" sz="3300" b="1" dirty="0">
                <a:solidFill>
                  <a:srgbClr val="201E1B"/>
                </a:solidFill>
                <a:latin typeface="Georgia" pitchFamily="34" charset="0"/>
                <a:ea typeface="Georgia" pitchFamily="34" charset="-122"/>
                <a:cs typeface="Georgia" pitchFamily="34" charset="-120"/>
              </a:rPr>
              <a:t>How the pieces fit together</a:t>
            </a:r>
            <a:endParaRPr lang="en-US" sz="3300" dirty="0"/>
          </a:p>
        </p:txBody>
      </p:sp>
      <p:sp>
        <p:nvSpPr>
          <p:cNvPr id="4" name="Shape 2"/>
          <p:cNvSpPr/>
          <p:nvPr/>
        </p:nvSpPr>
        <p:spPr>
          <a:xfrm>
            <a:off x="640080" y="2331720"/>
            <a:ext cx="2286000" cy="1051560"/>
          </a:xfrm>
          <a:prstGeom prst="roundRect">
            <a:avLst>
              <a:gd name="adj" fmla="val 5217"/>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5" name="Text 3"/>
          <p:cNvSpPr/>
          <p:nvPr/>
        </p:nvSpPr>
        <p:spPr>
          <a:xfrm>
            <a:off x="640080" y="2441448"/>
            <a:ext cx="2286000" cy="320040"/>
          </a:xfrm>
          <a:prstGeom prst="rect">
            <a:avLst/>
          </a:prstGeom>
          <a:noFill/>
          <a:ln/>
        </p:spPr>
        <p:txBody>
          <a:bodyPr wrap="square" rtlCol="0" anchor="ctr"/>
          <a:lstStyle/>
          <a:p>
            <a:pPr algn="ctr" indent="0" marL="0">
              <a:buNone/>
            </a:pPr>
            <a:r>
              <a:rPr lang="en-US" sz="1300" b="1" dirty="0">
                <a:solidFill>
                  <a:srgbClr val="201E1B"/>
                </a:solidFill>
                <a:latin typeface="Calibri" pitchFamily="34" charset="0"/>
                <a:ea typeface="Calibri" pitchFamily="34" charset="-122"/>
                <a:cs typeface="Calibri" pitchFamily="34" charset="-120"/>
              </a:rPr>
              <a:t>Inbound</a:t>
            </a:r>
            <a:endParaRPr lang="en-US" sz="1300" dirty="0"/>
          </a:p>
        </p:txBody>
      </p:sp>
      <p:sp>
        <p:nvSpPr>
          <p:cNvPr id="6" name="Text 4"/>
          <p:cNvSpPr/>
          <p:nvPr/>
        </p:nvSpPr>
        <p:spPr>
          <a:xfrm>
            <a:off x="749808" y="2788920"/>
            <a:ext cx="2066544" cy="502920"/>
          </a:xfrm>
          <a:prstGeom prst="rect">
            <a:avLst/>
          </a:prstGeom>
          <a:noFill/>
          <a:ln/>
        </p:spPr>
        <p:txBody>
          <a:bodyPr wrap="square" rtlCol="0" anchor="ctr"/>
          <a:lstStyle/>
          <a:p>
            <a:pPr algn="ctr" indent="0" marL="0">
              <a:lnSpc>
                <a:spcPts val="1350"/>
              </a:lnSpc>
              <a:buNone/>
            </a:pPr>
            <a:r>
              <a:rPr lang="en-US" sz="1050" dirty="0">
                <a:solidFill>
                  <a:srgbClr val="6F685E"/>
                </a:solidFill>
                <a:latin typeface="Calibri" pitchFamily="34" charset="0"/>
                <a:ea typeface="Calibri" pitchFamily="34" charset="-122"/>
                <a:cs typeface="Calibri" pitchFamily="34" charset="-120"/>
              </a:rPr>
              <a:t>Meta lead ad · portal · form</a:t>
            </a:r>
            <a:endParaRPr lang="en-US" sz="1050" dirty="0"/>
          </a:p>
        </p:txBody>
      </p:sp>
      <p:sp>
        <p:nvSpPr>
          <p:cNvPr id="7" name="Shape 5"/>
          <p:cNvSpPr/>
          <p:nvPr/>
        </p:nvSpPr>
        <p:spPr>
          <a:xfrm>
            <a:off x="2926080" y="2852928"/>
            <a:ext cx="502920" cy="0"/>
          </a:xfrm>
          <a:prstGeom prst="line">
            <a:avLst/>
          </a:prstGeom>
          <a:noFill/>
          <a:ln w="22225">
            <a:solidFill>
              <a:srgbClr val="C0552F"/>
            </a:solidFill>
            <a:prstDash val="solid"/>
            <a:tailEnd type="triangle"/>
          </a:ln>
        </p:spPr>
      </p:sp>
      <p:sp>
        <p:nvSpPr>
          <p:cNvPr id="8" name="Shape 6"/>
          <p:cNvSpPr/>
          <p:nvPr/>
        </p:nvSpPr>
        <p:spPr>
          <a:xfrm>
            <a:off x="3429000" y="2194560"/>
            <a:ext cx="2468880" cy="1325880"/>
          </a:xfrm>
          <a:prstGeom prst="roundRect">
            <a:avLst>
              <a:gd name="adj" fmla="val 4138"/>
            </a:avLst>
          </a:prstGeom>
          <a:solidFill>
            <a:srgbClr val="201E1B"/>
          </a:solidFill>
          <a:ln w="12700">
            <a:solidFill>
              <a:srgbClr val="201E1B"/>
            </a:solidFill>
            <a:prstDash val="solid"/>
          </a:ln>
          <a:effectLst>
            <a:outerShdw sx="100000" sy="100000" kx="0" ky="0" algn="bl" rotWithShape="0" blurRad="114300" dist="38100" dir="8100000">
              <a:srgbClr val="000000">
                <a:alpha val="10000"/>
              </a:srgbClr>
            </a:outerShdw>
          </a:effectLst>
        </p:spPr>
      </p:sp>
      <p:sp>
        <p:nvSpPr>
          <p:cNvPr id="9" name="Text 7"/>
          <p:cNvSpPr/>
          <p:nvPr/>
        </p:nvSpPr>
        <p:spPr>
          <a:xfrm>
            <a:off x="3429000" y="2304288"/>
            <a:ext cx="246888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Lead Agent</a:t>
            </a:r>
            <a:endParaRPr lang="en-US" sz="1300" dirty="0"/>
          </a:p>
        </p:txBody>
      </p:sp>
      <p:sp>
        <p:nvSpPr>
          <p:cNvPr id="10" name="Text 8"/>
          <p:cNvSpPr/>
          <p:nvPr/>
        </p:nvSpPr>
        <p:spPr>
          <a:xfrm>
            <a:off x="3538728" y="2651760"/>
            <a:ext cx="2249424" cy="777240"/>
          </a:xfrm>
          <a:prstGeom prst="rect">
            <a:avLst/>
          </a:prstGeom>
          <a:noFill/>
          <a:ln/>
        </p:spPr>
        <p:txBody>
          <a:bodyPr wrap="square" rtlCol="0" anchor="ctr"/>
          <a:lstStyle/>
          <a:p>
            <a:pPr algn="ctr" indent="0" marL="0">
              <a:lnSpc>
                <a:spcPts val="1350"/>
              </a:lnSpc>
              <a:buNone/>
            </a:pPr>
            <a:r>
              <a:rPr lang="en-US" sz="1050" dirty="0">
                <a:solidFill>
                  <a:srgbClr val="E7DDCF"/>
                </a:solidFill>
                <a:latin typeface="Calibri" pitchFamily="34" charset="0"/>
                <a:ea typeface="Calibri" pitchFamily="34" charset="-122"/>
                <a:cs typeface="Calibri" pitchFamily="34" charset="-120"/>
              </a:rPr>
              <a:t>RAG match + score + route</a:t>
            </a:r>
            <a:endParaRPr lang="en-US" sz="1050" dirty="0"/>
          </a:p>
        </p:txBody>
      </p:sp>
      <p:sp>
        <p:nvSpPr>
          <p:cNvPr id="11" name="Shape 9"/>
          <p:cNvSpPr/>
          <p:nvPr/>
        </p:nvSpPr>
        <p:spPr>
          <a:xfrm>
            <a:off x="5897880" y="2852928"/>
            <a:ext cx="502920" cy="0"/>
          </a:xfrm>
          <a:prstGeom prst="line">
            <a:avLst/>
          </a:prstGeom>
          <a:noFill/>
          <a:ln w="22225">
            <a:solidFill>
              <a:srgbClr val="C0552F"/>
            </a:solidFill>
            <a:prstDash val="solid"/>
            <a:tailEnd type="triangle"/>
          </a:ln>
        </p:spPr>
      </p:sp>
      <p:sp>
        <p:nvSpPr>
          <p:cNvPr id="12" name="Shape 10"/>
          <p:cNvSpPr/>
          <p:nvPr/>
        </p:nvSpPr>
        <p:spPr>
          <a:xfrm>
            <a:off x="6400800" y="2331720"/>
            <a:ext cx="2331720" cy="1051560"/>
          </a:xfrm>
          <a:prstGeom prst="roundRect">
            <a:avLst>
              <a:gd name="adj" fmla="val 5217"/>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3" name="Text 11"/>
          <p:cNvSpPr/>
          <p:nvPr/>
        </p:nvSpPr>
        <p:spPr>
          <a:xfrm>
            <a:off x="6400800" y="2441448"/>
            <a:ext cx="2331720" cy="320040"/>
          </a:xfrm>
          <a:prstGeom prst="rect">
            <a:avLst/>
          </a:prstGeom>
          <a:noFill/>
          <a:ln/>
        </p:spPr>
        <p:txBody>
          <a:bodyPr wrap="square" rtlCol="0" anchor="ctr"/>
          <a:lstStyle/>
          <a:p>
            <a:pPr algn="ctr" indent="0" marL="0">
              <a:buNone/>
            </a:pPr>
            <a:r>
              <a:rPr lang="en-US" sz="1300" b="1" dirty="0">
                <a:solidFill>
                  <a:srgbClr val="201E1B"/>
                </a:solidFill>
                <a:latin typeface="Calibri" pitchFamily="34" charset="0"/>
                <a:ea typeface="Calibri" pitchFamily="34" charset="-122"/>
                <a:cs typeface="Calibri" pitchFamily="34" charset="-120"/>
              </a:rPr>
              <a:t>Nurture Agent</a:t>
            </a:r>
            <a:endParaRPr lang="en-US" sz="1300" dirty="0"/>
          </a:p>
        </p:txBody>
      </p:sp>
      <p:sp>
        <p:nvSpPr>
          <p:cNvPr id="14" name="Text 12"/>
          <p:cNvSpPr/>
          <p:nvPr/>
        </p:nvSpPr>
        <p:spPr>
          <a:xfrm>
            <a:off x="6510528" y="2788920"/>
            <a:ext cx="2112264" cy="502920"/>
          </a:xfrm>
          <a:prstGeom prst="rect">
            <a:avLst/>
          </a:prstGeom>
          <a:noFill/>
          <a:ln/>
        </p:spPr>
        <p:txBody>
          <a:bodyPr wrap="square" rtlCol="0" anchor="ctr"/>
          <a:lstStyle/>
          <a:p>
            <a:pPr algn="ctr" indent="0" marL="0">
              <a:lnSpc>
                <a:spcPts val="1350"/>
              </a:lnSpc>
              <a:buNone/>
            </a:pPr>
            <a:r>
              <a:rPr lang="en-US" sz="1050" dirty="0">
                <a:solidFill>
                  <a:srgbClr val="6F685E"/>
                </a:solidFill>
                <a:latin typeface="Calibri" pitchFamily="34" charset="0"/>
                <a:ea typeface="Calibri" pitchFamily="34" charset="-122"/>
                <a:cs typeface="Calibri" pitchFamily="34" charset="-120"/>
              </a:rPr>
              <a:t>drafts WhatsApp → approval</a:t>
            </a:r>
            <a:endParaRPr lang="en-US" sz="1050" dirty="0"/>
          </a:p>
        </p:txBody>
      </p:sp>
      <p:sp>
        <p:nvSpPr>
          <p:cNvPr id="15" name="Shape 13"/>
          <p:cNvSpPr/>
          <p:nvPr/>
        </p:nvSpPr>
        <p:spPr>
          <a:xfrm>
            <a:off x="8732520" y="2852928"/>
            <a:ext cx="502920" cy="0"/>
          </a:xfrm>
          <a:prstGeom prst="line">
            <a:avLst/>
          </a:prstGeom>
          <a:noFill/>
          <a:ln w="22225">
            <a:solidFill>
              <a:srgbClr val="C0552F"/>
            </a:solidFill>
            <a:prstDash val="solid"/>
            <a:tailEnd type="triangle"/>
          </a:ln>
        </p:spPr>
      </p:sp>
      <p:sp>
        <p:nvSpPr>
          <p:cNvPr id="16" name="Shape 14"/>
          <p:cNvSpPr/>
          <p:nvPr/>
        </p:nvSpPr>
        <p:spPr>
          <a:xfrm>
            <a:off x="9235440" y="2331720"/>
            <a:ext cx="2286000" cy="1051560"/>
          </a:xfrm>
          <a:prstGeom prst="roundRect">
            <a:avLst>
              <a:gd name="adj" fmla="val 5217"/>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7" name="Text 15"/>
          <p:cNvSpPr/>
          <p:nvPr/>
        </p:nvSpPr>
        <p:spPr>
          <a:xfrm>
            <a:off x="9235440" y="2441448"/>
            <a:ext cx="2286000" cy="320040"/>
          </a:xfrm>
          <a:prstGeom prst="rect">
            <a:avLst/>
          </a:prstGeom>
          <a:noFill/>
          <a:ln/>
        </p:spPr>
        <p:txBody>
          <a:bodyPr wrap="square" rtlCol="0" anchor="ctr"/>
          <a:lstStyle/>
          <a:p>
            <a:pPr algn="ctr" indent="0" marL="0">
              <a:buNone/>
            </a:pPr>
            <a:r>
              <a:rPr lang="en-US" sz="1300" b="1" dirty="0">
                <a:solidFill>
                  <a:srgbClr val="201E1B"/>
                </a:solidFill>
                <a:latin typeface="Calibri" pitchFamily="34" charset="0"/>
                <a:ea typeface="Calibri" pitchFamily="34" charset="-122"/>
                <a:cs typeface="Calibri" pitchFamily="34" charset="-120"/>
              </a:rPr>
              <a:t>Conversion</a:t>
            </a:r>
            <a:endParaRPr lang="en-US" sz="1300" dirty="0"/>
          </a:p>
        </p:txBody>
      </p:sp>
      <p:sp>
        <p:nvSpPr>
          <p:cNvPr id="18" name="Text 16"/>
          <p:cNvSpPr/>
          <p:nvPr/>
        </p:nvSpPr>
        <p:spPr>
          <a:xfrm>
            <a:off x="9345168" y="2788920"/>
            <a:ext cx="2066544" cy="502920"/>
          </a:xfrm>
          <a:prstGeom prst="rect">
            <a:avLst/>
          </a:prstGeom>
          <a:noFill/>
          <a:ln/>
        </p:spPr>
        <p:txBody>
          <a:bodyPr wrap="square" rtlCol="0" anchor="ctr"/>
          <a:lstStyle/>
          <a:p>
            <a:pPr algn="ctr" indent="0" marL="0">
              <a:lnSpc>
                <a:spcPts val="1350"/>
              </a:lnSpc>
              <a:buNone/>
            </a:pPr>
            <a:r>
              <a:rPr lang="en-US" sz="1050" dirty="0">
                <a:solidFill>
                  <a:srgbClr val="6F685E"/>
                </a:solidFill>
                <a:latin typeface="Calibri" pitchFamily="34" charset="0"/>
                <a:ea typeface="Calibri" pitchFamily="34" charset="-122"/>
                <a:cs typeface="Calibri" pitchFamily="34" charset="-120"/>
              </a:rPr>
              <a:t>visits · objections · bookings</a:t>
            </a:r>
            <a:endParaRPr lang="en-US" sz="1050" dirty="0"/>
          </a:p>
        </p:txBody>
      </p:sp>
      <p:sp>
        <p:nvSpPr>
          <p:cNvPr id="19" name="Shape 17"/>
          <p:cNvSpPr/>
          <p:nvPr/>
        </p:nvSpPr>
        <p:spPr>
          <a:xfrm>
            <a:off x="3429000" y="3886200"/>
            <a:ext cx="2468880" cy="914400"/>
          </a:xfrm>
          <a:prstGeom prst="roundRect">
            <a:avLst>
              <a:gd name="adj" fmla="val 6000"/>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20" name="Text 18"/>
          <p:cNvSpPr/>
          <p:nvPr/>
        </p:nvSpPr>
        <p:spPr>
          <a:xfrm>
            <a:off x="3429000" y="3995928"/>
            <a:ext cx="2468880" cy="320040"/>
          </a:xfrm>
          <a:prstGeom prst="rect">
            <a:avLst/>
          </a:prstGeom>
          <a:noFill/>
          <a:ln/>
        </p:spPr>
        <p:txBody>
          <a:bodyPr wrap="square" rtlCol="0" anchor="ctr"/>
          <a:lstStyle/>
          <a:p>
            <a:pPr algn="ctr" indent="0" marL="0">
              <a:buNone/>
            </a:pPr>
            <a:r>
              <a:rPr lang="en-US" sz="1300" b="1" dirty="0">
                <a:solidFill>
                  <a:srgbClr val="201E1B"/>
                </a:solidFill>
                <a:latin typeface="Calibri" pitchFamily="34" charset="0"/>
                <a:ea typeface="Calibri" pitchFamily="34" charset="-122"/>
                <a:cs typeface="Calibri" pitchFamily="34" charset="-120"/>
              </a:rPr>
              <a:t>Listing + Ad Agents</a:t>
            </a:r>
            <a:endParaRPr lang="en-US" sz="1300" dirty="0"/>
          </a:p>
        </p:txBody>
      </p:sp>
      <p:sp>
        <p:nvSpPr>
          <p:cNvPr id="21" name="Text 19"/>
          <p:cNvSpPr/>
          <p:nvPr/>
        </p:nvSpPr>
        <p:spPr>
          <a:xfrm>
            <a:off x="3538728" y="4343400"/>
            <a:ext cx="2249424" cy="365760"/>
          </a:xfrm>
          <a:prstGeom prst="rect">
            <a:avLst/>
          </a:prstGeom>
          <a:noFill/>
          <a:ln/>
        </p:spPr>
        <p:txBody>
          <a:bodyPr wrap="square" rtlCol="0" anchor="ctr"/>
          <a:lstStyle/>
          <a:p>
            <a:pPr algn="ctr" indent="0" marL="0">
              <a:lnSpc>
                <a:spcPts val="1350"/>
              </a:lnSpc>
              <a:buNone/>
            </a:pPr>
            <a:r>
              <a:rPr lang="en-US" sz="1050" dirty="0">
                <a:solidFill>
                  <a:srgbClr val="6F685E"/>
                </a:solidFill>
                <a:latin typeface="Calibri" pitchFamily="34" charset="0"/>
                <a:ea typeface="Calibri" pitchFamily="34" charset="-122"/>
                <a:cs typeface="Calibri" pitchFamily="34" charset="-120"/>
              </a:rPr>
              <a:t>inventory &amp; campaigns</a:t>
            </a:r>
            <a:endParaRPr lang="en-US" sz="1050" dirty="0"/>
          </a:p>
        </p:txBody>
      </p:sp>
      <p:sp>
        <p:nvSpPr>
          <p:cNvPr id="22" name="Shape 20"/>
          <p:cNvSpPr/>
          <p:nvPr/>
        </p:nvSpPr>
        <p:spPr>
          <a:xfrm>
            <a:off x="4663440" y="3520440"/>
            <a:ext cx="0" cy="365760"/>
          </a:xfrm>
          <a:prstGeom prst="line">
            <a:avLst/>
          </a:prstGeom>
          <a:noFill/>
          <a:ln w="19050">
            <a:solidFill>
              <a:srgbClr val="5E7261"/>
            </a:solidFill>
            <a:prstDash val="solid"/>
            <a:tailEnd type="triangle"/>
          </a:ln>
        </p:spPr>
      </p:sp>
      <p:sp>
        <p:nvSpPr>
          <p:cNvPr id="23" name="Shape 21"/>
          <p:cNvSpPr/>
          <p:nvPr/>
        </p:nvSpPr>
        <p:spPr>
          <a:xfrm>
            <a:off x="640080" y="5212080"/>
            <a:ext cx="10908792" cy="868680"/>
          </a:xfrm>
          <a:prstGeom prst="roundRect">
            <a:avLst>
              <a:gd name="adj" fmla="val 6316"/>
            </a:avLst>
          </a:prstGeom>
          <a:solidFill>
            <a:srgbClr val="201E1B"/>
          </a:solidFill>
          <a:ln/>
        </p:spPr>
      </p:sp>
      <p:sp>
        <p:nvSpPr>
          <p:cNvPr id="24" name="Text 22"/>
          <p:cNvSpPr/>
          <p:nvPr/>
        </p:nvSpPr>
        <p:spPr>
          <a:xfrm>
            <a:off x="914400" y="5212080"/>
            <a:ext cx="10360152" cy="868680"/>
          </a:xfrm>
          <a:prstGeom prst="rect">
            <a:avLst/>
          </a:prstGeom>
          <a:noFill/>
          <a:ln/>
        </p:spPr>
        <p:txBody>
          <a:bodyPr wrap="square" rtlCol="0" anchor="ctr"/>
          <a:lstStyle/>
          <a:p>
            <a:pPr indent="0" marL="0">
              <a:buNone/>
            </a:pPr>
            <a:r>
              <a:rPr lang="en-US" sz="1250" b="1" dirty="0">
                <a:solidFill>
                  <a:srgbClr val="E7D9BD"/>
                </a:solidFill>
                <a:latin typeface="Calibri" pitchFamily="34" charset="0"/>
                <a:ea typeface="Calibri" pitchFamily="34" charset="-122"/>
                <a:cs typeface="Calibri" pitchFamily="34" charset="-120"/>
              </a:rPr>
              <a:t>Data plane &amp; observability:  </a:t>
            </a:r>
            <a:pPr indent="0" marL="0">
              <a:buNone/>
            </a:pPr>
            <a:r>
              <a:rPr lang="en-US" sz="1250" dirty="0">
                <a:solidFill>
                  <a:srgbClr val="D9D2C7"/>
                </a:solidFill>
                <a:latin typeface="Calibri" pitchFamily="34" charset="0"/>
                <a:ea typeface="Calibri" pitchFamily="34" charset="-122"/>
                <a:cs typeface="Calibri" pitchFamily="34" charset="-120"/>
              </a:rPr>
              <a:t>Supabase + pgvector  ·  n8n events  ·  Gemini (Flash + Pro fallback) + embeddings  ·  Twilio  ·  per-decision agent logs</a:t>
            </a:r>
            <a:endParaRPr lang="en-US" sz="1250" dirty="0"/>
          </a:p>
        </p:txBody>
      </p:sp>
      <p:sp>
        <p:nvSpPr>
          <p:cNvPr id="25" name="Text 23"/>
          <p:cNvSpPr/>
          <p:nvPr/>
        </p:nvSpPr>
        <p:spPr>
          <a:xfrm>
            <a:off x="640080" y="6446520"/>
            <a:ext cx="2743200" cy="274320"/>
          </a:xfrm>
          <a:prstGeom prst="rect">
            <a:avLst/>
          </a:prstGeom>
          <a:noFill/>
          <a:ln/>
        </p:spPr>
        <p:txBody>
          <a:bodyPr wrap="square" rtlCol="0" anchor="ctr"/>
          <a:lstStyle/>
          <a:p>
            <a:pPr indent="0" marL="0">
              <a:buNone/>
            </a:pPr>
            <a:r>
              <a:rPr lang="en-US" sz="1000" i="1" dirty="0">
                <a:solidFill>
                  <a:srgbClr val="6F685E"/>
                </a:solidFill>
                <a:latin typeface="Georgia" pitchFamily="34" charset="0"/>
                <a:ea typeface="Georgia" pitchFamily="34" charset="-122"/>
                <a:cs typeface="Georgia" pitchFamily="34" charset="-120"/>
              </a:rPr>
              <a:t>Pentahouse</a:t>
            </a:r>
            <a:endParaRPr lang="en-US" sz="1000" dirty="0"/>
          </a:p>
        </p:txBody>
      </p:sp>
      <p:sp>
        <p:nvSpPr>
          <p:cNvPr id="26" name="Text 24"/>
          <p:cNvSpPr/>
          <p:nvPr/>
        </p:nvSpPr>
        <p:spPr>
          <a:xfrm>
            <a:off x="11091672" y="6446520"/>
            <a:ext cx="457200" cy="274320"/>
          </a:xfrm>
          <a:prstGeom prst="rect">
            <a:avLst/>
          </a:prstGeom>
          <a:noFill/>
          <a:ln/>
        </p:spPr>
        <p:txBody>
          <a:bodyPr wrap="square" rtlCol="0" anchor="ctr"/>
          <a:lstStyle/>
          <a:p>
            <a:pPr algn="r" indent="0" marL="0">
              <a:buNone/>
            </a:pPr>
            <a:r>
              <a:rPr lang="en-US" sz="1000" dirty="0">
                <a:solidFill>
                  <a:srgbClr val="6F685E"/>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4EC"/>
        </a:solidFill>
      </p:bgPr>
    </p:bg>
    <p:spTree>
      <p:nvGrpSpPr>
        <p:cNvPr id="1" name=""/>
        <p:cNvGrpSpPr/>
        <p:nvPr/>
      </p:nvGrpSpPr>
      <p:grpSpPr>
        <a:xfrm>
          <a:off x="0" y="0"/>
          <a:ext cx="0" cy="0"/>
          <a:chOff x="0" y="0"/>
          <a:chExt cx="0" cy="0"/>
        </a:xfrm>
      </p:grpSpPr>
      <p:sp>
        <p:nvSpPr>
          <p:cNvPr id="2" name="Text 0"/>
          <p:cNvSpPr/>
          <p:nvPr/>
        </p:nvSpPr>
        <p:spPr>
          <a:xfrm>
            <a:off x="640080" y="502920"/>
            <a:ext cx="10908792" cy="274320"/>
          </a:xfrm>
          <a:prstGeom prst="rect">
            <a:avLst/>
          </a:prstGeom>
          <a:noFill/>
          <a:ln/>
        </p:spPr>
        <p:txBody>
          <a:bodyPr wrap="square" rtlCol="0" anchor="ctr"/>
          <a:lstStyle/>
          <a:p>
            <a:pPr indent="0" marL="0">
              <a:buNone/>
            </a:pPr>
            <a:r>
              <a:rPr lang="en-US" sz="1200" b="1" spc="300" kern="0" dirty="0">
                <a:solidFill>
                  <a:srgbClr val="C0552F"/>
                </a:solidFill>
                <a:latin typeface="Calibri" pitchFamily="34" charset="0"/>
                <a:ea typeface="Calibri" pitchFamily="34" charset="-122"/>
                <a:cs typeface="Calibri" pitchFamily="34" charset="-120"/>
              </a:rPr>
              <a:t>THE FIVE AGENTS</a:t>
            </a:r>
            <a:endParaRPr lang="en-US" sz="1200" dirty="0"/>
          </a:p>
        </p:txBody>
      </p:sp>
      <p:sp>
        <p:nvSpPr>
          <p:cNvPr id="3" name="Text 1"/>
          <p:cNvSpPr/>
          <p:nvPr/>
        </p:nvSpPr>
        <p:spPr>
          <a:xfrm>
            <a:off x="640080" y="822960"/>
            <a:ext cx="10908792" cy="1005840"/>
          </a:xfrm>
          <a:prstGeom prst="rect">
            <a:avLst/>
          </a:prstGeom>
          <a:noFill/>
          <a:ln/>
        </p:spPr>
        <p:txBody>
          <a:bodyPr wrap="square" rtlCol="0" anchor="ctr"/>
          <a:lstStyle/>
          <a:p>
            <a:pPr indent="0" marL="0">
              <a:lnSpc>
                <a:spcPts val="3465"/>
              </a:lnSpc>
              <a:buNone/>
            </a:pPr>
            <a:r>
              <a:rPr lang="en-US" sz="3300" b="1" dirty="0">
                <a:solidFill>
                  <a:srgbClr val="201E1B"/>
                </a:solidFill>
                <a:latin typeface="Georgia" pitchFamily="34" charset="0"/>
                <a:ea typeface="Georgia" pitchFamily="34" charset="-122"/>
                <a:cs typeface="Georgia" pitchFamily="34" charset="-120"/>
              </a:rPr>
              <a:t>What each agent actually does</a:t>
            </a:r>
            <a:endParaRPr lang="en-US" sz="3300" dirty="0"/>
          </a:p>
        </p:txBody>
      </p:sp>
      <p:sp>
        <p:nvSpPr>
          <p:cNvPr id="4" name="Shape 2"/>
          <p:cNvSpPr/>
          <p:nvPr/>
        </p:nvSpPr>
        <p:spPr>
          <a:xfrm>
            <a:off x="640080" y="2240280"/>
            <a:ext cx="10908792" cy="658368"/>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5" name="Shape 3"/>
          <p:cNvSpPr/>
          <p:nvPr/>
        </p:nvSpPr>
        <p:spPr>
          <a:xfrm>
            <a:off x="640080" y="2240280"/>
            <a:ext cx="64008" cy="658368"/>
          </a:xfrm>
          <a:prstGeom prst="rect">
            <a:avLst/>
          </a:prstGeom>
          <a:solidFill>
            <a:srgbClr val="5E7261"/>
          </a:solidFill>
          <a:ln/>
        </p:spPr>
      </p:sp>
      <p:sp>
        <p:nvSpPr>
          <p:cNvPr id="6" name="Text 4"/>
          <p:cNvSpPr/>
          <p:nvPr/>
        </p:nvSpPr>
        <p:spPr>
          <a:xfrm>
            <a:off x="932688" y="2240280"/>
            <a:ext cx="2286000" cy="658368"/>
          </a:xfrm>
          <a:prstGeom prst="rect">
            <a:avLst/>
          </a:prstGeom>
          <a:noFill/>
          <a:ln/>
        </p:spPr>
        <p:txBody>
          <a:bodyPr wrap="square" rtlCol="0" anchor="ctr"/>
          <a:lstStyle/>
          <a:p>
            <a:pPr indent="0" marL="0">
              <a:buNone/>
            </a:pPr>
            <a:r>
              <a:rPr lang="en-US" sz="1600" b="1" dirty="0">
                <a:solidFill>
                  <a:srgbClr val="201E1B"/>
                </a:solidFill>
                <a:latin typeface="Georgia" pitchFamily="34" charset="0"/>
                <a:ea typeface="Georgia" pitchFamily="34" charset="-122"/>
                <a:cs typeface="Georgia" pitchFamily="34" charset="-120"/>
              </a:rPr>
              <a:t>Listing Agent</a:t>
            </a:r>
            <a:endParaRPr lang="en-US" sz="1600" dirty="0"/>
          </a:p>
        </p:txBody>
      </p:sp>
      <p:sp>
        <p:nvSpPr>
          <p:cNvPr id="7" name="Text 5"/>
          <p:cNvSpPr/>
          <p:nvPr/>
        </p:nvSpPr>
        <p:spPr>
          <a:xfrm>
            <a:off x="3337560" y="2240280"/>
            <a:ext cx="5440680" cy="658368"/>
          </a:xfrm>
          <a:prstGeom prst="rect">
            <a:avLst/>
          </a:prstGeom>
          <a:noFill/>
          <a:ln/>
        </p:spPr>
        <p:txBody>
          <a:bodyPr wrap="square" rtlCol="0" anchor="ctr"/>
          <a:lstStyle/>
          <a:p>
            <a:pPr indent="0" marL="0">
              <a:lnSpc>
                <a:spcPts val="1500"/>
              </a:lnSpc>
              <a:buNone/>
            </a:pPr>
            <a:r>
              <a:rPr lang="en-US" sz="1250" dirty="0">
                <a:solidFill>
                  <a:srgbClr val="2B2722"/>
                </a:solidFill>
                <a:latin typeface="Calibri" pitchFamily="34" charset="0"/>
                <a:ea typeface="Calibri" pitchFamily="34" charset="-122"/>
                <a:cs typeface="Calibri" pitchFamily="34" charset="-120"/>
              </a:rPr>
              <a:t>Turns brochures, RERA pages and price sheets into a clean, verified inventory.</a:t>
            </a:r>
            <a:endParaRPr lang="en-US" sz="1250" dirty="0"/>
          </a:p>
        </p:txBody>
      </p:sp>
      <p:sp>
        <p:nvSpPr>
          <p:cNvPr id="8" name="Text 6"/>
          <p:cNvSpPr/>
          <p:nvPr/>
        </p:nvSpPr>
        <p:spPr>
          <a:xfrm>
            <a:off x="9034272" y="2240280"/>
            <a:ext cx="2331720" cy="658368"/>
          </a:xfrm>
          <a:prstGeom prst="rect">
            <a:avLst/>
          </a:prstGeom>
          <a:noFill/>
          <a:ln/>
        </p:spPr>
        <p:txBody>
          <a:bodyPr wrap="square" rtlCol="0" anchor="ctr"/>
          <a:lstStyle/>
          <a:p>
            <a:pPr algn="r" indent="0" marL="0">
              <a:buNone/>
            </a:pPr>
            <a:r>
              <a:rPr lang="en-US" sz="1100" i="1" dirty="0">
                <a:solidFill>
                  <a:srgbClr val="6F685E"/>
                </a:solidFill>
                <a:latin typeface="Calibri" pitchFamily="34" charset="0"/>
                <a:ea typeface="Calibri" pitchFamily="34" charset="-122"/>
                <a:cs typeface="Calibri" pitchFamily="34" charset="-120"/>
              </a:rPr>
              <a:t>Gemini extraction + dedup</a:t>
            </a:r>
            <a:endParaRPr lang="en-US" sz="1100" dirty="0"/>
          </a:p>
        </p:txBody>
      </p:sp>
      <p:sp>
        <p:nvSpPr>
          <p:cNvPr id="9" name="Shape 7"/>
          <p:cNvSpPr/>
          <p:nvPr/>
        </p:nvSpPr>
        <p:spPr>
          <a:xfrm>
            <a:off x="640080" y="2990088"/>
            <a:ext cx="10908792" cy="658368"/>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0" name="Shape 8"/>
          <p:cNvSpPr/>
          <p:nvPr/>
        </p:nvSpPr>
        <p:spPr>
          <a:xfrm>
            <a:off x="640080" y="2990088"/>
            <a:ext cx="64008" cy="658368"/>
          </a:xfrm>
          <a:prstGeom prst="rect">
            <a:avLst/>
          </a:prstGeom>
          <a:solidFill>
            <a:srgbClr val="8F3D20"/>
          </a:solidFill>
          <a:ln/>
        </p:spPr>
      </p:sp>
      <p:sp>
        <p:nvSpPr>
          <p:cNvPr id="11" name="Text 9"/>
          <p:cNvSpPr/>
          <p:nvPr/>
        </p:nvSpPr>
        <p:spPr>
          <a:xfrm>
            <a:off x="932688" y="2990088"/>
            <a:ext cx="2286000" cy="658368"/>
          </a:xfrm>
          <a:prstGeom prst="rect">
            <a:avLst/>
          </a:prstGeom>
          <a:noFill/>
          <a:ln/>
        </p:spPr>
        <p:txBody>
          <a:bodyPr wrap="square" rtlCol="0" anchor="ctr"/>
          <a:lstStyle/>
          <a:p>
            <a:pPr indent="0" marL="0">
              <a:buNone/>
            </a:pPr>
            <a:r>
              <a:rPr lang="en-US" sz="1600" b="1" dirty="0">
                <a:solidFill>
                  <a:srgbClr val="201E1B"/>
                </a:solidFill>
                <a:latin typeface="Georgia" pitchFamily="34" charset="0"/>
                <a:ea typeface="Georgia" pitchFamily="34" charset="-122"/>
                <a:cs typeface="Georgia" pitchFamily="34" charset="-120"/>
              </a:rPr>
              <a:t>Ad Agent</a:t>
            </a:r>
            <a:endParaRPr lang="en-US" sz="1600" dirty="0"/>
          </a:p>
        </p:txBody>
      </p:sp>
      <p:sp>
        <p:nvSpPr>
          <p:cNvPr id="12" name="Text 10"/>
          <p:cNvSpPr/>
          <p:nvPr/>
        </p:nvSpPr>
        <p:spPr>
          <a:xfrm>
            <a:off x="3337560" y="2990088"/>
            <a:ext cx="5440680" cy="658368"/>
          </a:xfrm>
          <a:prstGeom prst="rect">
            <a:avLst/>
          </a:prstGeom>
          <a:noFill/>
          <a:ln/>
        </p:spPr>
        <p:txBody>
          <a:bodyPr wrap="square" rtlCol="0" anchor="ctr"/>
          <a:lstStyle/>
          <a:p>
            <a:pPr indent="0" marL="0">
              <a:lnSpc>
                <a:spcPts val="1500"/>
              </a:lnSpc>
              <a:buNone/>
            </a:pPr>
            <a:r>
              <a:rPr lang="en-US" sz="1250" dirty="0">
                <a:solidFill>
                  <a:srgbClr val="2B2722"/>
                </a:solidFill>
                <a:latin typeface="Calibri" pitchFamily="34" charset="0"/>
                <a:ea typeface="Calibri" pitchFamily="34" charset="-122"/>
                <a:cs typeface="Calibri" pitchFamily="34" charset="-120"/>
              </a:rPr>
              <a:t>Drafts platform-specific creative for Meta, Google and portals — copy, audience, budget.</a:t>
            </a:r>
            <a:endParaRPr lang="en-US" sz="1250" dirty="0"/>
          </a:p>
        </p:txBody>
      </p:sp>
      <p:sp>
        <p:nvSpPr>
          <p:cNvPr id="13" name="Text 11"/>
          <p:cNvSpPr/>
          <p:nvPr/>
        </p:nvSpPr>
        <p:spPr>
          <a:xfrm>
            <a:off x="9034272" y="2990088"/>
            <a:ext cx="2331720" cy="658368"/>
          </a:xfrm>
          <a:prstGeom prst="rect">
            <a:avLst/>
          </a:prstGeom>
          <a:noFill/>
          <a:ln/>
        </p:spPr>
        <p:txBody>
          <a:bodyPr wrap="square" rtlCol="0" anchor="ctr"/>
          <a:lstStyle/>
          <a:p>
            <a:pPr algn="r" indent="0" marL="0">
              <a:buNone/>
            </a:pPr>
            <a:r>
              <a:rPr lang="en-US" sz="1100" i="1" dirty="0">
                <a:solidFill>
                  <a:srgbClr val="6F685E"/>
                </a:solidFill>
                <a:latin typeface="Calibri" pitchFamily="34" charset="0"/>
                <a:ea typeface="Calibri" pitchFamily="34" charset="-122"/>
                <a:cs typeface="Calibri" pitchFamily="34" charset="-120"/>
              </a:rPr>
              <a:t>Gemini, few-shot</a:t>
            </a:r>
            <a:endParaRPr lang="en-US" sz="1100" dirty="0"/>
          </a:p>
        </p:txBody>
      </p:sp>
      <p:sp>
        <p:nvSpPr>
          <p:cNvPr id="14" name="Shape 12"/>
          <p:cNvSpPr/>
          <p:nvPr/>
        </p:nvSpPr>
        <p:spPr>
          <a:xfrm>
            <a:off x="640080" y="3739896"/>
            <a:ext cx="10908792" cy="658368"/>
          </a:xfrm>
          <a:prstGeom prst="rect">
            <a:avLst/>
          </a:prstGeom>
          <a:solidFill>
            <a:srgbClr val="FBF1EA"/>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5" name="Shape 13"/>
          <p:cNvSpPr/>
          <p:nvPr/>
        </p:nvSpPr>
        <p:spPr>
          <a:xfrm>
            <a:off x="640080" y="3739896"/>
            <a:ext cx="64008" cy="658368"/>
          </a:xfrm>
          <a:prstGeom prst="rect">
            <a:avLst/>
          </a:prstGeom>
          <a:solidFill>
            <a:srgbClr val="C0552F"/>
          </a:solidFill>
          <a:ln/>
        </p:spPr>
      </p:sp>
      <p:sp>
        <p:nvSpPr>
          <p:cNvPr id="16" name="Text 14"/>
          <p:cNvSpPr/>
          <p:nvPr/>
        </p:nvSpPr>
        <p:spPr>
          <a:xfrm>
            <a:off x="932688" y="3739896"/>
            <a:ext cx="2286000" cy="658368"/>
          </a:xfrm>
          <a:prstGeom prst="rect">
            <a:avLst/>
          </a:prstGeom>
          <a:noFill/>
          <a:ln/>
        </p:spPr>
        <p:txBody>
          <a:bodyPr wrap="square" rtlCol="0" anchor="ctr"/>
          <a:lstStyle/>
          <a:p>
            <a:pPr indent="0" marL="0">
              <a:buNone/>
            </a:pPr>
            <a:r>
              <a:rPr lang="en-US" sz="1600" b="1" dirty="0">
                <a:solidFill>
                  <a:srgbClr val="C0552F"/>
                </a:solidFill>
                <a:latin typeface="Georgia" pitchFamily="34" charset="0"/>
                <a:ea typeface="Georgia" pitchFamily="34" charset="-122"/>
                <a:cs typeface="Georgia" pitchFamily="34" charset="-120"/>
              </a:rPr>
              <a:t>Lead Agent</a:t>
            </a:r>
            <a:endParaRPr lang="en-US" sz="1600" dirty="0"/>
          </a:p>
        </p:txBody>
      </p:sp>
      <p:sp>
        <p:nvSpPr>
          <p:cNvPr id="17" name="Text 15"/>
          <p:cNvSpPr/>
          <p:nvPr/>
        </p:nvSpPr>
        <p:spPr>
          <a:xfrm>
            <a:off x="3337560" y="3739896"/>
            <a:ext cx="5440680" cy="658368"/>
          </a:xfrm>
          <a:prstGeom prst="rect">
            <a:avLst/>
          </a:prstGeom>
          <a:noFill/>
          <a:ln/>
        </p:spPr>
        <p:txBody>
          <a:bodyPr wrap="square" rtlCol="0" anchor="ctr"/>
          <a:lstStyle/>
          <a:p>
            <a:pPr indent="0" marL="0">
              <a:lnSpc>
                <a:spcPts val="1500"/>
              </a:lnSpc>
              <a:buNone/>
            </a:pPr>
            <a:r>
              <a:rPr lang="en-US" sz="1250" dirty="0">
                <a:solidFill>
                  <a:srgbClr val="2B2722"/>
                </a:solidFill>
                <a:latin typeface="Calibri" pitchFamily="34" charset="0"/>
                <a:ea typeface="Calibri" pitchFamily="34" charset="-122"/>
                <a:cs typeface="Calibri" pitchFamily="34" charset="-120"/>
              </a:rPr>
              <a:t>Normalizes any form, scores intent with retrieval, and routes every lead.</a:t>
            </a:r>
            <a:endParaRPr lang="en-US" sz="1250" dirty="0"/>
          </a:p>
        </p:txBody>
      </p:sp>
      <p:sp>
        <p:nvSpPr>
          <p:cNvPr id="18" name="Text 16"/>
          <p:cNvSpPr/>
          <p:nvPr/>
        </p:nvSpPr>
        <p:spPr>
          <a:xfrm>
            <a:off x="9034272" y="3739896"/>
            <a:ext cx="2331720" cy="658368"/>
          </a:xfrm>
          <a:prstGeom prst="rect">
            <a:avLst/>
          </a:prstGeom>
          <a:noFill/>
          <a:ln/>
        </p:spPr>
        <p:txBody>
          <a:bodyPr wrap="square" rtlCol="0" anchor="ctr"/>
          <a:lstStyle/>
          <a:p>
            <a:pPr algn="r" indent="0" marL="0">
              <a:buNone/>
            </a:pPr>
            <a:r>
              <a:rPr lang="en-US" sz="1100" i="1" dirty="0">
                <a:solidFill>
                  <a:srgbClr val="6F685E"/>
                </a:solidFill>
                <a:latin typeface="Calibri" pitchFamily="34" charset="0"/>
                <a:ea typeface="Calibri" pitchFamily="34" charset="-122"/>
                <a:cs typeface="Calibri" pitchFamily="34" charset="-120"/>
              </a:rPr>
              <a:t>pgvector + Gemini + fallback</a:t>
            </a:r>
            <a:endParaRPr lang="en-US" sz="1100" dirty="0"/>
          </a:p>
        </p:txBody>
      </p:sp>
      <p:sp>
        <p:nvSpPr>
          <p:cNvPr id="19" name="Shape 17"/>
          <p:cNvSpPr/>
          <p:nvPr/>
        </p:nvSpPr>
        <p:spPr>
          <a:xfrm>
            <a:off x="640080" y="4489704"/>
            <a:ext cx="10908792" cy="658368"/>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20" name="Shape 18"/>
          <p:cNvSpPr/>
          <p:nvPr/>
        </p:nvSpPr>
        <p:spPr>
          <a:xfrm>
            <a:off x="640080" y="4489704"/>
            <a:ext cx="64008" cy="658368"/>
          </a:xfrm>
          <a:prstGeom prst="rect">
            <a:avLst/>
          </a:prstGeom>
          <a:solidFill>
            <a:srgbClr val="5E7261"/>
          </a:solidFill>
          <a:ln/>
        </p:spPr>
      </p:sp>
      <p:sp>
        <p:nvSpPr>
          <p:cNvPr id="21" name="Text 19"/>
          <p:cNvSpPr/>
          <p:nvPr/>
        </p:nvSpPr>
        <p:spPr>
          <a:xfrm>
            <a:off x="932688" y="4489704"/>
            <a:ext cx="2286000" cy="658368"/>
          </a:xfrm>
          <a:prstGeom prst="rect">
            <a:avLst/>
          </a:prstGeom>
          <a:noFill/>
          <a:ln/>
        </p:spPr>
        <p:txBody>
          <a:bodyPr wrap="square" rtlCol="0" anchor="ctr"/>
          <a:lstStyle/>
          <a:p>
            <a:pPr indent="0" marL="0">
              <a:buNone/>
            </a:pPr>
            <a:r>
              <a:rPr lang="en-US" sz="1600" b="1" dirty="0">
                <a:solidFill>
                  <a:srgbClr val="201E1B"/>
                </a:solidFill>
                <a:latin typeface="Georgia" pitchFamily="34" charset="0"/>
                <a:ea typeface="Georgia" pitchFamily="34" charset="-122"/>
                <a:cs typeface="Georgia" pitchFamily="34" charset="-120"/>
              </a:rPr>
              <a:t>Nurture Agent</a:t>
            </a:r>
            <a:endParaRPr lang="en-US" sz="1600" dirty="0"/>
          </a:p>
        </p:txBody>
      </p:sp>
      <p:sp>
        <p:nvSpPr>
          <p:cNvPr id="22" name="Text 20"/>
          <p:cNvSpPr/>
          <p:nvPr/>
        </p:nvSpPr>
        <p:spPr>
          <a:xfrm>
            <a:off x="3337560" y="4489704"/>
            <a:ext cx="5440680" cy="658368"/>
          </a:xfrm>
          <a:prstGeom prst="rect">
            <a:avLst/>
          </a:prstGeom>
          <a:noFill/>
          <a:ln/>
        </p:spPr>
        <p:txBody>
          <a:bodyPr wrap="square" rtlCol="0" anchor="ctr"/>
          <a:lstStyle/>
          <a:p>
            <a:pPr indent="0" marL="0">
              <a:lnSpc>
                <a:spcPts val="1500"/>
              </a:lnSpc>
              <a:buNone/>
            </a:pPr>
            <a:r>
              <a:rPr lang="en-US" sz="1250" dirty="0">
                <a:solidFill>
                  <a:srgbClr val="2B2722"/>
                </a:solidFill>
                <a:latin typeface="Calibri" pitchFamily="34" charset="0"/>
                <a:ea typeface="Calibri" pitchFamily="34" charset="-122"/>
                <a:cs typeface="Calibri" pitchFamily="34" charset="-120"/>
              </a:rPr>
              <a:t>Drafts the WhatsApp reply — a gap-fill question or visit invite — for your approval, then sends.</a:t>
            </a:r>
            <a:endParaRPr lang="en-US" sz="1250" dirty="0"/>
          </a:p>
        </p:txBody>
      </p:sp>
      <p:sp>
        <p:nvSpPr>
          <p:cNvPr id="23" name="Text 21"/>
          <p:cNvSpPr/>
          <p:nvPr/>
        </p:nvSpPr>
        <p:spPr>
          <a:xfrm>
            <a:off x="9034272" y="4489704"/>
            <a:ext cx="2331720" cy="658368"/>
          </a:xfrm>
          <a:prstGeom prst="rect">
            <a:avLst/>
          </a:prstGeom>
          <a:noFill/>
          <a:ln/>
        </p:spPr>
        <p:txBody>
          <a:bodyPr wrap="square" rtlCol="0" anchor="ctr"/>
          <a:lstStyle/>
          <a:p>
            <a:pPr algn="r" indent="0" marL="0">
              <a:buNone/>
            </a:pPr>
            <a:r>
              <a:rPr lang="en-US" sz="1100" i="1" dirty="0">
                <a:solidFill>
                  <a:srgbClr val="6F685E"/>
                </a:solidFill>
                <a:latin typeface="Calibri" pitchFamily="34" charset="0"/>
                <a:ea typeface="Calibri" pitchFamily="34" charset="-122"/>
                <a:cs typeface="Calibri" pitchFamily="34" charset="-120"/>
              </a:rPr>
              <a:t>Gemini + Twilio + human gate</a:t>
            </a:r>
            <a:endParaRPr lang="en-US" sz="1100" dirty="0"/>
          </a:p>
        </p:txBody>
      </p:sp>
      <p:sp>
        <p:nvSpPr>
          <p:cNvPr id="24" name="Shape 22"/>
          <p:cNvSpPr/>
          <p:nvPr/>
        </p:nvSpPr>
        <p:spPr>
          <a:xfrm>
            <a:off x="640080" y="5239512"/>
            <a:ext cx="10908792" cy="658368"/>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25" name="Shape 23"/>
          <p:cNvSpPr/>
          <p:nvPr/>
        </p:nvSpPr>
        <p:spPr>
          <a:xfrm>
            <a:off x="640080" y="5239512"/>
            <a:ext cx="64008" cy="658368"/>
          </a:xfrm>
          <a:prstGeom prst="rect">
            <a:avLst/>
          </a:prstGeom>
          <a:solidFill>
            <a:srgbClr val="8F3D20"/>
          </a:solidFill>
          <a:ln/>
        </p:spPr>
      </p:sp>
      <p:sp>
        <p:nvSpPr>
          <p:cNvPr id="26" name="Text 24"/>
          <p:cNvSpPr/>
          <p:nvPr/>
        </p:nvSpPr>
        <p:spPr>
          <a:xfrm>
            <a:off x="932688" y="5239512"/>
            <a:ext cx="2286000" cy="658368"/>
          </a:xfrm>
          <a:prstGeom prst="rect">
            <a:avLst/>
          </a:prstGeom>
          <a:noFill/>
          <a:ln/>
        </p:spPr>
        <p:txBody>
          <a:bodyPr wrap="square" rtlCol="0" anchor="ctr"/>
          <a:lstStyle/>
          <a:p>
            <a:pPr indent="0" marL="0">
              <a:buNone/>
            </a:pPr>
            <a:r>
              <a:rPr lang="en-US" sz="1600" b="1" dirty="0">
                <a:solidFill>
                  <a:srgbClr val="201E1B"/>
                </a:solidFill>
                <a:latin typeface="Georgia" pitchFamily="34" charset="0"/>
                <a:ea typeface="Georgia" pitchFamily="34" charset="-122"/>
                <a:cs typeface="Georgia" pitchFamily="34" charset="-120"/>
              </a:rPr>
              <a:t>Conversion Agent</a:t>
            </a:r>
            <a:endParaRPr lang="en-US" sz="1600" dirty="0"/>
          </a:p>
        </p:txBody>
      </p:sp>
      <p:sp>
        <p:nvSpPr>
          <p:cNvPr id="27" name="Text 25"/>
          <p:cNvSpPr/>
          <p:nvPr/>
        </p:nvSpPr>
        <p:spPr>
          <a:xfrm>
            <a:off x="3337560" y="5239512"/>
            <a:ext cx="5440680" cy="658368"/>
          </a:xfrm>
          <a:prstGeom prst="rect">
            <a:avLst/>
          </a:prstGeom>
          <a:noFill/>
          <a:ln/>
        </p:spPr>
        <p:txBody>
          <a:bodyPr wrap="square" rtlCol="0" anchor="ctr"/>
          <a:lstStyle/>
          <a:p>
            <a:pPr indent="0" marL="0">
              <a:lnSpc>
                <a:spcPts val="1500"/>
              </a:lnSpc>
              <a:buNone/>
            </a:pPr>
            <a:r>
              <a:rPr lang="en-US" sz="1250" dirty="0">
                <a:solidFill>
                  <a:srgbClr val="2B2722"/>
                </a:solidFill>
                <a:latin typeface="Calibri" pitchFamily="34" charset="0"/>
                <a:ea typeface="Calibri" pitchFamily="34" charset="-122"/>
                <a:cs typeface="Calibri" pitchFamily="34" charset="-120"/>
              </a:rPr>
              <a:t>Logs visits, extracts objections and sentiment, attributes each booking to its source.</a:t>
            </a:r>
            <a:endParaRPr lang="en-US" sz="1250" dirty="0"/>
          </a:p>
        </p:txBody>
      </p:sp>
      <p:sp>
        <p:nvSpPr>
          <p:cNvPr id="28" name="Text 26"/>
          <p:cNvSpPr/>
          <p:nvPr/>
        </p:nvSpPr>
        <p:spPr>
          <a:xfrm>
            <a:off x="9034272" y="5239512"/>
            <a:ext cx="2331720" cy="658368"/>
          </a:xfrm>
          <a:prstGeom prst="rect">
            <a:avLst/>
          </a:prstGeom>
          <a:noFill/>
          <a:ln/>
        </p:spPr>
        <p:txBody>
          <a:bodyPr wrap="square" rtlCol="0" anchor="ctr"/>
          <a:lstStyle/>
          <a:p>
            <a:pPr algn="r" indent="0" marL="0">
              <a:buNone/>
            </a:pPr>
            <a:r>
              <a:rPr lang="en-US" sz="1100" i="1" dirty="0">
                <a:solidFill>
                  <a:srgbClr val="6F685E"/>
                </a:solidFill>
                <a:latin typeface="Calibri" pitchFamily="34" charset="0"/>
                <a:ea typeface="Calibri" pitchFamily="34" charset="-122"/>
                <a:cs typeface="Calibri" pitchFamily="34" charset="-120"/>
              </a:rPr>
              <a:t>Gemini + attribution chain</a:t>
            </a:r>
            <a:endParaRPr lang="en-US" sz="1100" dirty="0"/>
          </a:p>
        </p:txBody>
      </p:sp>
      <p:sp>
        <p:nvSpPr>
          <p:cNvPr id="29" name="Text 27"/>
          <p:cNvSpPr/>
          <p:nvPr/>
        </p:nvSpPr>
        <p:spPr>
          <a:xfrm>
            <a:off x="640080" y="6126480"/>
            <a:ext cx="10908792" cy="274320"/>
          </a:xfrm>
          <a:prstGeom prst="rect">
            <a:avLst/>
          </a:prstGeom>
          <a:noFill/>
          <a:ln/>
        </p:spPr>
        <p:txBody>
          <a:bodyPr wrap="square" rtlCol="0" anchor="ctr"/>
          <a:lstStyle/>
          <a:p>
            <a:pPr indent="0" marL="0">
              <a:buNone/>
            </a:pPr>
            <a:r>
              <a:rPr lang="en-US" sz="1200" i="1" dirty="0">
                <a:solidFill>
                  <a:srgbClr val="8F3D20"/>
                </a:solidFill>
                <a:latin typeface="Calibri" pitchFamily="34" charset="0"/>
                <a:ea typeface="Calibri" pitchFamily="34" charset="-122"/>
                <a:cs typeface="Calibri" pitchFamily="34" charset="-120"/>
              </a:rPr>
              <a:t>Lead is the moat — but the funnel only closes because all five hand off to each other.</a:t>
            </a:r>
            <a:endParaRPr lang="en-US" sz="1200" dirty="0"/>
          </a:p>
        </p:txBody>
      </p:sp>
      <p:sp>
        <p:nvSpPr>
          <p:cNvPr id="30" name="Text 28"/>
          <p:cNvSpPr/>
          <p:nvPr/>
        </p:nvSpPr>
        <p:spPr>
          <a:xfrm>
            <a:off x="640080" y="6446520"/>
            <a:ext cx="2743200" cy="274320"/>
          </a:xfrm>
          <a:prstGeom prst="rect">
            <a:avLst/>
          </a:prstGeom>
          <a:noFill/>
          <a:ln/>
        </p:spPr>
        <p:txBody>
          <a:bodyPr wrap="square" rtlCol="0" anchor="ctr"/>
          <a:lstStyle/>
          <a:p>
            <a:pPr indent="0" marL="0">
              <a:buNone/>
            </a:pPr>
            <a:r>
              <a:rPr lang="en-US" sz="1000" i="1" dirty="0">
                <a:solidFill>
                  <a:srgbClr val="6F685E"/>
                </a:solidFill>
                <a:latin typeface="Georgia" pitchFamily="34" charset="0"/>
                <a:ea typeface="Georgia" pitchFamily="34" charset="-122"/>
                <a:cs typeface="Georgia" pitchFamily="34" charset="-120"/>
              </a:rPr>
              <a:t>Pentahouse</a:t>
            </a:r>
            <a:endParaRPr lang="en-US" sz="1000" dirty="0"/>
          </a:p>
        </p:txBody>
      </p:sp>
      <p:sp>
        <p:nvSpPr>
          <p:cNvPr id="31" name="Text 29"/>
          <p:cNvSpPr/>
          <p:nvPr/>
        </p:nvSpPr>
        <p:spPr>
          <a:xfrm>
            <a:off x="11091672" y="6446520"/>
            <a:ext cx="457200" cy="274320"/>
          </a:xfrm>
          <a:prstGeom prst="rect">
            <a:avLst/>
          </a:prstGeom>
          <a:noFill/>
          <a:ln/>
        </p:spPr>
        <p:txBody>
          <a:bodyPr wrap="square" rtlCol="0" anchor="ctr"/>
          <a:lstStyle/>
          <a:p>
            <a:pPr algn="r" indent="0" marL="0">
              <a:buNone/>
            </a:pPr>
            <a:r>
              <a:rPr lang="en-US" sz="1000" dirty="0">
                <a:solidFill>
                  <a:srgbClr val="6F685E"/>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4EC"/>
        </a:solidFill>
      </p:bgPr>
    </p:bg>
    <p:spTree>
      <p:nvGrpSpPr>
        <p:cNvPr id="1" name=""/>
        <p:cNvGrpSpPr/>
        <p:nvPr/>
      </p:nvGrpSpPr>
      <p:grpSpPr>
        <a:xfrm>
          <a:off x="0" y="0"/>
          <a:ext cx="0" cy="0"/>
          <a:chOff x="0" y="0"/>
          <a:chExt cx="0" cy="0"/>
        </a:xfrm>
      </p:grpSpPr>
      <p:sp>
        <p:nvSpPr>
          <p:cNvPr id="2" name="Text 0"/>
          <p:cNvSpPr/>
          <p:nvPr/>
        </p:nvSpPr>
        <p:spPr>
          <a:xfrm>
            <a:off x="640080" y="502920"/>
            <a:ext cx="10908792" cy="274320"/>
          </a:xfrm>
          <a:prstGeom prst="rect">
            <a:avLst/>
          </a:prstGeom>
          <a:noFill/>
          <a:ln/>
        </p:spPr>
        <p:txBody>
          <a:bodyPr wrap="square" rtlCol="0" anchor="ctr"/>
          <a:lstStyle/>
          <a:p>
            <a:pPr indent="0" marL="0">
              <a:buNone/>
            </a:pPr>
            <a:r>
              <a:rPr lang="en-US" sz="1200" b="1" spc="300" kern="0" dirty="0">
                <a:solidFill>
                  <a:srgbClr val="C0552F"/>
                </a:solidFill>
                <a:latin typeface="Calibri" pitchFamily="34" charset="0"/>
                <a:ea typeface="Calibri" pitchFamily="34" charset="-122"/>
                <a:cs typeface="Calibri" pitchFamily="34" charset="-120"/>
              </a:rPr>
              <a:t>USER JOURNEY</a:t>
            </a:r>
            <a:endParaRPr lang="en-US" sz="1200" dirty="0"/>
          </a:p>
        </p:txBody>
      </p:sp>
      <p:sp>
        <p:nvSpPr>
          <p:cNvPr id="3" name="Text 1"/>
          <p:cNvSpPr/>
          <p:nvPr/>
        </p:nvSpPr>
        <p:spPr>
          <a:xfrm>
            <a:off x="640080" y="822960"/>
            <a:ext cx="10908792" cy="1005840"/>
          </a:xfrm>
          <a:prstGeom prst="rect">
            <a:avLst/>
          </a:prstGeom>
          <a:noFill/>
          <a:ln/>
        </p:spPr>
        <p:txBody>
          <a:bodyPr wrap="square" rtlCol="0" anchor="ctr"/>
          <a:lstStyle/>
          <a:p>
            <a:pPr indent="0" marL="0">
              <a:lnSpc>
                <a:spcPts val="3465"/>
              </a:lnSpc>
              <a:buNone/>
            </a:pPr>
            <a:r>
              <a:rPr lang="en-US" sz="3300" b="1" dirty="0">
                <a:solidFill>
                  <a:srgbClr val="201E1B"/>
                </a:solidFill>
                <a:latin typeface="Georgia" pitchFamily="34" charset="0"/>
                <a:ea typeface="Georgia" pitchFamily="34" charset="-122"/>
                <a:cs typeface="Georgia" pitchFamily="34" charset="-120"/>
              </a:rPr>
              <a:t>The buyer's path — and where we step in</a:t>
            </a:r>
            <a:endParaRPr lang="en-US" sz="3300" dirty="0"/>
          </a:p>
        </p:txBody>
      </p:sp>
      <p:sp>
        <p:nvSpPr>
          <p:cNvPr id="4" name="Shape 2"/>
          <p:cNvSpPr/>
          <p:nvPr/>
        </p:nvSpPr>
        <p:spPr>
          <a:xfrm>
            <a:off x="2148840" y="1554480"/>
            <a:ext cx="2267712" cy="457200"/>
          </a:xfrm>
          <a:prstGeom prst="roundRect">
            <a:avLst>
              <a:gd name="adj" fmla="val 12000"/>
            </a:avLst>
          </a:prstGeom>
          <a:solidFill>
            <a:srgbClr val="C0552F"/>
          </a:solidFill>
          <a:ln/>
        </p:spPr>
      </p:sp>
      <p:sp>
        <p:nvSpPr>
          <p:cNvPr id="5" name="Text 3"/>
          <p:cNvSpPr/>
          <p:nvPr/>
        </p:nvSpPr>
        <p:spPr>
          <a:xfrm>
            <a:off x="2148840" y="1554480"/>
            <a:ext cx="2267712"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Inquiry</a:t>
            </a:r>
            <a:endParaRPr lang="en-US" sz="1250" dirty="0"/>
          </a:p>
        </p:txBody>
      </p:sp>
      <p:sp>
        <p:nvSpPr>
          <p:cNvPr id="6" name="Shape 4"/>
          <p:cNvSpPr/>
          <p:nvPr/>
        </p:nvSpPr>
        <p:spPr>
          <a:xfrm>
            <a:off x="4517136" y="1554480"/>
            <a:ext cx="2267712" cy="457200"/>
          </a:xfrm>
          <a:prstGeom prst="roundRect">
            <a:avLst>
              <a:gd name="adj" fmla="val 12000"/>
            </a:avLst>
          </a:prstGeom>
          <a:solidFill>
            <a:srgbClr val="C0552F"/>
          </a:solidFill>
          <a:ln/>
        </p:spPr>
      </p:sp>
      <p:sp>
        <p:nvSpPr>
          <p:cNvPr id="7" name="Text 5"/>
          <p:cNvSpPr/>
          <p:nvPr/>
        </p:nvSpPr>
        <p:spPr>
          <a:xfrm>
            <a:off x="4517136" y="1554480"/>
            <a:ext cx="2267712"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Qualification</a:t>
            </a:r>
            <a:endParaRPr lang="en-US" sz="1250" dirty="0"/>
          </a:p>
        </p:txBody>
      </p:sp>
      <p:sp>
        <p:nvSpPr>
          <p:cNvPr id="8" name="Shape 6"/>
          <p:cNvSpPr/>
          <p:nvPr/>
        </p:nvSpPr>
        <p:spPr>
          <a:xfrm>
            <a:off x="6885432" y="1554480"/>
            <a:ext cx="2267712" cy="457200"/>
          </a:xfrm>
          <a:prstGeom prst="roundRect">
            <a:avLst>
              <a:gd name="adj" fmla="val 12000"/>
            </a:avLst>
          </a:prstGeom>
          <a:solidFill>
            <a:srgbClr val="C0552F"/>
          </a:solidFill>
          <a:ln/>
        </p:spPr>
      </p:sp>
      <p:sp>
        <p:nvSpPr>
          <p:cNvPr id="9" name="Text 7"/>
          <p:cNvSpPr/>
          <p:nvPr/>
        </p:nvSpPr>
        <p:spPr>
          <a:xfrm>
            <a:off x="6885432" y="1554480"/>
            <a:ext cx="2267712"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Nurture &amp; visit</a:t>
            </a:r>
            <a:endParaRPr lang="en-US" sz="1250" dirty="0"/>
          </a:p>
        </p:txBody>
      </p:sp>
      <p:sp>
        <p:nvSpPr>
          <p:cNvPr id="10" name="Shape 8"/>
          <p:cNvSpPr/>
          <p:nvPr/>
        </p:nvSpPr>
        <p:spPr>
          <a:xfrm>
            <a:off x="9253728" y="1554480"/>
            <a:ext cx="2267712" cy="457200"/>
          </a:xfrm>
          <a:prstGeom prst="roundRect">
            <a:avLst>
              <a:gd name="adj" fmla="val 12000"/>
            </a:avLst>
          </a:prstGeom>
          <a:solidFill>
            <a:srgbClr val="C0552F"/>
          </a:solidFill>
          <a:ln/>
        </p:spPr>
      </p:sp>
      <p:sp>
        <p:nvSpPr>
          <p:cNvPr id="11" name="Text 9"/>
          <p:cNvSpPr/>
          <p:nvPr/>
        </p:nvSpPr>
        <p:spPr>
          <a:xfrm>
            <a:off x="9253728" y="1554480"/>
            <a:ext cx="2267712"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Booking &amp; beyond</a:t>
            </a:r>
            <a:endParaRPr lang="en-US" sz="1250" dirty="0"/>
          </a:p>
        </p:txBody>
      </p:sp>
      <p:sp>
        <p:nvSpPr>
          <p:cNvPr id="12" name="Shape 10"/>
          <p:cNvSpPr/>
          <p:nvPr/>
        </p:nvSpPr>
        <p:spPr>
          <a:xfrm>
            <a:off x="640080" y="2148840"/>
            <a:ext cx="1371600" cy="786384"/>
          </a:xfrm>
          <a:prstGeom prst="roundRect">
            <a:avLst>
              <a:gd name="adj" fmla="val 6977"/>
            </a:avLst>
          </a:prstGeom>
          <a:solidFill>
            <a:srgbClr val="5E7261"/>
          </a:solidFill>
          <a:ln/>
        </p:spPr>
      </p:sp>
      <p:sp>
        <p:nvSpPr>
          <p:cNvPr id="13" name="Text 11"/>
          <p:cNvSpPr/>
          <p:nvPr/>
        </p:nvSpPr>
        <p:spPr>
          <a:xfrm>
            <a:off x="640080" y="2148840"/>
            <a:ext cx="1371600" cy="78638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Touchpoints</a:t>
            </a:r>
            <a:endParaRPr lang="en-US" sz="1050" dirty="0"/>
          </a:p>
        </p:txBody>
      </p:sp>
      <p:sp>
        <p:nvSpPr>
          <p:cNvPr id="14" name="Shape 12"/>
          <p:cNvSpPr/>
          <p:nvPr/>
        </p:nvSpPr>
        <p:spPr>
          <a:xfrm>
            <a:off x="2148840" y="2148840"/>
            <a:ext cx="2267712" cy="786384"/>
          </a:xfrm>
          <a:prstGeom prst="roundRect">
            <a:avLst>
              <a:gd name="adj" fmla="val 5814"/>
            </a:avLst>
          </a:prstGeom>
          <a:solidFill>
            <a:srgbClr val="FFFFFF"/>
          </a:solidFill>
          <a:ln w="12700">
            <a:solidFill>
              <a:srgbClr val="E4DBCB"/>
            </a:solidFill>
            <a:prstDash val="solid"/>
          </a:ln>
        </p:spPr>
      </p:sp>
      <p:sp>
        <p:nvSpPr>
          <p:cNvPr id="15" name="Text 13"/>
          <p:cNvSpPr/>
          <p:nvPr/>
        </p:nvSpPr>
        <p:spPr>
          <a:xfrm>
            <a:off x="2267712" y="2148840"/>
            <a:ext cx="2029968" cy="786384"/>
          </a:xfrm>
          <a:prstGeom prst="rect">
            <a:avLst/>
          </a:prstGeom>
          <a:noFill/>
          <a:ln/>
        </p:spPr>
        <p:txBody>
          <a:bodyPr wrap="square" rtlCol="0" anchor="ctr"/>
          <a:lstStyle/>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Meta / Google ad,</a:t>
            </a:r>
            <a:endParaRPr lang="en-US" sz="950" dirty="0"/>
          </a:p>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portal lead form</a:t>
            </a:r>
            <a:endParaRPr lang="en-US" sz="950" dirty="0"/>
          </a:p>
        </p:txBody>
      </p:sp>
      <p:sp>
        <p:nvSpPr>
          <p:cNvPr id="16" name="Shape 14"/>
          <p:cNvSpPr/>
          <p:nvPr/>
        </p:nvSpPr>
        <p:spPr>
          <a:xfrm>
            <a:off x="4517136" y="2148840"/>
            <a:ext cx="2267712" cy="786384"/>
          </a:xfrm>
          <a:prstGeom prst="roundRect">
            <a:avLst>
              <a:gd name="adj" fmla="val 5814"/>
            </a:avLst>
          </a:prstGeom>
          <a:solidFill>
            <a:srgbClr val="FFFFFF"/>
          </a:solidFill>
          <a:ln w="12700">
            <a:solidFill>
              <a:srgbClr val="E4DBCB"/>
            </a:solidFill>
            <a:prstDash val="solid"/>
          </a:ln>
        </p:spPr>
      </p:sp>
      <p:sp>
        <p:nvSpPr>
          <p:cNvPr id="17" name="Text 15"/>
          <p:cNvSpPr/>
          <p:nvPr/>
        </p:nvSpPr>
        <p:spPr>
          <a:xfrm>
            <a:off x="4636008" y="2148840"/>
            <a:ext cx="2029968" cy="786384"/>
          </a:xfrm>
          <a:prstGeom prst="rect">
            <a:avLst/>
          </a:prstGeom>
          <a:noFill/>
          <a:ln/>
        </p:spPr>
        <p:txBody>
          <a:bodyPr wrap="square" rtlCol="0" anchor="ctr"/>
          <a:lstStyle/>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WhatsApp,</a:t>
            </a:r>
            <a:endParaRPr lang="en-US" sz="950" dirty="0"/>
          </a:p>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the scored lead card</a:t>
            </a:r>
            <a:endParaRPr lang="en-US" sz="950" dirty="0"/>
          </a:p>
        </p:txBody>
      </p:sp>
      <p:sp>
        <p:nvSpPr>
          <p:cNvPr id="18" name="Shape 16"/>
          <p:cNvSpPr/>
          <p:nvPr/>
        </p:nvSpPr>
        <p:spPr>
          <a:xfrm>
            <a:off x="6885432" y="2148840"/>
            <a:ext cx="2267712" cy="786384"/>
          </a:xfrm>
          <a:prstGeom prst="roundRect">
            <a:avLst>
              <a:gd name="adj" fmla="val 5814"/>
            </a:avLst>
          </a:prstGeom>
          <a:solidFill>
            <a:srgbClr val="FFFFFF"/>
          </a:solidFill>
          <a:ln w="12700">
            <a:solidFill>
              <a:srgbClr val="E4DBCB"/>
            </a:solidFill>
            <a:prstDash val="solid"/>
          </a:ln>
        </p:spPr>
      </p:sp>
      <p:sp>
        <p:nvSpPr>
          <p:cNvPr id="19" name="Text 17"/>
          <p:cNvSpPr/>
          <p:nvPr/>
        </p:nvSpPr>
        <p:spPr>
          <a:xfrm>
            <a:off x="7004304" y="2148840"/>
            <a:ext cx="2029968" cy="786384"/>
          </a:xfrm>
          <a:prstGeom prst="rect">
            <a:avLst/>
          </a:prstGeom>
          <a:noFill/>
          <a:ln/>
        </p:spPr>
        <p:txBody>
          <a:bodyPr wrap="square" rtlCol="0" anchor="ctr"/>
          <a:lstStyle/>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WhatsApp thread,</a:t>
            </a:r>
            <a:endParaRPr lang="en-US" sz="950" dirty="0"/>
          </a:p>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visit invite + calendar</a:t>
            </a:r>
            <a:endParaRPr lang="en-US" sz="950" dirty="0"/>
          </a:p>
        </p:txBody>
      </p:sp>
      <p:sp>
        <p:nvSpPr>
          <p:cNvPr id="20" name="Shape 18"/>
          <p:cNvSpPr/>
          <p:nvPr/>
        </p:nvSpPr>
        <p:spPr>
          <a:xfrm>
            <a:off x="9253728" y="2148840"/>
            <a:ext cx="2267712" cy="786384"/>
          </a:xfrm>
          <a:prstGeom prst="roundRect">
            <a:avLst>
              <a:gd name="adj" fmla="val 5814"/>
            </a:avLst>
          </a:prstGeom>
          <a:solidFill>
            <a:srgbClr val="FFFFFF"/>
          </a:solidFill>
          <a:ln w="12700">
            <a:solidFill>
              <a:srgbClr val="E4DBCB"/>
            </a:solidFill>
            <a:prstDash val="solid"/>
          </a:ln>
        </p:spPr>
      </p:sp>
      <p:sp>
        <p:nvSpPr>
          <p:cNvPr id="21" name="Text 19"/>
          <p:cNvSpPr/>
          <p:nvPr/>
        </p:nvSpPr>
        <p:spPr>
          <a:xfrm>
            <a:off x="9372600" y="2148840"/>
            <a:ext cx="2029968" cy="786384"/>
          </a:xfrm>
          <a:prstGeom prst="rect">
            <a:avLst/>
          </a:prstGeom>
          <a:noFill/>
          <a:ln/>
        </p:spPr>
        <p:txBody>
          <a:bodyPr wrap="square" rtlCol="0" anchor="ctr"/>
          <a:lstStyle/>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Booking note,</a:t>
            </a:r>
            <a:endParaRPr lang="en-US" sz="950" dirty="0"/>
          </a:p>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reminders, re-engage</a:t>
            </a:r>
            <a:endParaRPr lang="en-US" sz="950" dirty="0"/>
          </a:p>
        </p:txBody>
      </p:sp>
      <p:sp>
        <p:nvSpPr>
          <p:cNvPr id="22" name="Shape 20"/>
          <p:cNvSpPr/>
          <p:nvPr/>
        </p:nvSpPr>
        <p:spPr>
          <a:xfrm>
            <a:off x="640080" y="2990088"/>
            <a:ext cx="1371600" cy="786384"/>
          </a:xfrm>
          <a:prstGeom prst="roundRect">
            <a:avLst>
              <a:gd name="adj" fmla="val 6977"/>
            </a:avLst>
          </a:prstGeom>
          <a:solidFill>
            <a:srgbClr val="5E7261"/>
          </a:solidFill>
          <a:ln/>
        </p:spPr>
      </p:sp>
      <p:sp>
        <p:nvSpPr>
          <p:cNvPr id="23" name="Text 21"/>
          <p:cNvSpPr/>
          <p:nvPr/>
        </p:nvSpPr>
        <p:spPr>
          <a:xfrm>
            <a:off x="640080" y="2990088"/>
            <a:ext cx="1371600" cy="78638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Actions</a:t>
            </a:r>
            <a:endParaRPr lang="en-US" sz="1050" dirty="0"/>
          </a:p>
        </p:txBody>
      </p:sp>
      <p:sp>
        <p:nvSpPr>
          <p:cNvPr id="24" name="Shape 22"/>
          <p:cNvSpPr/>
          <p:nvPr/>
        </p:nvSpPr>
        <p:spPr>
          <a:xfrm>
            <a:off x="2148840" y="2990088"/>
            <a:ext cx="2267712" cy="786384"/>
          </a:xfrm>
          <a:prstGeom prst="roundRect">
            <a:avLst>
              <a:gd name="adj" fmla="val 5814"/>
            </a:avLst>
          </a:prstGeom>
          <a:solidFill>
            <a:srgbClr val="FFFFFF"/>
          </a:solidFill>
          <a:ln w="12700">
            <a:solidFill>
              <a:srgbClr val="E4DBCB"/>
            </a:solidFill>
            <a:prstDash val="solid"/>
          </a:ln>
        </p:spPr>
      </p:sp>
      <p:sp>
        <p:nvSpPr>
          <p:cNvPr id="25" name="Text 23"/>
          <p:cNvSpPr/>
          <p:nvPr/>
        </p:nvSpPr>
        <p:spPr>
          <a:xfrm>
            <a:off x="2267712" y="2990088"/>
            <a:ext cx="2029968" cy="786384"/>
          </a:xfrm>
          <a:prstGeom prst="rect">
            <a:avLst/>
          </a:prstGeom>
          <a:noFill/>
          <a:ln/>
        </p:spPr>
        <p:txBody>
          <a:bodyPr wrap="square" rtlCol="0" anchor="ctr"/>
          <a:lstStyle/>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Clicks an ad,</a:t>
            </a:r>
            <a:endParaRPr lang="en-US" sz="950" dirty="0"/>
          </a:p>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submits partial details</a:t>
            </a:r>
            <a:endParaRPr lang="en-US" sz="950" dirty="0"/>
          </a:p>
        </p:txBody>
      </p:sp>
      <p:sp>
        <p:nvSpPr>
          <p:cNvPr id="26" name="Shape 24"/>
          <p:cNvSpPr/>
          <p:nvPr/>
        </p:nvSpPr>
        <p:spPr>
          <a:xfrm>
            <a:off x="4517136" y="2990088"/>
            <a:ext cx="2267712" cy="786384"/>
          </a:xfrm>
          <a:prstGeom prst="roundRect">
            <a:avLst>
              <a:gd name="adj" fmla="val 5814"/>
            </a:avLst>
          </a:prstGeom>
          <a:solidFill>
            <a:srgbClr val="FFFFFF"/>
          </a:solidFill>
          <a:ln w="12700">
            <a:solidFill>
              <a:srgbClr val="E4DBCB"/>
            </a:solidFill>
            <a:prstDash val="solid"/>
          </a:ln>
        </p:spPr>
      </p:sp>
      <p:sp>
        <p:nvSpPr>
          <p:cNvPr id="27" name="Text 25"/>
          <p:cNvSpPr/>
          <p:nvPr/>
        </p:nvSpPr>
        <p:spPr>
          <a:xfrm>
            <a:off x="4636008" y="2990088"/>
            <a:ext cx="2029968" cy="786384"/>
          </a:xfrm>
          <a:prstGeom prst="rect">
            <a:avLst/>
          </a:prstGeom>
          <a:noFill/>
          <a:ln/>
        </p:spPr>
        <p:txBody>
          <a:bodyPr wrap="square" rtlCol="0" anchor="ctr"/>
          <a:lstStyle/>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Answers one quick</a:t>
            </a:r>
            <a:endParaRPr lang="en-US" sz="950" dirty="0"/>
          </a:p>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WhatsApp question</a:t>
            </a:r>
            <a:endParaRPr lang="en-US" sz="950" dirty="0"/>
          </a:p>
        </p:txBody>
      </p:sp>
      <p:sp>
        <p:nvSpPr>
          <p:cNvPr id="28" name="Shape 26"/>
          <p:cNvSpPr/>
          <p:nvPr/>
        </p:nvSpPr>
        <p:spPr>
          <a:xfrm>
            <a:off x="6885432" y="2990088"/>
            <a:ext cx="2267712" cy="786384"/>
          </a:xfrm>
          <a:prstGeom prst="roundRect">
            <a:avLst>
              <a:gd name="adj" fmla="val 5814"/>
            </a:avLst>
          </a:prstGeom>
          <a:solidFill>
            <a:srgbClr val="FFFFFF"/>
          </a:solidFill>
          <a:ln w="12700">
            <a:solidFill>
              <a:srgbClr val="E4DBCB"/>
            </a:solidFill>
            <a:prstDash val="solid"/>
          </a:ln>
        </p:spPr>
      </p:sp>
      <p:sp>
        <p:nvSpPr>
          <p:cNvPr id="29" name="Text 27"/>
          <p:cNvSpPr/>
          <p:nvPr/>
        </p:nvSpPr>
        <p:spPr>
          <a:xfrm>
            <a:off x="7004304" y="2990088"/>
            <a:ext cx="2029968" cy="786384"/>
          </a:xfrm>
          <a:prstGeom prst="rect">
            <a:avLst/>
          </a:prstGeom>
          <a:noFill/>
          <a:ln/>
        </p:spPr>
        <p:txBody>
          <a:bodyPr wrap="square" rtlCol="0" anchor="ctr"/>
          <a:lstStyle/>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Replies, picks a slot,</a:t>
            </a:r>
            <a:endParaRPr lang="en-US" sz="950" dirty="0"/>
          </a:p>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attends the visit</a:t>
            </a:r>
            <a:endParaRPr lang="en-US" sz="950" dirty="0"/>
          </a:p>
        </p:txBody>
      </p:sp>
      <p:sp>
        <p:nvSpPr>
          <p:cNvPr id="30" name="Shape 28"/>
          <p:cNvSpPr/>
          <p:nvPr/>
        </p:nvSpPr>
        <p:spPr>
          <a:xfrm>
            <a:off x="9253728" y="2990088"/>
            <a:ext cx="2267712" cy="786384"/>
          </a:xfrm>
          <a:prstGeom prst="roundRect">
            <a:avLst>
              <a:gd name="adj" fmla="val 5814"/>
            </a:avLst>
          </a:prstGeom>
          <a:solidFill>
            <a:srgbClr val="FFFFFF"/>
          </a:solidFill>
          <a:ln w="12700">
            <a:solidFill>
              <a:srgbClr val="E4DBCB"/>
            </a:solidFill>
            <a:prstDash val="solid"/>
          </a:ln>
        </p:spPr>
      </p:sp>
      <p:sp>
        <p:nvSpPr>
          <p:cNvPr id="31" name="Text 29"/>
          <p:cNvSpPr/>
          <p:nvPr/>
        </p:nvSpPr>
        <p:spPr>
          <a:xfrm>
            <a:off x="9372600" y="2990088"/>
            <a:ext cx="2029968" cy="786384"/>
          </a:xfrm>
          <a:prstGeom prst="rect">
            <a:avLst/>
          </a:prstGeom>
          <a:noFill/>
          <a:ln/>
        </p:spPr>
        <p:txBody>
          <a:bodyPr wrap="square" rtlCol="0" anchor="ctr"/>
          <a:lstStyle/>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Books, or raises</a:t>
            </a:r>
            <a:endParaRPr lang="en-US" sz="950" dirty="0"/>
          </a:p>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an objection</a:t>
            </a:r>
            <a:endParaRPr lang="en-US" sz="950" dirty="0"/>
          </a:p>
        </p:txBody>
      </p:sp>
      <p:sp>
        <p:nvSpPr>
          <p:cNvPr id="32" name="Shape 30"/>
          <p:cNvSpPr/>
          <p:nvPr/>
        </p:nvSpPr>
        <p:spPr>
          <a:xfrm>
            <a:off x="640080" y="3831336"/>
            <a:ext cx="1371600" cy="786384"/>
          </a:xfrm>
          <a:prstGeom prst="roundRect">
            <a:avLst>
              <a:gd name="adj" fmla="val 6977"/>
            </a:avLst>
          </a:prstGeom>
          <a:solidFill>
            <a:srgbClr val="8F3D20"/>
          </a:solidFill>
          <a:ln/>
        </p:spPr>
      </p:sp>
      <p:sp>
        <p:nvSpPr>
          <p:cNvPr id="33" name="Text 31"/>
          <p:cNvSpPr/>
          <p:nvPr/>
        </p:nvSpPr>
        <p:spPr>
          <a:xfrm>
            <a:off x="640080" y="3831336"/>
            <a:ext cx="1371600" cy="78638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Emotion</a:t>
            </a:r>
            <a:endParaRPr lang="en-US" sz="1050" dirty="0"/>
          </a:p>
        </p:txBody>
      </p:sp>
      <p:sp>
        <p:nvSpPr>
          <p:cNvPr id="34" name="Shape 32"/>
          <p:cNvSpPr/>
          <p:nvPr/>
        </p:nvSpPr>
        <p:spPr>
          <a:xfrm>
            <a:off x="2148840" y="3831336"/>
            <a:ext cx="2267712" cy="786384"/>
          </a:xfrm>
          <a:prstGeom prst="roundRect">
            <a:avLst>
              <a:gd name="adj" fmla="val 5814"/>
            </a:avLst>
          </a:prstGeom>
          <a:solidFill>
            <a:srgbClr val="FBF1EA"/>
          </a:solidFill>
          <a:ln w="12700">
            <a:solidFill>
              <a:srgbClr val="E4DBCB"/>
            </a:solidFill>
            <a:prstDash val="solid"/>
          </a:ln>
        </p:spPr>
      </p:sp>
      <p:sp>
        <p:nvSpPr>
          <p:cNvPr id="35" name="Text 33"/>
          <p:cNvSpPr/>
          <p:nvPr/>
        </p:nvSpPr>
        <p:spPr>
          <a:xfrm>
            <a:off x="2267712" y="3831336"/>
            <a:ext cx="2029968" cy="786384"/>
          </a:xfrm>
          <a:prstGeom prst="rect">
            <a:avLst/>
          </a:prstGeom>
          <a:noFill/>
          <a:ln/>
        </p:spPr>
        <p:txBody>
          <a:bodyPr wrap="square" rtlCol="0" anchor="ctr"/>
          <a:lstStyle/>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Curious, low effort</a:t>
            </a:r>
            <a:endParaRPr lang="en-US" sz="950" dirty="0"/>
          </a:p>
        </p:txBody>
      </p:sp>
      <p:sp>
        <p:nvSpPr>
          <p:cNvPr id="36" name="Shape 34"/>
          <p:cNvSpPr/>
          <p:nvPr/>
        </p:nvSpPr>
        <p:spPr>
          <a:xfrm>
            <a:off x="4517136" y="3831336"/>
            <a:ext cx="2267712" cy="786384"/>
          </a:xfrm>
          <a:prstGeom prst="roundRect">
            <a:avLst>
              <a:gd name="adj" fmla="val 5814"/>
            </a:avLst>
          </a:prstGeom>
          <a:solidFill>
            <a:srgbClr val="FBF1EA"/>
          </a:solidFill>
          <a:ln w="12700">
            <a:solidFill>
              <a:srgbClr val="E4DBCB"/>
            </a:solidFill>
            <a:prstDash val="solid"/>
          </a:ln>
        </p:spPr>
      </p:sp>
      <p:sp>
        <p:nvSpPr>
          <p:cNvPr id="37" name="Text 35"/>
          <p:cNvSpPr/>
          <p:nvPr/>
        </p:nvSpPr>
        <p:spPr>
          <a:xfrm>
            <a:off x="4636008" y="3831336"/>
            <a:ext cx="2029968" cy="786384"/>
          </a:xfrm>
          <a:prstGeom prst="rect">
            <a:avLst/>
          </a:prstGeom>
          <a:noFill/>
          <a:ln/>
        </p:spPr>
        <p:txBody>
          <a:bodyPr wrap="square" rtlCol="0" anchor="ctr"/>
          <a:lstStyle/>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Wary: will they</a:t>
            </a:r>
            <a:endParaRPr lang="en-US" sz="950" dirty="0"/>
          </a:p>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spam me?</a:t>
            </a:r>
            <a:endParaRPr lang="en-US" sz="950" dirty="0"/>
          </a:p>
        </p:txBody>
      </p:sp>
      <p:sp>
        <p:nvSpPr>
          <p:cNvPr id="38" name="Shape 36"/>
          <p:cNvSpPr/>
          <p:nvPr/>
        </p:nvSpPr>
        <p:spPr>
          <a:xfrm>
            <a:off x="6885432" y="3831336"/>
            <a:ext cx="2267712" cy="786384"/>
          </a:xfrm>
          <a:prstGeom prst="roundRect">
            <a:avLst>
              <a:gd name="adj" fmla="val 5814"/>
            </a:avLst>
          </a:prstGeom>
          <a:solidFill>
            <a:srgbClr val="FBF1EA"/>
          </a:solidFill>
          <a:ln w="12700">
            <a:solidFill>
              <a:srgbClr val="E4DBCB"/>
            </a:solidFill>
            <a:prstDash val="solid"/>
          </a:ln>
        </p:spPr>
      </p:sp>
      <p:sp>
        <p:nvSpPr>
          <p:cNvPr id="39" name="Text 37"/>
          <p:cNvSpPr/>
          <p:nvPr/>
        </p:nvSpPr>
        <p:spPr>
          <a:xfrm>
            <a:off x="7004304" y="3831336"/>
            <a:ext cx="2029968" cy="786384"/>
          </a:xfrm>
          <a:prstGeom prst="rect">
            <a:avLst/>
          </a:prstGeom>
          <a:noFill/>
          <a:ln/>
        </p:spPr>
        <p:txBody>
          <a:bodyPr wrap="square" rtlCol="0" anchor="ctr"/>
          <a:lstStyle/>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Reassured,</a:t>
            </a:r>
            <a:endParaRPr lang="en-US" sz="950" dirty="0"/>
          </a:p>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taken seriously</a:t>
            </a:r>
            <a:endParaRPr lang="en-US" sz="950" dirty="0"/>
          </a:p>
        </p:txBody>
      </p:sp>
      <p:sp>
        <p:nvSpPr>
          <p:cNvPr id="40" name="Shape 38"/>
          <p:cNvSpPr/>
          <p:nvPr/>
        </p:nvSpPr>
        <p:spPr>
          <a:xfrm>
            <a:off x="9253728" y="3831336"/>
            <a:ext cx="2267712" cy="786384"/>
          </a:xfrm>
          <a:prstGeom prst="roundRect">
            <a:avLst>
              <a:gd name="adj" fmla="val 5814"/>
            </a:avLst>
          </a:prstGeom>
          <a:solidFill>
            <a:srgbClr val="FBF1EA"/>
          </a:solidFill>
          <a:ln w="12700">
            <a:solidFill>
              <a:srgbClr val="E4DBCB"/>
            </a:solidFill>
            <a:prstDash val="solid"/>
          </a:ln>
        </p:spPr>
      </p:sp>
      <p:sp>
        <p:nvSpPr>
          <p:cNvPr id="41" name="Text 39"/>
          <p:cNvSpPr/>
          <p:nvPr/>
        </p:nvSpPr>
        <p:spPr>
          <a:xfrm>
            <a:off x="9372600" y="3831336"/>
            <a:ext cx="2029968" cy="786384"/>
          </a:xfrm>
          <a:prstGeom prst="rect">
            <a:avLst/>
          </a:prstGeom>
          <a:noFill/>
          <a:ln/>
        </p:spPr>
        <p:txBody>
          <a:bodyPr wrap="square" rtlCol="0" anchor="ctr"/>
          <a:lstStyle/>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Confident,</a:t>
            </a:r>
            <a:endParaRPr lang="en-US" sz="950" dirty="0"/>
          </a:p>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or hesitant</a:t>
            </a:r>
            <a:endParaRPr lang="en-US" sz="950" dirty="0"/>
          </a:p>
        </p:txBody>
      </p:sp>
      <p:sp>
        <p:nvSpPr>
          <p:cNvPr id="42" name="Shape 40"/>
          <p:cNvSpPr/>
          <p:nvPr/>
        </p:nvSpPr>
        <p:spPr>
          <a:xfrm>
            <a:off x="640080" y="4672584"/>
            <a:ext cx="1371600" cy="786384"/>
          </a:xfrm>
          <a:prstGeom prst="roundRect">
            <a:avLst>
              <a:gd name="adj" fmla="val 6977"/>
            </a:avLst>
          </a:prstGeom>
          <a:solidFill>
            <a:srgbClr val="8F3D20"/>
          </a:solidFill>
          <a:ln/>
        </p:spPr>
      </p:sp>
      <p:sp>
        <p:nvSpPr>
          <p:cNvPr id="43" name="Text 41"/>
          <p:cNvSpPr/>
          <p:nvPr/>
        </p:nvSpPr>
        <p:spPr>
          <a:xfrm>
            <a:off x="640080" y="4672584"/>
            <a:ext cx="1371600" cy="78638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Pain today</a:t>
            </a:r>
            <a:endParaRPr lang="en-US" sz="1050" dirty="0"/>
          </a:p>
        </p:txBody>
      </p:sp>
      <p:sp>
        <p:nvSpPr>
          <p:cNvPr id="44" name="Shape 42"/>
          <p:cNvSpPr/>
          <p:nvPr/>
        </p:nvSpPr>
        <p:spPr>
          <a:xfrm>
            <a:off x="2148840" y="4672584"/>
            <a:ext cx="2267712" cy="786384"/>
          </a:xfrm>
          <a:prstGeom prst="roundRect">
            <a:avLst>
              <a:gd name="adj" fmla="val 5814"/>
            </a:avLst>
          </a:prstGeom>
          <a:solidFill>
            <a:srgbClr val="FFFFFF"/>
          </a:solidFill>
          <a:ln w="12700">
            <a:solidFill>
              <a:srgbClr val="E4DBCB"/>
            </a:solidFill>
            <a:prstDash val="solid"/>
          </a:ln>
        </p:spPr>
      </p:sp>
      <p:sp>
        <p:nvSpPr>
          <p:cNvPr id="45" name="Text 43"/>
          <p:cNvSpPr/>
          <p:nvPr/>
        </p:nvSpPr>
        <p:spPr>
          <a:xfrm>
            <a:off x="2267712" y="4672584"/>
            <a:ext cx="2029968" cy="786384"/>
          </a:xfrm>
          <a:prstGeom prst="rect">
            <a:avLst/>
          </a:prstGeom>
          <a:noFill/>
          <a:ln/>
        </p:spPr>
        <p:txBody>
          <a:bodyPr wrap="square" rtlCol="0" anchor="ctr"/>
          <a:lstStyle/>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Thin data, ignored</a:t>
            </a:r>
            <a:endParaRPr lang="en-US" sz="950" dirty="0"/>
          </a:p>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for hours</a:t>
            </a:r>
            <a:endParaRPr lang="en-US" sz="950" dirty="0"/>
          </a:p>
        </p:txBody>
      </p:sp>
      <p:sp>
        <p:nvSpPr>
          <p:cNvPr id="46" name="Shape 44"/>
          <p:cNvSpPr/>
          <p:nvPr/>
        </p:nvSpPr>
        <p:spPr>
          <a:xfrm>
            <a:off x="4517136" y="4672584"/>
            <a:ext cx="2267712" cy="786384"/>
          </a:xfrm>
          <a:prstGeom prst="roundRect">
            <a:avLst>
              <a:gd name="adj" fmla="val 5814"/>
            </a:avLst>
          </a:prstGeom>
          <a:solidFill>
            <a:srgbClr val="FFFFFF"/>
          </a:solidFill>
          <a:ln w="12700">
            <a:solidFill>
              <a:srgbClr val="E4DBCB"/>
            </a:solidFill>
            <a:prstDash val="solid"/>
          </a:ln>
        </p:spPr>
      </p:sp>
      <p:sp>
        <p:nvSpPr>
          <p:cNvPr id="47" name="Text 45"/>
          <p:cNvSpPr/>
          <p:nvPr/>
        </p:nvSpPr>
        <p:spPr>
          <a:xfrm>
            <a:off x="4636008" y="4672584"/>
            <a:ext cx="2029968" cy="786384"/>
          </a:xfrm>
          <a:prstGeom prst="rect">
            <a:avLst/>
          </a:prstGeom>
          <a:noFill/>
          <a:ln/>
        </p:spPr>
        <p:txBody>
          <a:bodyPr wrap="square" rtlCol="0" anchor="ctr"/>
          <a:lstStyle/>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Generic calls,</a:t>
            </a:r>
            <a:endParaRPr lang="en-US" sz="950" dirty="0"/>
          </a:p>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wrong rep</a:t>
            </a:r>
            <a:endParaRPr lang="en-US" sz="950" dirty="0"/>
          </a:p>
        </p:txBody>
      </p:sp>
      <p:sp>
        <p:nvSpPr>
          <p:cNvPr id="48" name="Shape 46"/>
          <p:cNvSpPr/>
          <p:nvPr/>
        </p:nvSpPr>
        <p:spPr>
          <a:xfrm>
            <a:off x="6885432" y="4672584"/>
            <a:ext cx="2267712" cy="786384"/>
          </a:xfrm>
          <a:prstGeom prst="roundRect">
            <a:avLst>
              <a:gd name="adj" fmla="val 5814"/>
            </a:avLst>
          </a:prstGeom>
          <a:solidFill>
            <a:srgbClr val="FFFFFF"/>
          </a:solidFill>
          <a:ln w="12700">
            <a:solidFill>
              <a:srgbClr val="E4DBCB"/>
            </a:solidFill>
            <a:prstDash val="solid"/>
          </a:ln>
        </p:spPr>
      </p:sp>
      <p:sp>
        <p:nvSpPr>
          <p:cNvPr id="49" name="Text 47"/>
          <p:cNvSpPr/>
          <p:nvPr/>
        </p:nvSpPr>
        <p:spPr>
          <a:xfrm>
            <a:off x="7004304" y="4672584"/>
            <a:ext cx="2029968" cy="786384"/>
          </a:xfrm>
          <a:prstGeom prst="rect">
            <a:avLst/>
          </a:prstGeom>
          <a:noFill/>
          <a:ln/>
        </p:spPr>
        <p:txBody>
          <a:bodyPr wrap="square" rtlCol="0" anchor="ctr"/>
          <a:lstStyle/>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Spammed by two,</a:t>
            </a:r>
            <a:endParaRPr lang="en-US" sz="950" dirty="0"/>
          </a:p>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real reply from one</a:t>
            </a:r>
            <a:endParaRPr lang="en-US" sz="950" dirty="0"/>
          </a:p>
        </p:txBody>
      </p:sp>
      <p:sp>
        <p:nvSpPr>
          <p:cNvPr id="50" name="Shape 48"/>
          <p:cNvSpPr/>
          <p:nvPr/>
        </p:nvSpPr>
        <p:spPr>
          <a:xfrm>
            <a:off x="9253728" y="4672584"/>
            <a:ext cx="2267712" cy="786384"/>
          </a:xfrm>
          <a:prstGeom prst="roundRect">
            <a:avLst>
              <a:gd name="adj" fmla="val 5814"/>
            </a:avLst>
          </a:prstGeom>
          <a:solidFill>
            <a:srgbClr val="FFFFFF"/>
          </a:solidFill>
          <a:ln w="12700">
            <a:solidFill>
              <a:srgbClr val="E4DBCB"/>
            </a:solidFill>
            <a:prstDash val="solid"/>
          </a:ln>
        </p:spPr>
      </p:sp>
      <p:sp>
        <p:nvSpPr>
          <p:cNvPr id="51" name="Text 49"/>
          <p:cNvSpPr/>
          <p:nvPr/>
        </p:nvSpPr>
        <p:spPr>
          <a:xfrm>
            <a:off x="9372600" y="4672584"/>
            <a:ext cx="2029968" cy="786384"/>
          </a:xfrm>
          <a:prstGeom prst="rect">
            <a:avLst/>
          </a:prstGeom>
          <a:noFill/>
          <a:ln/>
        </p:spPr>
        <p:txBody>
          <a:bodyPr wrap="square" rtlCol="0" anchor="ctr"/>
          <a:lstStyle/>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Objection forgotten,</a:t>
            </a:r>
            <a:endParaRPr lang="en-US" sz="950" dirty="0"/>
          </a:p>
          <a:p>
            <a:pPr indent="0" marL="0">
              <a:lnSpc>
                <a:spcPts val="1150"/>
              </a:lnSpc>
              <a:buNone/>
            </a:pPr>
            <a:r>
              <a:rPr lang="en-US" sz="950" dirty="0">
                <a:solidFill>
                  <a:srgbClr val="2B2722"/>
                </a:solidFill>
                <a:latin typeface="Calibri" pitchFamily="34" charset="0"/>
                <a:ea typeface="Calibri" pitchFamily="34" charset="-122"/>
                <a:cs typeface="Calibri" pitchFamily="34" charset="-120"/>
              </a:rPr>
              <a:t>no follow-up</a:t>
            </a:r>
            <a:endParaRPr lang="en-US" sz="950" dirty="0"/>
          </a:p>
        </p:txBody>
      </p:sp>
      <p:sp>
        <p:nvSpPr>
          <p:cNvPr id="52" name="Shape 50"/>
          <p:cNvSpPr/>
          <p:nvPr/>
        </p:nvSpPr>
        <p:spPr>
          <a:xfrm>
            <a:off x="640080" y="5513832"/>
            <a:ext cx="1371600" cy="786384"/>
          </a:xfrm>
          <a:prstGeom prst="roundRect">
            <a:avLst>
              <a:gd name="adj" fmla="val 6977"/>
            </a:avLst>
          </a:prstGeom>
          <a:solidFill>
            <a:srgbClr val="C0552F"/>
          </a:solidFill>
          <a:ln/>
        </p:spPr>
      </p:sp>
      <p:sp>
        <p:nvSpPr>
          <p:cNvPr id="53" name="Text 51"/>
          <p:cNvSpPr/>
          <p:nvPr/>
        </p:nvSpPr>
        <p:spPr>
          <a:xfrm>
            <a:off x="640080" y="5513832"/>
            <a:ext cx="1371600" cy="78638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Pentahouse helps</a:t>
            </a:r>
            <a:endParaRPr lang="en-US" sz="1050" dirty="0"/>
          </a:p>
        </p:txBody>
      </p:sp>
      <p:sp>
        <p:nvSpPr>
          <p:cNvPr id="54" name="Shape 52"/>
          <p:cNvSpPr/>
          <p:nvPr/>
        </p:nvSpPr>
        <p:spPr>
          <a:xfrm>
            <a:off x="2148840" y="5513832"/>
            <a:ext cx="2267712" cy="786384"/>
          </a:xfrm>
          <a:prstGeom prst="roundRect">
            <a:avLst>
              <a:gd name="adj" fmla="val 5814"/>
            </a:avLst>
          </a:prstGeom>
          <a:solidFill>
            <a:srgbClr val="FFFFFF"/>
          </a:solidFill>
          <a:ln w="12700">
            <a:solidFill>
              <a:srgbClr val="E4DBCB"/>
            </a:solidFill>
            <a:prstDash val="solid"/>
          </a:ln>
        </p:spPr>
      </p:sp>
      <p:sp>
        <p:nvSpPr>
          <p:cNvPr id="55" name="Text 53"/>
          <p:cNvSpPr/>
          <p:nvPr/>
        </p:nvSpPr>
        <p:spPr>
          <a:xfrm>
            <a:off x="2267712" y="5513832"/>
            <a:ext cx="2029968" cy="786384"/>
          </a:xfrm>
          <a:prstGeom prst="rect">
            <a:avLst/>
          </a:prstGeom>
          <a:noFill/>
          <a:ln/>
        </p:spPr>
        <p:txBody>
          <a:bodyPr wrap="square" rtlCol="0" anchor="ctr"/>
          <a:lstStyle/>
          <a:p>
            <a:pPr indent="0" marL="0">
              <a:lnSpc>
                <a:spcPts val="1150"/>
              </a:lnSpc>
              <a:buNone/>
            </a:pPr>
            <a:r>
              <a:rPr lang="en-US" sz="950" b="1" dirty="0">
                <a:solidFill>
                  <a:srgbClr val="8F3D20"/>
                </a:solidFill>
                <a:latin typeface="Calibri" pitchFamily="34" charset="0"/>
                <a:ea typeface="Calibri" pitchFamily="34" charset="-122"/>
                <a:cs typeface="Calibri" pitchFamily="34" charset="-120"/>
              </a:rPr>
              <a:t>Scored in seconds,</a:t>
            </a:r>
            <a:endParaRPr lang="en-US" sz="950" dirty="0"/>
          </a:p>
          <a:p>
            <a:pPr indent="0" marL="0">
              <a:lnSpc>
                <a:spcPts val="1150"/>
              </a:lnSpc>
              <a:buNone/>
            </a:pPr>
            <a:r>
              <a:rPr lang="en-US" sz="950" b="1" dirty="0">
                <a:solidFill>
                  <a:srgbClr val="8F3D20"/>
                </a:solidFill>
                <a:latin typeface="Calibri" pitchFamily="34" charset="0"/>
                <a:ea typeface="Calibri" pitchFamily="34" charset="-122"/>
                <a:cs typeface="Calibri" pitchFamily="34" charset="-120"/>
              </a:rPr>
              <a:t>never dropped</a:t>
            </a:r>
            <a:endParaRPr lang="en-US" sz="950" dirty="0"/>
          </a:p>
        </p:txBody>
      </p:sp>
      <p:sp>
        <p:nvSpPr>
          <p:cNvPr id="56" name="Shape 54"/>
          <p:cNvSpPr/>
          <p:nvPr/>
        </p:nvSpPr>
        <p:spPr>
          <a:xfrm>
            <a:off x="4517136" y="5513832"/>
            <a:ext cx="2267712" cy="786384"/>
          </a:xfrm>
          <a:prstGeom prst="roundRect">
            <a:avLst>
              <a:gd name="adj" fmla="val 5814"/>
            </a:avLst>
          </a:prstGeom>
          <a:solidFill>
            <a:srgbClr val="FFFFFF"/>
          </a:solidFill>
          <a:ln w="12700">
            <a:solidFill>
              <a:srgbClr val="E4DBCB"/>
            </a:solidFill>
            <a:prstDash val="solid"/>
          </a:ln>
        </p:spPr>
      </p:sp>
      <p:sp>
        <p:nvSpPr>
          <p:cNvPr id="57" name="Text 55"/>
          <p:cNvSpPr/>
          <p:nvPr/>
        </p:nvSpPr>
        <p:spPr>
          <a:xfrm>
            <a:off x="4636008" y="5513832"/>
            <a:ext cx="2029968" cy="786384"/>
          </a:xfrm>
          <a:prstGeom prst="rect">
            <a:avLst/>
          </a:prstGeom>
          <a:noFill/>
          <a:ln/>
        </p:spPr>
        <p:txBody>
          <a:bodyPr wrap="square" rtlCol="0" anchor="ctr"/>
          <a:lstStyle/>
          <a:p>
            <a:pPr indent="0" marL="0">
              <a:lnSpc>
                <a:spcPts val="1150"/>
              </a:lnSpc>
              <a:buNone/>
            </a:pPr>
            <a:r>
              <a:rPr lang="en-US" sz="950" b="1" dirty="0">
                <a:solidFill>
                  <a:srgbClr val="8F3D20"/>
                </a:solidFill>
                <a:latin typeface="Calibri" pitchFamily="34" charset="0"/>
                <a:ea typeface="Calibri" pitchFamily="34" charset="-122"/>
                <a:cs typeface="Calibri" pitchFamily="34" charset="-120"/>
              </a:rPr>
              <a:t>One smart question</a:t>
            </a:r>
            <a:endParaRPr lang="en-US" sz="950" dirty="0"/>
          </a:p>
          <a:p>
            <a:pPr indent="0" marL="0">
              <a:lnSpc>
                <a:spcPts val="1150"/>
              </a:lnSpc>
              <a:buNone/>
            </a:pPr>
            <a:r>
              <a:rPr lang="en-US" sz="950" b="1" dirty="0">
                <a:solidFill>
                  <a:srgbClr val="8F3D20"/>
                </a:solidFill>
                <a:latin typeface="Calibri" pitchFamily="34" charset="0"/>
                <a:ea typeface="Calibri" pitchFamily="34" charset="-122"/>
                <a:cs typeface="Calibri" pitchFamily="34" charset="-120"/>
              </a:rPr>
              <a:t>fills the gaps</a:t>
            </a:r>
            <a:endParaRPr lang="en-US" sz="950" dirty="0"/>
          </a:p>
        </p:txBody>
      </p:sp>
      <p:sp>
        <p:nvSpPr>
          <p:cNvPr id="58" name="Shape 56"/>
          <p:cNvSpPr/>
          <p:nvPr/>
        </p:nvSpPr>
        <p:spPr>
          <a:xfrm>
            <a:off x="6885432" y="5513832"/>
            <a:ext cx="2267712" cy="786384"/>
          </a:xfrm>
          <a:prstGeom prst="roundRect">
            <a:avLst>
              <a:gd name="adj" fmla="val 5814"/>
            </a:avLst>
          </a:prstGeom>
          <a:solidFill>
            <a:srgbClr val="FFFFFF"/>
          </a:solidFill>
          <a:ln w="12700">
            <a:solidFill>
              <a:srgbClr val="E4DBCB"/>
            </a:solidFill>
            <a:prstDash val="solid"/>
          </a:ln>
        </p:spPr>
      </p:sp>
      <p:sp>
        <p:nvSpPr>
          <p:cNvPr id="59" name="Text 57"/>
          <p:cNvSpPr/>
          <p:nvPr/>
        </p:nvSpPr>
        <p:spPr>
          <a:xfrm>
            <a:off x="7004304" y="5513832"/>
            <a:ext cx="2029968" cy="786384"/>
          </a:xfrm>
          <a:prstGeom prst="rect">
            <a:avLst/>
          </a:prstGeom>
          <a:noFill/>
          <a:ln/>
        </p:spPr>
        <p:txBody>
          <a:bodyPr wrap="square" rtlCol="0" anchor="ctr"/>
          <a:lstStyle/>
          <a:p>
            <a:pPr indent="0" marL="0">
              <a:lnSpc>
                <a:spcPts val="1150"/>
              </a:lnSpc>
              <a:buNone/>
            </a:pPr>
            <a:r>
              <a:rPr lang="en-US" sz="950" b="1" dirty="0">
                <a:solidFill>
                  <a:srgbClr val="8F3D20"/>
                </a:solidFill>
                <a:latin typeface="Calibri" pitchFamily="34" charset="0"/>
                <a:ea typeface="Calibri" pitchFamily="34" charset="-122"/>
                <a:cs typeface="Calibri" pitchFamily="34" charset="-120"/>
              </a:rPr>
              <a:t>Rep-approved, timely;</a:t>
            </a:r>
            <a:endParaRPr lang="en-US" sz="950" dirty="0"/>
          </a:p>
          <a:p>
            <a:pPr indent="0" marL="0">
              <a:lnSpc>
                <a:spcPts val="1150"/>
              </a:lnSpc>
              <a:buNone/>
            </a:pPr>
            <a:r>
              <a:rPr lang="en-US" sz="950" b="1" dirty="0">
                <a:solidFill>
                  <a:srgbClr val="8F3D20"/>
                </a:solidFill>
                <a:latin typeface="Calibri" pitchFamily="34" charset="0"/>
                <a:ea typeface="Calibri" pitchFamily="34" charset="-122"/>
                <a:cs typeface="Calibri" pitchFamily="34" charset="-120"/>
              </a:rPr>
              <a:t>auto visit + reminders</a:t>
            </a:r>
            <a:endParaRPr lang="en-US" sz="950" dirty="0"/>
          </a:p>
        </p:txBody>
      </p:sp>
      <p:sp>
        <p:nvSpPr>
          <p:cNvPr id="60" name="Shape 58"/>
          <p:cNvSpPr/>
          <p:nvPr/>
        </p:nvSpPr>
        <p:spPr>
          <a:xfrm>
            <a:off x="9253728" y="5513832"/>
            <a:ext cx="2267712" cy="786384"/>
          </a:xfrm>
          <a:prstGeom prst="roundRect">
            <a:avLst>
              <a:gd name="adj" fmla="val 5814"/>
            </a:avLst>
          </a:prstGeom>
          <a:solidFill>
            <a:srgbClr val="FFFFFF"/>
          </a:solidFill>
          <a:ln w="12700">
            <a:solidFill>
              <a:srgbClr val="E4DBCB"/>
            </a:solidFill>
            <a:prstDash val="solid"/>
          </a:ln>
        </p:spPr>
      </p:sp>
      <p:sp>
        <p:nvSpPr>
          <p:cNvPr id="61" name="Text 59"/>
          <p:cNvSpPr/>
          <p:nvPr/>
        </p:nvSpPr>
        <p:spPr>
          <a:xfrm>
            <a:off x="9372600" y="5513832"/>
            <a:ext cx="2029968" cy="786384"/>
          </a:xfrm>
          <a:prstGeom prst="rect">
            <a:avLst/>
          </a:prstGeom>
          <a:noFill/>
          <a:ln/>
        </p:spPr>
        <p:txBody>
          <a:bodyPr wrap="square" rtlCol="0" anchor="ctr"/>
          <a:lstStyle/>
          <a:p>
            <a:pPr indent="0" marL="0">
              <a:lnSpc>
                <a:spcPts val="1150"/>
              </a:lnSpc>
              <a:buNone/>
            </a:pPr>
            <a:r>
              <a:rPr lang="en-US" sz="950" b="1" dirty="0">
                <a:solidFill>
                  <a:srgbClr val="8F3D20"/>
                </a:solidFill>
                <a:latin typeface="Calibri" pitchFamily="34" charset="0"/>
                <a:ea typeface="Calibri" pitchFamily="34" charset="-122"/>
                <a:cs typeface="Calibri" pitchFamily="34" charset="-120"/>
              </a:rPr>
              <a:t>Objection captured,</a:t>
            </a:r>
            <a:endParaRPr lang="en-US" sz="950" dirty="0"/>
          </a:p>
          <a:p>
            <a:pPr indent="0" marL="0">
              <a:lnSpc>
                <a:spcPts val="1150"/>
              </a:lnSpc>
              <a:buNone/>
            </a:pPr>
            <a:r>
              <a:rPr lang="en-US" sz="950" b="1" dirty="0">
                <a:solidFill>
                  <a:srgbClr val="8F3D20"/>
                </a:solidFill>
                <a:latin typeface="Calibri" pitchFamily="34" charset="0"/>
                <a:ea typeface="Calibri" pitchFamily="34" charset="-122"/>
                <a:cs typeface="Calibri" pitchFamily="34" charset="-120"/>
              </a:rPr>
              <a:t>booking attributed</a:t>
            </a:r>
            <a:endParaRPr lang="en-US" sz="950" dirty="0"/>
          </a:p>
        </p:txBody>
      </p:sp>
      <p:sp>
        <p:nvSpPr>
          <p:cNvPr id="62" name="Text 60"/>
          <p:cNvSpPr/>
          <p:nvPr/>
        </p:nvSpPr>
        <p:spPr>
          <a:xfrm>
            <a:off x="640080" y="6446520"/>
            <a:ext cx="2743200" cy="274320"/>
          </a:xfrm>
          <a:prstGeom prst="rect">
            <a:avLst/>
          </a:prstGeom>
          <a:noFill/>
          <a:ln/>
        </p:spPr>
        <p:txBody>
          <a:bodyPr wrap="square" rtlCol="0" anchor="ctr"/>
          <a:lstStyle/>
          <a:p>
            <a:pPr indent="0" marL="0">
              <a:buNone/>
            </a:pPr>
            <a:r>
              <a:rPr lang="en-US" sz="1000" i="1" dirty="0">
                <a:solidFill>
                  <a:srgbClr val="6F685E"/>
                </a:solidFill>
                <a:latin typeface="Georgia" pitchFamily="34" charset="0"/>
                <a:ea typeface="Georgia" pitchFamily="34" charset="-122"/>
                <a:cs typeface="Georgia" pitchFamily="34" charset="-120"/>
              </a:rPr>
              <a:t>Pentahouse</a:t>
            </a:r>
            <a:endParaRPr lang="en-US" sz="1000" dirty="0"/>
          </a:p>
        </p:txBody>
      </p:sp>
      <p:sp>
        <p:nvSpPr>
          <p:cNvPr id="63" name="Text 61"/>
          <p:cNvSpPr/>
          <p:nvPr/>
        </p:nvSpPr>
        <p:spPr>
          <a:xfrm>
            <a:off x="11091672" y="6446520"/>
            <a:ext cx="457200" cy="274320"/>
          </a:xfrm>
          <a:prstGeom prst="rect">
            <a:avLst/>
          </a:prstGeom>
          <a:noFill/>
          <a:ln/>
        </p:spPr>
        <p:txBody>
          <a:bodyPr wrap="square" rtlCol="0" anchor="ctr"/>
          <a:lstStyle/>
          <a:p>
            <a:pPr algn="r" indent="0" marL="0">
              <a:buNone/>
            </a:pPr>
            <a:r>
              <a:rPr lang="en-US" sz="1000" dirty="0">
                <a:solidFill>
                  <a:srgbClr val="6F685E"/>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01E1B"/>
        </a:solidFill>
      </p:bgPr>
    </p:bg>
    <p:spTree>
      <p:nvGrpSpPr>
        <p:cNvPr id="1" name=""/>
        <p:cNvGrpSpPr/>
        <p:nvPr/>
      </p:nvGrpSpPr>
      <p:grpSpPr>
        <a:xfrm>
          <a:off x="0" y="0"/>
          <a:ext cx="0" cy="0"/>
          <a:chOff x="0" y="0"/>
          <a:chExt cx="0" cy="0"/>
        </a:xfrm>
      </p:grpSpPr>
      <p:sp>
        <p:nvSpPr>
          <p:cNvPr id="2" name="Text 0"/>
          <p:cNvSpPr/>
          <p:nvPr/>
        </p:nvSpPr>
        <p:spPr>
          <a:xfrm>
            <a:off x="640080" y="502920"/>
            <a:ext cx="10908792" cy="274320"/>
          </a:xfrm>
          <a:prstGeom prst="rect">
            <a:avLst/>
          </a:prstGeom>
          <a:noFill/>
          <a:ln/>
        </p:spPr>
        <p:txBody>
          <a:bodyPr wrap="square" rtlCol="0" anchor="ctr"/>
          <a:lstStyle/>
          <a:p>
            <a:pPr indent="0" marL="0">
              <a:buNone/>
            </a:pPr>
            <a:r>
              <a:rPr lang="en-US" sz="1200" b="1" spc="300" kern="0" dirty="0">
                <a:solidFill>
                  <a:srgbClr val="E7D9BD"/>
                </a:solidFill>
                <a:latin typeface="Calibri" pitchFamily="34" charset="0"/>
                <a:ea typeface="Calibri" pitchFamily="34" charset="-122"/>
                <a:cs typeface="Calibri" pitchFamily="34" charset="-120"/>
              </a:rPr>
              <a:t>THE MOAT</a:t>
            </a:r>
            <a:endParaRPr lang="en-US" sz="1200" dirty="0"/>
          </a:p>
        </p:txBody>
      </p:sp>
      <p:sp>
        <p:nvSpPr>
          <p:cNvPr id="3" name="Text 1"/>
          <p:cNvSpPr/>
          <p:nvPr/>
        </p:nvSpPr>
        <p:spPr>
          <a:xfrm>
            <a:off x="640080" y="822960"/>
            <a:ext cx="10908792" cy="1005840"/>
          </a:xfrm>
          <a:prstGeom prst="rect">
            <a:avLst/>
          </a:prstGeom>
          <a:noFill/>
          <a:ln/>
        </p:spPr>
        <p:txBody>
          <a:bodyPr wrap="square" rtlCol="0" anchor="ctr"/>
          <a:lstStyle/>
          <a:p>
            <a:pPr indent="0" marL="0">
              <a:lnSpc>
                <a:spcPts val="3465"/>
              </a:lnSpc>
              <a:buNone/>
            </a:pPr>
            <a:r>
              <a:rPr lang="en-US" sz="3300" b="1" dirty="0">
                <a:solidFill>
                  <a:srgbClr val="FFFFFF"/>
                </a:solidFill>
                <a:latin typeface="Georgia" pitchFamily="34" charset="0"/>
                <a:ea typeface="Georgia" pitchFamily="34" charset="-122"/>
                <a:cs typeface="Georgia" pitchFamily="34" charset="-120"/>
              </a:rPr>
              <a:t>The Lead Agent is the defensible core</a:t>
            </a:r>
            <a:endParaRPr lang="en-US" sz="3300" dirty="0"/>
          </a:p>
        </p:txBody>
      </p:sp>
      <p:sp>
        <p:nvSpPr>
          <p:cNvPr id="4" name="Shape 2"/>
          <p:cNvSpPr/>
          <p:nvPr/>
        </p:nvSpPr>
        <p:spPr>
          <a:xfrm>
            <a:off x="640080" y="2286000"/>
            <a:ext cx="64008" cy="1371600"/>
          </a:xfrm>
          <a:prstGeom prst="rect">
            <a:avLst/>
          </a:prstGeom>
          <a:solidFill>
            <a:srgbClr val="C0552F"/>
          </a:solidFill>
          <a:ln/>
        </p:spPr>
      </p:sp>
      <p:sp>
        <p:nvSpPr>
          <p:cNvPr id="5" name="Text 3"/>
          <p:cNvSpPr/>
          <p:nvPr/>
        </p:nvSpPr>
        <p:spPr>
          <a:xfrm>
            <a:off x="914400" y="2304288"/>
            <a:ext cx="4937760" cy="411480"/>
          </a:xfrm>
          <a:prstGeom prst="rect">
            <a:avLst/>
          </a:prstGeom>
          <a:noFill/>
          <a:ln/>
        </p:spPr>
        <p:txBody>
          <a:bodyPr wrap="square"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Retrieval-grounded</a:t>
            </a:r>
            <a:endParaRPr lang="en-US" sz="1900" dirty="0"/>
          </a:p>
        </p:txBody>
      </p:sp>
      <p:sp>
        <p:nvSpPr>
          <p:cNvPr id="6" name="Text 4"/>
          <p:cNvSpPr/>
          <p:nvPr/>
        </p:nvSpPr>
        <p:spPr>
          <a:xfrm>
            <a:off x="914400" y="2788920"/>
            <a:ext cx="5029200" cy="868680"/>
          </a:xfrm>
          <a:prstGeom prst="rect">
            <a:avLst/>
          </a:prstGeom>
          <a:noFill/>
          <a:ln/>
        </p:spPr>
        <p:txBody>
          <a:bodyPr wrap="square" rtlCol="0" anchor="ctr"/>
          <a:lstStyle/>
          <a:p>
            <a:pPr indent="0" marL="0">
              <a:lnSpc>
                <a:spcPts val="1800"/>
              </a:lnSpc>
              <a:buNone/>
            </a:pPr>
            <a:r>
              <a:rPr lang="en-US" sz="1300" dirty="0">
                <a:solidFill>
                  <a:srgbClr val="C7BEB2"/>
                </a:solidFill>
                <a:latin typeface="Calibri" pitchFamily="34" charset="0"/>
                <a:ea typeface="Calibri" pitchFamily="34" charset="-122"/>
                <a:cs typeface="Calibri" pitchFamily="34" charset="-120"/>
              </a:rPr>
              <a:t>Embeds each inquiry and matches live inventory with pgvector — never invents a project.</a:t>
            </a:r>
            <a:endParaRPr lang="en-US" sz="1300" dirty="0"/>
          </a:p>
        </p:txBody>
      </p:sp>
      <p:sp>
        <p:nvSpPr>
          <p:cNvPr id="7" name="Shape 5"/>
          <p:cNvSpPr/>
          <p:nvPr/>
        </p:nvSpPr>
        <p:spPr>
          <a:xfrm>
            <a:off x="6172200" y="2286000"/>
            <a:ext cx="64008" cy="1371600"/>
          </a:xfrm>
          <a:prstGeom prst="rect">
            <a:avLst/>
          </a:prstGeom>
          <a:solidFill>
            <a:srgbClr val="C0552F"/>
          </a:solidFill>
          <a:ln/>
        </p:spPr>
      </p:sp>
      <p:sp>
        <p:nvSpPr>
          <p:cNvPr id="8" name="Text 6"/>
          <p:cNvSpPr/>
          <p:nvPr/>
        </p:nvSpPr>
        <p:spPr>
          <a:xfrm>
            <a:off x="6446520" y="2304288"/>
            <a:ext cx="4937760" cy="411480"/>
          </a:xfrm>
          <a:prstGeom prst="rect">
            <a:avLst/>
          </a:prstGeom>
          <a:noFill/>
          <a:ln/>
        </p:spPr>
        <p:txBody>
          <a:bodyPr wrap="square"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Explainable</a:t>
            </a:r>
            <a:endParaRPr lang="en-US" sz="1900" dirty="0"/>
          </a:p>
        </p:txBody>
      </p:sp>
      <p:sp>
        <p:nvSpPr>
          <p:cNvPr id="9" name="Text 7"/>
          <p:cNvSpPr/>
          <p:nvPr/>
        </p:nvSpPr>
        <p:spPr>
          <a:xfrm>
            <a:off x="6446520" y="2788920"/>
            <a:ext cx="5029200" cy="868680"/>
          </a:xfrm>
          <a:prstGeom prst="rect">
            <a:avLst/>
          </a:prstGeom>
          <a:noFill/>
          <a:ln/>
        </p:spPr>
        <p:txBody>
          <a:bodyPr wrap="square" rtlCol="0" anchor="ctr"/>
          <a:lstStyle/>
          <a:p>
            <a:pPr indent="0" marL="0">
              <a:lnSpc>
                <a:spcPts val="1800"/>
              </a:lnSpc>
              <a:buNone/>
            </a:pPr>
            <a:r>
              <a:rPr lang="en-US" sz="1300" dirty="0">
                <a:solidFill>
                  <a:srgbClr val="C7BEB2"/>
                </a:solidFill>
                <a:latin typeface="Calibri" pitchFamily="34" charset="0"/>
                <a:ea typeface="Calibri" pitchFamily="34" charset="-122"/>
                <a:cs typeface="Calibri" pitchFamily="34" charset="-120"/>
              </a:rPr>
              <a:t>Fit, Urgency and Visit-readiness, each with a plain-language reason a rep can trust.</a:t>
            </a:r>
            <a:endParaRPr lang="en-US" sz="1300" dirty="0"/>
          </a:p>
        </p:txBody>
      </p:sp>
      <p:sp>
        <p:nvSpPr>
          <p:cNvPr id="10" name="Shape 8"/>
          <p:cNvSpPr/>
          <p:nvPr/>
        </p:nvSpPr>
        <p:spPr>
          <a:xfrm>
            <a:off x="640080" y="4069080"/>
            <a:ext cx="64008" cy="1371600"/>
          </a:xfrm>
          <a:prstGeom prst="rect">
            <a:avLst/>
          </a:prstGeom>
          <a:solidFill>
            <a:srgbClr val="C0552F"/>
          </a:solidFill>
          <a:ln/>
        </p:spPr>
      </p:sp>
      <p:sp>
        <p:nvSpPr>
          <p:cNvPr id="11" name="Text 9"/>
          <p:cNvSpPr/>
          <p:nvPr/>
        </p:nvSpPr>
        <p:spPr>
          <a:xfrm>
            <a:off x="914400" y="4087368"/>
            <a:ext cx="4937760" cy="411480"/>
          </a:xfrm>
          <a:prstGeom prst="rect">
            <a:avLst/>
          </a:prstGeom>
          <a:noFill/>
          <a:ln/>
        </p:spPr>
        <p:txBody>
          <a:bodyPr wrap="square"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Resilient</a:t>
            </a:r>
            <a:endParaRPr lang="en-US" sz="1900" dirty="0"/>
          </a:p>
        </p:txBody>
      </p:sp>
      <p:sp>
        <p:nvSpPr>
          <p:cNvPr id="12" name="Text 10"/>
          <p:cNvSpPr/>
          <p:nvPr/>
        </p:nvSpPr>
        <p:spPr>
          <a:xfrm>
            <a:off x="914400" y="4572000"/>
            <a:ext cx="5029200" cy="868680"/>
          </a:xfrm>
          <a:prstGeom prst="rect">
            <a:avLst/>
          </a:prstGeom>
          <a:noFill/>
          <a:ln/>
        </p:spPr>
        <p:txBody>
          <a:bodyPr wrap="square" rtlCol="0" anchor="ctr"/>
          <a:lstStyle/>
          <a:p>
            <a:pPr indent="0" marL="0">
              <a:lnSpc>
                <a:spcPts val="1800"/>
              </a:lnSpc>
              <a:buNone/>
            </a:pPr>
            <a:r>
              <a:rPr lang="en-US" sz="1300" dirty="0">
                <a:solidFill>
                  <a:srgbClr val="C7BEB2"/>
                </a:solidFill>
                <a:latin typeface="Calibri" pitchFamily="34" charset="0"/>
                <a:ea typeface="Calibri" pitchFamily="34" charset="-122"/>
                <a:cs typeface="Calibri" pitchFamily="34" charset="-120"/>
              </a:rPr>
              <a:t>A four-model fallback chain (Flash to Flash to Flash-Lite to Pro) survives free-tier limits.</a:t>
            </a:r>
            <a:endParaRPr lang="en-US" sz="1300" dirty="0"/>
          </a:p>
        </p:txBody>
      </p:sp>
      <p:sp>
        <p:nvSpPr>
          <p:cNvPr id="13" name="Shape 11"/>
          <p:cNvSpPr/>
          <p:nvPr/>
        </p:nvSpPr>
        <p:spPr>
          <a:xfrm>
            <a:off x="6172200" y="4069080"/>
            <a:ext cx="64008" cy="1371600"/>
          </a:xfrm>
          <a:prstGeom prst="rect">
            <a:avLst/>
          </a:prstGeom>
          <a:solidFill>
            <a:srgbClr val="C0552F"/>
          </a:solidFill>
          <a:ln/>
        </p:spPr>
      </p:sp>
      <p:sp>
        <p:nvSpPr>
          <p:cNvPr id="14" name="Text 12"/>
          <p:cNvSpPr/>
          <p:nvPr/>
        </p:nvSpPr>
        <p:spPr>
          <a:xfrm>
            <a:off x="6446520" y="4087368"/>
            <a:ext cx="4937760" cy="411480"/>
          </a:xfrm>
          <a:prstGeom prst="rect">
            <a:avLst/>
          </a:prstGeom>
          <a:noFill/>
          <a:ln/>
        </p:spPr>
        <p:txBody>
          <a:bodyPr wrap="square"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Decisive</a:t>
            </a:r>
            <a:endParaRPr lang="en-US" sz="1900" dirty="0"/>
          </a:p>
        </p:txBody>
      </p:sp>
      <p:sp>
        <p:nvSpPr>
          <p:cNvPr id="15" name="Text 13"/>
          <p:cNvSpPr/>
          <p:nvPr/>
        </p:nvSpPr>
        <p:spPr>
          <a:xfrm>
            <a:off x="6446520" y="4572000"/>
            <a:ext cx="5029200" cy="868680"/>
          </a:xfrm>
          <a:prstGeom prst="rect">
            <a:avLst/>
          </a:prstGeom>
          <a:noFill/>
          <a:ln/>
        </p:spPr>
        <p:txBody>
          <a:bodyPr wrap="square" rtlCol="0" anchor="ctr"/>
          <a:lstStyle/>
          <a:p>
            <a:pPr indent="0" marL="0">
              <a:lnSpc>
                <a:spcPts val="1800"/>
              </a:lnSpc>
              <a:buNone/>
            </a:pPr>
            <a:r>
              <a:rPr lang="en-US" sz="1300" dirty="0">
                <a:solidFill>
                  <a:srgbClr val="C7BEB2"/>
                </a:solidFill>
                <a:latin typeface="Calibri" pitchFamily="34" charset="0"/>
                <a:ea typeface="Calibri" pitchFamily="34" charset="-122"/>
                <a:cs typeface="Calibri" pitchFamily="34" charset="-120"/>
              </a:rPr>
              <a:t>Routes every lead to activate, ask for more, or escalate — a small state machine, not a guess.</a:t>
            </a:r>
            <a:endParaRPr lang="en-US" sz="1300" dirty="0"/>
          </a:p>
        </p:txBody>
      </p:sp>
      <p:sp>
        <p:nvSpPr>
          <p:cNvPr id="16" name="Text 14"/>
          <p:cNvSpPr/>
          <p:nvPr/>
        </p:nvSpPr>
        <p:spPr>
          <a:xfrm>
            <a:off x="640080" y="5989320"/>
            <a:ext cx="10908792" cy="365760"/>
          </a:xfrm>
          <a:prstGeom prst="rect">
            <a:avLst/>
          </a:prstGeom>
          <a:noFill/>
          <a:ln/>
        </p:spPr>
        <p:txBody>
          <a:bodyPr wrap="square" rtlCol="0" anchor="ctr"/>
          <a:lstStyle/>
          <a:p>
            <a:pPr indent="0" marL="0">
              <a:buNone/>
            </a:pPr>
            <a:r>
              <a:rPr lang="en-US" sz="1500" i="1" dirty="0">
                <a:solidFill>
                  <a:srgbClr val="E7D9BD"/>
                </a:solidFill>
                <a:latin typeface="Georgia" pitchFamily="34" charset="0"/>
                <a:ea typeface="Georgia" pitchFamily="34" charset="-122"/>
                <a:cs typeface="Georgia" pitchFamily="34" charset="-120"/>
              </a:rPr>
              <a:t>"The conversion intelligence is the moat — not the WhatsApp template."</a:t>
            </a:r>
            <a:endParaRPr lang="en-US" sz="1500" dirty="0"/>
          </a:p>
        </p:txBody>
      </p:sp>
      <p:sp>
        <p:nvSpPr>
          <p:cNvPr id="17" name="Text 15"/>
          <p:cNvSpPr/>
          <p:nvPr/>
        </p:nvSpPr>
        <p:spPr>
          <a:xfrm>
            <a:off x="640080" y="6446520"/>
            <a:ext cx="2743200" cy="274320"/>
          </a:xfrm>
          <a:prstGeom prst="rect">
            <a:avLst/>
          </a:prstGeom>
          <a:noFill/>
          <a:ln/>
        </p:spPr>
        <p:txBody>
          <a:bodyPr wrap="square" rtlCol="0" anchor="ctr"/>
          <a:lstStyle/>
          <a:p>
            <a:pPr indent="0" marL="0">
              <a:buNone/>
            </a:pPr>
            <a:r>
              <a:rPr lang="en-US" sz="1000" i="1" dirty="0">
                <a:solidFill>
                  <a:srgbClr val="8A8278"/>
                </a:solidFill>
                <a:latin typeface="Georgia" pitchFamily="34" charset="0"/>
                <a:ea typeface="Georgia" pitchFamily="34" charset="-122"/>
                <a:cs typeface="Georgia" pitchFamily="34" charset="-120"/>
              </a:rPr>
              <a:t>Pentahouse</a:t>
            </a:r>
            <a:endParaRPr lang="en-US" sz="1000" dirty="0"/>
          </a:p>
        </p:txBody>
      </p:sp>
      <p:sp>
        <p:nvSpPr>
          <p:cNvPr id="18" name="Text 16"/>
          <p:cNvSpPr/>
          <p:nvPr/>
        </p:nvSpPr>
        <p:spPr>
          <a:xfrm>
            <a:off x="11091672" y="6446520"/>
            <a:ext cx="457200" cy="274320"/>
          </a:xfrm>
          <a:prstGeom prst="rect">
            <a:avLst/>
          </a:prstGeom>
          <a:noFill/>
          <a:ln/>
        </p:spPr>
        <p:txBody>
          <a:bodyPr wrap="square" rtlCol="0" anchor="ctr"/>
          <a:lstStyle/>
          <a:p>
            <a:pPr algn="r" indent="0" marL="0">
              <a:buNone/>
            </a:pPr>
            <a:r>
              <a:rPr lang="en-US" sz="1000" dirty="0">
                <a:solidFill>
                  <a:srgbClr val="8A827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4EC"/>
        </a:solidFill>
      </p:bgPr>
    </p:bg>
    <p:spTree>
      <p:nvGrpSpPr>
        <p:cNvPr id="1" name=""/>
        <p:cNvGrpSpPr/>
        <p:nvPr/>
      </p:nvGrpSpPr>
      <p:grpSpPr>
        <a:xfrm>
          <a:off x="0" y="0"/>
          <a:ext cx="0" cy="0"/>
          <a:chOff x="0" y="0"/>
          <a:chExt cx="0" cy="0"/>
        </a:xfrm>
      </p:grpSpPr>
      <p:sp>
        <p:nvSpPr>
          <p:cNvPr id="2" name="Text 0"/>
          <p:cNvSpPr/>
          <p:nvPr/>
        </p:nvSpPr>
        <p:spPr>
          <a:xfrm>
            <a:off x="640080" y="502920"/>
            <a:ext cx="10908792" cy="274320"/>
          </a:xfrm>
          <a:prstGeom prst="rect">
            <a:avLst/>
          </a:prstGeom>
          <a:noFill/>
          <a:ln/>
        </p:spPr>
        <p:txBody>
          <a:bodyPr wrap="square" rtlCol="0" anchor="ctr"/>
          <a:lstStyle/>
          <a:p>
            <a:pPr indent="0" marL="0">
              <a:buNone/>
            </a:pPr>
            <a:r>
              <a:rPr lang="en-US" sz="1200" b="1" spc="300" kern="0" dirty="0">
                <a:solidFill>
                  <a:srgbClr val="C0552F"/>
                </a:solidFill>
                <a:latin typeface="Calibri" pitchFamily="34" charset="0"/>
                <a:ea typeface="Calibri" pitchFamily="34" charset="-122"/>
                <a:cs typeface="Calibri" pitchFamily="34" charset="-120"/>
              </a:rPr>
              <a:t>CORE FLOW</a:t>
            </a:r>
            <a:endParaRPr lang="en-US" sz="1200" dirty="0"/>
          </a:p>
        </p:txBody>
      </p:sp>
      <p:sp>
        <p:nvSpPr>
          <p:cNvPr id="3" name="Text 1"/>
          <p:cNvSpPr/>
          <p:nvPr/>
        </p:nvSpPr>
        <p:spPr>
          <a:xfrm>
            <a:off x="640080" y="822960"/>
            <a:ext cx="10908792" cy="1005840"/>
          </a:xfrm>
          <a:prstGeom prst="rect">
            <a:avLst/>
          </a:prstGeom>
          <a:noFill/>
          <a:ln/>
        </p:spPr>
        <p:txBody>
          <a:bodyPr wrap="square" rtlCol="0" anchor="ctr"/>
          <a:lstStyle/>
          <a:p>
            <a:pPr indent="0" marL="0">
              <a:lnSpc>
                <a:spcPts val="3465"/>
              </a:lnSpc>
              <a:buNone/>
            </a:pPr>
            <a:r>
              <a:rPr lang="en-US" sz="3300" b="1" dirty="0">
                <a:solidFill>
                  <a:srgbClr val="201E1B"/>
                </a:solidFill>
                <a:latin typeface="Georgia" pitchFamily="34" charset="0"/>
                <a:ea typeface="Georgia" pitchFamily="34" charset="-122"/>
                <a:cs typeface="Georgia" pitchFamily="34" charset="-120"/>
              </a:rPr>
              <a:t>Ad data in, the right question out</a:t>
            </a:r>
            <a:endParaRPr lang="en-US" sz="3300" dirty="0"/>
          </a:p>
        </p:txBody>
      </p:sp>
      <p:sp>
        <p:nvSpPr>
          <p:cNvPr id="4" name="Shape 2"/>
          <p:cNvSpPr/>
          <p:nvPr/>
        </p:nvSpPr>
        <p:spPr>
          <a:xfrm>
            <a:off x="685800" y="2514600"/>
            <a:ext cx="2011680" cy="196596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5" name="Shape 3"/>
          <p:cNvSpPr/>
          <p:nvPr/>
        </p:nvSpPr>
        <p:spPr>
          <a:xfrm>
            <a:off x="685800" y="2514600"/>
            <a:ext cx="64008" cy="1965960"/>
          </a:xfrm>
          <a:prstGeom prst="rect">
            <a:avLst/>
          </a:prstGeom>
          <a:solidFill>
            <a:srgbClr val="5E7261"/>
          </a:solidFill>
          <a:ln/>
        </p:spPr>
      </p:sp>
      <p:sp>
        <p:nvSpPr>
          <p:cNvPr id="6" name="Shape 4"/>
          <p:cNvSpPr/>
          <p:nvPr/>
        </p:nvSpPr>
        <p:spPr>
          <a:xfrm>
            <a:off x="914400" y="2724912"/>
            <a:ext cx="457200" cy="457200"/>
          </a:xfrm>
          <a:prstGeom prst="ellipse">
            <a:avLst/>
          </a:prstGeom>
          <a:solidFill>
            <a:srgbClr val="5E7261"/>
          </a:solidFill>
          <a:ln/>
        </p:spPr>
      </p:sp>
      <p:sp>
        <p:nvSpPr>
          <p:cNvPr id="7" name="Text 5"/>
          <p:cNvSpPr/>
          <p:nvPr/>
        </p:nvSpPr>
        <p:spPr>
          <a:xfrm>
            <a:off x="914400" y="2724912"/>
            <a:ext cx="457200" cy="45720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1</a:t>
            </a:r>
            <a:endParaRPr lang="en-US" sz="1300" dirty="0"/>
          </a:p>
        </p:txBody>
      </p:sp>
      <p:sp>
        <p:nvSpPr>
          <p:cNvPr id="8" name="Text 6"/>
          <p:cNvSpPr/>
          <p:nvPr/>
        </p:nvSpPr>
        <p:spPr>
          <a:xfrm>
            <a:off x="886968" y="3291840"/>
            <a:ext cx="1645920" cy="457200"/>
          </a:xfrm>
          <a:prstGeom prst="rect">
            <a:avLst/>
          </a:prstGeom>
          <a:noFill/>
          <a:ln/>
        </p:spPr>
        <p:txBody>
          <a:bodyPr wrap="square" rtlCol="0" anchor="ctr"/>
          <a:lstStyle/>
          <a:p>
            <a:pPr indent="0" marL="0">
              <a:lnSpc>
                <a:spcPts val="1600"/>
              </a:lnSpc>
              <a:buNone/>
            </a:pPr>
            <a:r>
              <a:rPr lang="en-US" sz="1350" b="1" dirty="0">
                <a:solidFill>
                  <a:srgbClr val="201E1B"/>
                </a:solidFill>
                <a:latin typeface="Calibri" pitchFamily="34" charset="0"/>
                <a:ea typeface="Calibri" pitchFamily="34" charset="-122"/>
                <a:cs typeface="Calibri" pitchFamily="34" charset="-120"/>
              </a:rPr>
              <a:t>Lead arrives</a:t>
            </a:r>
            <a:endParaRPr lang="en-US" sz="1350" dirty="0"/>
          </a:p>
        </p:txBody>
      </p:sp>
      <p:sp>
        <p:nvSpPr>
          <p:cNvPr id="9" name="Text 7"/>
          <p:cNvSpPr/>
          <p:nvPr/>
        </p:nvSpPr>
        <p:spPr>
          <a:xfrm>
            <a:off x="886968" y="3767328"/>
            <a:ext cx="1645920" cy="685800"/>
          </a:xfrm>
          <a:prstGeom prst="rect">
            <a:avLst/>
          </a:prstGeom>
          <a:noFill/>
          <a:ln/>
        </p:spPr>
        <p:txBody>
          <a:bodyPr wrap="square" rtlCol="0" anchor="ctr"/>
          <a:lstStyle/>
          <a:p>
            <a:pPr indent="0" marL="0">
              <a:lnSpc>
                <a:spcPts val="1450"/>
              </a:lnSpc>
              <a:buNone/>
            </a:pPr>
            <a:r>
              <a:rPr lang="en-US" sz="1100" dirty="0">
                <a:solidFill>
                  <a:srgbClr val="2B2722"/>
                </a:solidFill>
                <a:latin typeface="Calibri" pitchFamily="34" charset="0"/>
                <a:ea typeface="Calibri" pitchFamily="34" charset="-122"/>
                <a:cs typeface="Calibri" pitchFamily="34" charset="-120"/>
              </a:rPr>
              <a:t>from a campaign — often with partial details</a:t>
            </a:r>
            <a:endParaRPr lang="en-US" sz="1100" dirty="0"/>
          </a:p>
        </p:txBody>
      </p:sp>
      <p:sp>
        <p:nvSpPr>
          <p:cNvPr id="10" name="Text 8"/>
          <p:cNvSpPr/>
          <p:nvPr/>
        </p:nvSpPr>
        <p:spPr>
          <a:xfrm>
            <a:off x="2679192" y="2514600"/>
            <a:ext cx="283464" cy="1965960"/>
          </a:xfrm>
          <a:prstGeom prst="rect">
            <a:avLst/>
          </a:prstGeom>
          <a:noFill/>
          <a:ln/>
        </p:spPr>
        <p:txBody>
          <a:bodyPr wrap="square" rtlCol="0" anchor="ctr"/>
          <a:lstStyle/>
          <a:p>
            <a:pPr algn="ctr" indent="0" marL="0">
              <a:buNone/>
            </a:pPr>
            <a:r>
              <a:rPr lang="en-US" sz="1600" b="1" dirty="0">
                <a:solidFill>
                  <a:srgbClr val="C0552F"/>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944368" y="2514600"/>
            <a:ext cx="2011680" cy="196596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2" name="Shape 10"/>
          <p:cNvSpPr/>
          <p:nvPr/>
        </p:nvSpPr>
        <p:spPr>
          <a:xfrm>
            <a:off x="2944368" y="2514600"/>
            <a:ext cx="64008" cy="1965960"/>
          </a:xfrm>
          <a:prstGeom prst="rect">
            <a:avLst/>
          </a:prstGeom>
          <a:solidFill>
            <a:srgbClr val="5E7261"/>
          </a:solidFill>
          <a:ln/>
        </p:spPr>
      </p:sp>
      <p:sp>
        <p:nvSpPr>
          <p:cNvPr id="13" name="Shape 11"/>
          <p:cNvSpPr/>
          <p:nvPr/>
        </p:nvSpPr>
        <p:spPr>
          <a:xfrm>
            <a:off x="3172968" y="2724912"/>
            <a:ext cx="457200" cy="457200"/>
          </a:xfrm>
          <a:prstGeom prst="ellipse">
            <a:avLst/>
          </a:prstGeom>
          <a:solidFill>
            <a:srgbClr val="5E7261"/>
          </a:solidFill>
          <a:ln/>
        </p:spPr>
      </p:sp>
      <p:sp>
        <p:nvSpPr>
          <p:cNvPr id="14" name="Text 12"/>
          <p:cNvSpPr/>
          <p:nvPr/>
        </p:nvSpPr>
        <p:spPr>
          <a:xfrm>
            <a:off x="3172968" y="2724912"/>
            <a:ext cx="457200" cy="45720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2</a:t>
            </a:r>
            <a:endParaRPr lang="en-US" sz="1300" dirty="0"/>
          </a:p>
        </p:txBody>
      </p:sp>
      <p:sp>
        <p:nvSpPr>
          <p:cNvPr id="15" name="Text 13"/>
          <p:cNvSpPr/>
          <p:nvPr/>
        </p:nvSpPr>
        <p:spPr>
          <a:xfrm>
            <a:off x="3145536" y="3291840"/>
            <a:ext cx="1645920" cy="457200"/>
          </a:xfrm>
          <a:prstGeom prst="rect">
            <a:avLst/>
          </a:prstGeom>
          <a:noFill/>
          <a:ln/>
        </p:spPr>
        <p:txBody>
          <a:bodyPr wrap="square" rtlCol="0" anchor="ctr"/>
          <a:lstStyle/>
          <a:p>
            <a:pPr indent="0" marL="0">
              <a:lnSpc>
                <a:spcPts val="1600"/>
              </a:lnSpc>
              <a:buNone/>
            </a:pPr>
            <a:r>
              <a:rPr lang="en-US" sz="1350" b="1" dirty="0">
                <a:solidFill>
                  <a:srgbClr val="201E1B"/>
                </a:solidFill>
                <a:latin typeface="Calibri" pitchFamily="34" charset="0"/>
                <a:ea typeface="Calibri" pitchFamily="34" charset="-122"/>
                <a:cs typeface="Calibri" pitchFamily="34" charset="-120"/>
              </a:rPr>
              <a:t>Agent scores it</a:t>
            </a:r>
            <a:endParaRPr lang="en-US" sz="1350" dirty="0"/>
          </a:p>
        </p:txBody>
      </p:sp>
      <p:sp>
        <p:nvSpPr>
          <p:cNvPr id="16" name="Text 14"/>
          <p:cNvSpPr/>
          <p:nvPr/>
        </p:nvSpPr>
        <p:spPr>
          <a:xfrm>
            <a:off x="3145536" y="3767328"/>
            <a:ext cx="1645920" cy="685800"/>
          </a:xfrm>
          <a:prstGeom prst="rect">
            <a:avLst/>
          </a:prstGeom>
          <a:noFill/>
          <a:ln/>
        </p:spPr>
        <p:txBody>
          <a:bodyPr wrap="square" rtlCol="0" anchor="ctr"/>
          <a:lstStyle/>
          <a:p>
            <a:pPr indent="0" marL="0">
              <a:lnSpc>
                <a:spcPts val="1450"/>
              </a:lnSpc>
              <a:buNone/>
            </a:pPr>
            <a:r>
              <a:rPr lang="en-US" sz="1100" dirty="0">
                <a:solidFill>
                  <a:srgbClr val="2B2722"/>
                </a:solidFill>
                <a:latin typeface="Calibri" pitchFamily="34" charset="0"/>
                <a:ea typeface="Calibri" pitchFamily="34" charset="-122"/>
                <a:cs typeface="Calibri" pitchFamily="34" charset="-120"/>
              </a:rPr>
              <a:t>on intent and matches your inventory</a:t>
            </a:r>
            <a:endParaRPr lang="en-US" sz="1100" dirty="0"/>
          </a:p>
        </p:txBody>
      </p:sp>
      <p:sp>
        <p:nvSpPr>
          <p:cNvPr id="17" name="Text 15"/>
          <p:cNvSpPr/>
          <p:nvPr/>
        </p:nvSpPr>
        <p:spPr>
          <a:xfrm>
            <a:off x="4937760" y="2514600"/>
            <a:ext cx="283464" cy="1965960"/>
          </a:xfrm>
          <a:prstGeom prst="rect">
            <a:avLst/>
          </a:prstGeom>
          <a:noFill/>
          <a:ln/>
        </p:spPr>
        <p:txBody>
          <a:bodyPr wrap="square" rtlCol="0" anchor="ctr"/>
          <a:lstStyle/>
          <a:p>
            <a:pPr algn="ctr" indent="0" marL="0">
              <a:buNone/>
            </a:pPr>
            <a:r>
              <a:rPr lang="en-US" sz="1600" b="1" dirty="0">
                <a:solidFill>
                  <a:srgbClr val="C0552F"/>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202936" y="2514600"/>
            <a:ext cx="2011680" cy="196596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9" name="Shape 17"/>
          <p:cNvSpPr/>
          <p:nvPr/>
        </p:nvSpPr>
        <p:spPr>
          <a:xfrm>
            <a:off x="5202936" y="2514600"/>
            <a:ext cx="64008" cy="1965960"/>
          </a:xfrm>
          <a:prstGeom prst="rect">
            <a:avLst/>
          </a:prstGeom>
          <a:solidFill>
            <a:srgbClr val="C0552F"/>
          </a:solidFill>
          <a:ln/>
        </p:spPr>
      </p:sp>
      <p:sp>
        <p:nvSpPr>
          <p:cNvPr id="20" name="Shape 18"/>
          <p:cNvSpPr/>
          <p:nvPr/>
        </p:nvSpPr>
        <p:spPr>
          <a:xfrm>
            <a:off x="5431536" y="2724912"/>
            <a:ext cx="457200" cy="457200"/>
          </a:xfrm>
          <a:prstGeom prst="ellipse">
            <a:avLst/>
          </a:prstGeom>
          <a:solidFill>
            <a:srgbClr val="C0552F"/>
          </a:solidFill>
          <a:ln/>
        </p:spPr>
      </p:sp>
      <p:sp>
        <p:nvSpPr>
          <p:cNvPr id="21" name="Text 19"/>
          <p:cNvSpPr/>
          <p:nvPr/>
        </p:nvSpPr>
        <p:spPr>
          <a:xfrm>
            <a:off x="5431536" y="2724912"/>
            <a:ext cx="457200" cy="45720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3</a:t>
            </a:r>
            <a:endParaRPr lang="en-US" sz="1300" dirty="0"/>
          </a:p>
        </p:txBody>
      </p:sp>
      <p:sp>
        <p:nvSpPr>
          <p:cNvPr id="22" name="Text 20"/>
          <p:cNvSpPr/>
          <p:nvPr/>
        </p:nvSpPr>
        <p:spPr>
          <a:xfrm>
            <a:off x="5404104" y="3291840"/>
            <a:ext cx="1645920" cy="457200"/>
          </a:xfrm>
          <a:prstGeom prst="rect">
            <a:avLst/>
          </a:prstGeom>
          <a:noFill/>
          <a:ln/>
        </p:spPr>
        <p:txBody>
          <a:bodyPr wrap="square" rtlCol="0" anchor="ctr"/>
          <a:lstStyle/>
          <a:p>
            <a:pPr indent="0" marL="0">
              <a:lnSpc>
                <a:spcPts val="1600"/>
              </a:lnSpc>
              <a:buNone/>
            </a:pPr>
            <a:r>
              <a:rPr lang="en-US" sz="1350" b="1" dirty="0">
                <a:solidFill>
                  <a:srgbClr val="201E1B"/>
                </a:solidFill>
                <a:latin typeface="Calibri" pitchFamily="34" charset="0"/>
                <a:ea typeface="Calibri" pitchFamily="34" charset="-122"/>
                <a:cs typeface="Calibri" pitchFamily="34" charset="-120"/>
              </a:rPr>
              <a:t>Asks what's missing</a:t>
            </a:r>
            <a:endParaRPr lang="en-US" sz="1350" dirty="0"/>
          </a:p>
        </p:txBody>
      </p:sp>
      <p:sp>
        <p:nvSpPr>
          <p:cNvPr id="23" name="Text 21"/>
          <p:cNvSpPr/>
          <p:nvPr/>
        </p:nvSpPr>
        <p:spPr>
          <a:xfrm>
            <a:off x="5404104" y="3767328"/>
            <a:ext cx="1645920" cy="685800"/>
          </a:xfrm>
          <a:prstGeom prst="rect">
            <a:avLst/>
          </a:prstGeom>
          <a:noFill/>
          <a:ln/>
        </p:spPr>
        <p:txBody>
          <a:bodyPr wrap="square" rtlCol="0" anchor="ctr"/>
          <a:lstStyle/>
          <a:p>
            <a:pPr indent="0" marL="0">
              <a:lnSpc>
                <a:spcPts val="1450"/>
              </a:lnSpc>
              <a:buNone/>
            </a:pPr>
            <a:r>
              <a:rPr lang="en-US" sz="1100" dirty="0">
                <a:solidFill>
                  <a:srgbClr val="2B2722"/>
                </a:solidFill>
                <a:latin typeface="Calibri" pitchFamily="34" charset="0"/>
                <a:ea typeface="Calibri" pitchFamily="34" charset="-122"/>
                <a:cs typeface="Calibri" pitchFamily="34" charset="-120"/>
              </a:rPr>
              <a:t>one simple WhatsApp question, if needed</a:t>
            </a:r>
            <a:endParaRPr lang="en-US" sz="1100" dirty="0"/>
          </a:p>
        </p:txBody>
      </p:sp>
      <p:sp>
        <p:nvSpPr>
          <p:cNvPr id="24" name="Text 22"/>
          <p:cNvSpPr/>
          <p:nvPr/>
        </p:nvSpPr>
        <p:spPr>
          <a:xfrm>
            <a:off x="7196328" y="2514600"/>
            <a:ext cx="283464" cy="1965960"/>
          </a:xfrm>
          <a:prstGeom prst="rect">
            <a:avLst/>
          </a:prstGeom>
          <a:noFill/>
          <a:ln/>
        </p:spPr>
        <p:txBody>
          <a:bodyPr wrap="square" rtlCol="0" anchor="ctr"/>
          <a:lstStyle/>
          <a:p>
            <a:pPr algn="ctr" indent="0" marL="0">
              <a:buNone/>
            </a:pPr>
            <a:r>
              <a:rPr lang="en-US" sz="1600" b="1" dirty="0">
                <a:solidFill>
                  <a:srgbClr val="C0552F"/>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7461504" y="2514600"/>
            <a:ext cx="2011680" cy="196596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26" name="Shape 24"/>
          <p:cNvSpPr/>
          <p:nvPr/>
        </p:nvSpPr>
        <p:spPr>
          <a:xfrm>
            <a:off x="7461504" y="2514600"/>
            <a:ext cx="64008" cy="1965960"/>
          </a:xfrm>
          <a:prstGeom prst="rect">
            <a:avLst/>
          </a:prstGeom>
          <a:solidFill>
            <a:srgbClr val="5E7261"/>
          </a:solidFill>
          <a:ln/>
        </p:spPr>
      </p:sp>
      <p:sp>
        <p:nvSpPr>
          <p:cNvPr id="27" name="Shape 25"/>
          <p:cNvSpPr/>
          <p:nvPr/>
        </p:nvSpPr>
        <p:spPr>
          <a:xfrm>
            <a:off x="7690104" y="2724912"/>
            <a:ext cx="457200" cy="457200"/>
          </a:xfrm>
          <a:prstGeom prst="ellipse">
            <a:avLst/>
          </a:prstGeom>
          <a:solidFill>
            <a:srgbClr val="5E7261"/>
          </a:solidFill>
          <a:ln/>
        </p:spPr>
      </p:sp>
      <p:sp>
        <p:nvSpPr>
          <p:cNvPr id="28" name="Text 26"/>
          <p:cNvSpPr/>
          <p:nvPr/>
        </p:nvSpPr>
        <p:spPr>
          <a:xfrm>
            <a:off x="7690104" y="2724912"/>
            <a:ext cx="457200" cy="45720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4</a:t>
            </a:r>
            <a:endParaRPr lang="en-US" sz="1300" dirty="0"/>
          </a:p>
        </p:txBody>
      </p:sp>
      <p:sp>
        <p:nvSpPr>
          <p:cNvPr id="29" name="Text 27"/>
          <p:cNvSpPr/>
          <p:nvPr/>
        </p:nvSpPr>
        <p:spPr>
          <a:xfrm>
            <a:off x="7662672" y="3291840"/>
            <a:ext cx="1645920" cy="457200"/>
          </a:xfrm>
          <a:prstGeom prst="rect">
            <a:avLst/>
          </a:prstGeom>
          <a:noFill/>
          <a:ln/>
        </p:spPr>
        <p:txBody>
          <a:bodyPr wrap="square" rtlCol="0" anchor="ctr"/>
          <a:lstStyle/>
          <a:p>
            <a:pPr indent="0" marL="0">
              <a:lnSpc>
                <a:spcPts val="1600"/>
              </a:lnSpc>
              <a:buNone/>
            </a:pPr>
            <a:r>
              <a:rPr lang="en-US" sz="1350" b="1" dirty="0">
                <a:solidFill>
                  <a:srgbClr val="201E1B"/>
                </a:solidFill>
                <a:latin typeface="Calibri" pitchFamily="34" charset="0"/>
                <a:ea typeface="Calibri" pitchFamily="34" charset="-122"/>
                <a:cs typeface="Calibri" pitchFamily="34" charset="-120"/>
              </a:rPr>
              <a:t>Reply re-scores</a:t>
            </a:r>
            <a:endParaRPr lang="en-US" sz="1350" dirty="0"/>
          </a:p>
        </p:txBody>
      </p:sp>
      <p:sp>
        <p:nvSpPr>
          <p:cNvPr id="30" name="Text 28"/>
          <p:cNvSpPr/>
          <p:nvPr/>
        </p:nvSpPr>
        <p:spPr>
          <a:xfrm>
            <a:off x="7662672" y="3767328"/>
            <a:ext cx="1645920" cy="685800"/>
          </a:xfrm>
          <a:prstGeom prst="rect">
            <a:avLst/>
          </a:prstGeom>
          <a:noFill/>
          <a:ln/>
        </p:spPr>
        <p:txBody>
          <a:bodyPr wrap="square" rtlCol="0" anchor="ctr"/>
          <a:lstStyle/>
          <a:p>
            <a:pPr indent="0" marL="0">
              <a:lnSpc>
                <a:spcPts val="1450"/>
              </a:lnSpc>
              <a:buNone/>
            </a:pPr>
            <a:r>
              <a:rPr lang="en-US" sz="1100" dirty="0">
                <a:solidFill>
                  <a:srgbClr val="2B2722"/>
                </a:solidFill>
                <a:latin typeface="Calibri" pitchFamily="34" charset="0"/>
                <a:ea typeface="Calibri" pitchFamily="34" charset="-122"/>
                <a:cs typeface="Calibri" pitchFamily="34" charset="-120"/>
              </a:rPr>
              <a:t>the buyer's answer fills the gap</a:t>
            </a:r>
            <a:endParaRPr lang="en-US" sz="1100" dirty="0"/>
          </a:p>
        </p:txBody>
      </p:sp>
      <p:sp>
        <p:nvSpPr>
          <p:cNvPr id="31" name="Text 29"/>
          <p:cNvSpPr/>
          <p:nvPr/>
        </p:nvSpPr>
        <p:spPr>
          <a:xfrm>
            <a:off x="9454896" y="2514600"/>
            <a:ext cx="283464" cy="1965960"/>
          </a:xfrm>
          <a:prstGeom prst="rect">
            <a:avLst/>
          </a:prstGeom>
          <a:noFill/>
          <a:ln/>
        </p:spPr>
        <p:txBody>
          <a:bodyPr wrap="square" rtlCol="0" anchor="ctr"/>
          <a:lstStyle/>
          <a:p>
            <a:pPr algn="ctr" indent="0" marL="0">
              <a:buNone/>
            </a:pPr>
            <a:r>
              <a:rPr lang="en-US" sz="1600" b="1" dirty="0">
                <a:solidFill>
                  <a:srgbClr val="C0552F"/>
                </a:solidFill>
                <a:latin typeface="Calibri" pitchFamily="34" charset="0"/>
                <a:ea typeface="Calibri" pitchFamily="34" charset="-122"/>
                <a:cs typeface="Calibri" pitchFamily="34" charset="-120"/>
              </a:rPr>
              <a:t>→</a:t>
            </a:r>
            <a:endParaRPr lang="en-US" sz="1600" dirty="0"/>
          </a:p>
        </p:txBody>
      </p:sp>
      <p:sp>
        <p:nvSpPr>
          <p:cNvPr id="32" name="Shape 30"/>
          <p:cNvSpPr/>
          <p:nvPr/>
        </p:nvSpPr>
        <p:spPr>
          <a:xfrm>
            <a:off x="9720072" y="2514600"/>
            <a:ext cx="2011680" cy="196596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33" name="Shape 31"/>
          <p:cNvSpPr/>
          <p:nvPr/>
        </p:nvSpPr>
        <p:spPr>
          <a:xfrm>
            <a:off x="9720072" y="2514600"/>
            <a:ext cx="64008" cy="1965960"/>
          </a:xfrm>
          <a:prstGeom prst="rect">
            <a:avLst/>
          </a:prstGeom>
          <a:solidFill>
            <a:srgbClr val="5E7261"/>
          </a:solidFill>
          <a:ln/>
        </p:spPr>
      </p:sp>
      <p:sp>
        <p:nvSpPr>
          <p:cNvPr id="34" name="Shape 32"/>
          <p:cNvSpPr/>
          <p:nvPr/>
        </p:nvSpPr>
        <p:spPr>
          <a:xfrm>
            <a:off x="9948672" y="2724912"/>
            <a:ext cx="457200" cy="457200"/>
          </a:xfrm>
          <a:prstGeom prst="ellipse">
            <a:avLst/>
          </a:prstGeom>
          <a:solidFill>
            <a:srgbClr val="5E7261"/>
          </a:solidFill>
          <a:ln/>
        </p:spPr>
      </p:sp>
      <p:sp>
        <p:nvSpPr>
          <p:cNvPr id="35" name="Text 33"/>
          <p:cNvSpPr/>
          <p:nvPr/>
        </p:nvSpPr>
        <p:spPr>
          <a:xfrm>
            <a:off x="9948672" y="2724912"/>
            <a:ext cx="457200" cy="45720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5</a:t>
            </a:r>
            <a:endParaRPr lang="en-US" sz="1300" dirty="0"/>
          </a:p>
        </p:txBody>
      </p:sp>
      <p:sp>
        <p:nvSpPr>
          <p:cNvPr id="36" name="Text 34"/>
          <p:cNvSpPr/>
          <p:nvPr/>
        </p:nvSpPr>
        <p:spPr>
          <a:xfrm>
            <a:off x="9921240" y="3291840"/>
            <a:ext cx="1645920" cy="457200"/>
          </a:xfrm>
          <a:prstGeom prst="rect">
            <a:avLst/>
          </a:prstGeom>
          <a:noFill/>
          <a:ln/>
        </p:spPr>
        <p:txBody>
          <a:bodyPr wrap="square" rtlCol="0" anchor="ctr"/>
          <a:lstStyle/>
          <a:p>
            <a:pPr indent="0" marL="0">
              <a:lnSpc>
                <a:spcPts val="1600"/>
              </a:lnSpc>
              <a:buNone/>
            </a:pPr>
            <a:r>
              <a:rPr lang="en-US" sz="1350" b="1" dirty="0">
                <a:solidFill>
                  <a:srgbClr val="201E1B"/>
                </a:solidFill>
                <a:latin typeface="Calibri" pitchFamily="34" charset="0"/>
                <a:ea typeface="Calibri" pitchFamily="34" charset="-122"/>
                <a:cs typeface="Calibri" pitchFamily="34" charset="-120"/>
              </a:rPr>
              <a:t>Activates</a:t>
            </a:r>
            <a:endParaRPr lang="en-US" sz="1350" dirty="0"/>
          </a:p>
        </p:txBody>
      </p:sp>
      <p:sp>
        <p:nvSpPr>
          <p:cNvPr id="37" name="Text 35"/>
          <p:cNvSpPr/>
          <p:nvPr/>
        </p:nvSpPr>
        <p:spPr>
          <a:xfrm>
            <a:off x="9921240" y="3767328"/>
            <a:ext cx="1645920" cy="685800"/>
          </a:xfrm>
          <a:prstGeom prst="rect">
            <a:avLst/>
          </a:prstGeom>
          <a:noFill/>
          <a:ln/>
        </p:spPr>
        <p:txBody>
          <a:bodyPr wrap="square" rtlCol="0" anchor="ctr"/>
          <a:lstStyle/>
          <a:p>
            <a:pPr indent="0" marL="0">
              <a:lnSpc>
                <a:spcPts val="1450"/>
              </a:lnSpc>
              <a:buNone/>
            </a:pPr>
            <a:r>
              <a:rPr lang="en-US" sz="1100" dirty="0">
                <a:solidFill>
                  <a:srgbClr val="2B2722"/>
                </a:solidFill>
                <a:latin typeface="Calibri" pitchFamily="34" charset="0"/>
                <a:ea typeface="Calibri" pitchFamily="34" charset="-122"/>
                <a:cs typeface="Calibri" pitchFamily="34" charset="-120"/>
              </a:rPr>
              <a:t>hot + complete → a site-visit invite</a:t>
            </a:r>
            <a:endParaRPr lang="en-US" sz="1100" dirty="0"/>
          </a:p>
        </p:txBody>
      </p:sp>
      <p:sp>
        <p:nvSpPr>
          <p:cNvPr id="38" name="Text 36"/>
          <p:cNvSpPr/>
          <p:nvPr/>
        </p:nvSpPr>
        <p:spPr>
          <a:xfrm>
            <a:off x="640080" y="5120640"/>
            <a:ext cx="10908792" cy="457200"/>
          </a:xfrm>
          <a:prstGeom prst="rect">
            <a:avLst/>
          </a:prstGeom>
          <a:noFill/>
          <a:ln/>
        </p:spPr>
        <p:txBody>
          <a:bodyPr wrap="square" rtlCol="0" anchor="ctr"/>
          <a:lstStyle/>
          <a:p>
            <a:pPr indent="0" marL="0">
              <a:buNone/>
            </a:pPr>
            <a:r>
              <a:rPr lang="en-US" sz="1300" i="1" dirty="0">
                <a:solidFill>
                  <a:srgbClr val="6F685E"/>
                </a:solidFill>
                <a:latin typeface="Calibri" pitchFamily="34" charset="0"/>
                <a:ea typeface="Calibri" pitchFamily="34" charset="-122"/>
                <a:cs typeface="Calibri" pitchFamily="34" charset="-120"/>
              </a:rPr>
              <a:t>A human approves every message  ·  follow-ups are capped so buyers are never nagged  ·  </a:t>
            </a:r>
            <a:pPr indent="0" marL="0">
              <a:buNone/>
            </a:pPr>
            <a:r>
              <a:rPr lang="en-US" sz="1300" b="1" i="1" dirty="0">
                <a:solidFill>
                  <a:srgbClr val="8F3D20"/>
                </a:solidFill>
                <a:latin typeface="Calibri" pitchFamily="34" charset="0"/>
                <a:ea typeface="Calibri" pitchFamily="34" charset="-122"/>
                <a:cs typeface="Calibri" pitchFamily="34" charset="-120"/>
              </a:rPr>
              <a:t>WhatsApp is a gap-filler the agent triggers, not a cold blast.</a:t>
            </a:r>
            <a:endParaRPr lang="en-US" sz="1300" dirty="0"/>
          </a:p>
        </p:txBody>
      </p:sp>
      <p:sp>
        <p:nvSpPr>
          <p:cNvPr id="39" name="Text 37"/>
          <p:cNvSpPr/>
          <p:nvPr/>
        </p:nvSpPr>
        <p:spPr>
          <a:xfrm>
            <a:off x="640080" y="6446520"/>
            <a:ext cx="2743200" cy="274320"/>
          </a:xfrm>
          <a:prstGeom prst="rect">
            <a:avLst/>
          </a:prstGeom>
          <a:noFill/>
          <a:ln/>
        </p:spPr>
        <p:txBody>
          <a:bodyPr wrap="square" rtlCol="0" anchor="ctr"/>
          <a:lstStyle/>
          <a:p>
            <a:pPr indent="0" marL="0">
              <a:buNone/>
            </a:pPr>
            <a:r>
              <a:rPr lang="en-US" sz="1000" i="1" dirty="0">
                <a:solidFill>
                  <a:srgbClr val="6F685E"/>
                </a:solidFill>
                <a:latin typeface="Georgia" pitchFamily="34" charset="0"/>
                <a:ea typeface="Georgia" pitchFamily="34" charset="-122"/>
                <a:cs typeface="Georgia" pitchFamily="34" charset="-120"/>
              </a:rPr>
              <a:t>Pentahouse</a:t>
            </a:r>
            <a:endParaRPr lang="en-US" sz="1000" dirty="0"/>
          </a:p>
        </p:txBody>
      </p:sp>
      <p:sp>
        <p:nvSpPr>
          <p:cNvPr id="40" name="Text 38"/>
          <p:cNvSpPr/>
          <p:nvPr/>
        </p:nvSpPr>
        <p:spPr>
          <a:xfrm>
            <a:off x="11091672" y="6446520"/>
            <a:ext cx="457200" cy="274320"/>
          </a:xfrm>
          <a:prstGeom prst="rect">
            <a:avLst/>
          </a:prstGeom>
          <a:noFill/>
          <a:ln/>
        </p:spPr>
        <p:txBody>
          <a:bodyPr wrap="square" rtlCol="0" anchor="ctr"/>
          <a:lstStyle/>
          <a:p>
            <a:pPr algn="r" indent="0" marL="0">
              <a:buNone/>
            </a:pPr>
            <a:r>
              <a:rPr lang="en-US" sz="1000" dirty="0">
                <a:solidFill>
                  <a:srgbClr val="6F685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4EC"/>
        </a:solidFill>
      </p:bgPr>
    </p:bg>
    <p:spTree>
      <p:nvGrpSpPr>
        <p:cNvPr id="1" name=""/>
        <p:cNvGrpSpPr/>
        <p:nvPr/>
      </p:nvGrpSpPr>
      <p:grpSpPr>
        <a:xfrm>
          <a:off x="0" y="0"/>
          <a:ext cx="0" cy="0"/>
          <a:chOff x="0" y="0"/>
          <a:chExt cx="0" cy="0"/>
        </a:xfrm>
      </p:grpSpPr>
      <p:sp>
        <p:nvSpPr>
          <p:cNvPr id="2" name="Text 0"/>
          <p:cNvSpPr/>
          <p:nvPr/>
        </p:nvSpPr>
        <p:spPr>
          <a:xfrm>
            <a:off x="640080" y="502920"/>
            <a:ext cx="10908792" cy="274320"/>
          </a:xfrm>
          <a:prstGeom prst="rect">
            <a:avLst/>
          </a:prstGeom>
          <a:noFill/>
          <a:ln/>
        </p:spPr>
        <p:txBody>
          <a:bodyPr wrap="square" rtlCol="0" anchor="ctr"/>
          <a:lstStyle/>
          <a:p>
            <a:pPr indent="0" marL="0">
              <a:buNone/>
            </a:pPr>
            <a:r>
              <a:rPr lang="en-US" sz="1200" b="1" spc="300" kern="0" dirty="0">
                <a:solidFill>
                  <a:srgbClr val="C0552F"/>
                </a:solidFill>
                <a:latin typeface="Calibri" pitchFamily="34" charset="0"/>
                <a:ea typeface="Calibri" pitchFamily="34" charset="-122"/>
                <a:cs typeface="Calibri" pitchFamily="34" charset="-120"/>
              </a:rPr>
              <a:t>WHAT AI ACTUALLY MEANS HERE</a:t>
            </a:r>
            <a:endParaRPr lang="en-US" sz="1200" dirty="0"/>
          </a:p>
        </p:txBody>
      </p:sp>
      <p:sp>
        <p:nvSpPr>
          <p:cNvPr id="3" name="Text 1"/>
          <p:cNvSpPr/>
          <p:nvPr/>
        </p:nvSpPr>
        <p:spPr>
          <a:xfrm>
            <a:off x="640080" y="822960"/>
            <a:ext cx="10908792" cy="1005840"/>
          </a:xfrm>
          <a:prstGeom prst="rect">
            <a:avLst/>
          </a:prstGeom>
          <a:noFill/>
          <a:ln/>
        </p:spPr>
        <p:txBody>
          <a:bodyPr wrap="square" rtlCol="0" anchor="ctr"/>
          <a:lstStyle/>
          <a:p>
            <a:pPr indent="0" marL="0">
              <a:lnSpc>
                <a:spcPts val="3465"/>
              </a:lnSpc>
              <a:buNone/>
            </a:pPr>
            <a:r>
              <a:rPr lang="en-US" sz="3300" b="1" dirty="0">
                <a:solidFill>
                  <a:srgbClr val="201E1B"/>
                </a:solidFill>
                <a:latin typeface="Georgia" pitchFamily="34" charset="0"/>
                <a:ea typeface="Georgia" pitchFamily="34" charset="-122"/>
                <a:cs typeface="Georgia" pitchFamily="34" charset="-120"/>
              </a:rPr>
              <a:t>Five real techniques, not a label</a:t>
            </a:r>
            <a:endParaRPr lang="en-US" sz="3300" dirty="0"/>
          </a:p>
        </p:txBody>
      </p:sp>
      <p:sp>
        <p:nvSpPr>
          <p:cNvPr id="4" name="Shape 2"/>
          <p:cNvSpPr/>
          <p:nvPr/>
        </p:nvSpPr>
        <p:spPr>
          <a:xfrm>
            <a:off x="640080" y="2286000"/>
            <a:ext cx="3429000" cy="160020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5" name="Shape 3"/>
          <p:cNvSpPr/>
          <p:nvPr/>
        </p:nvSpPr>
        <p:spPr>
          <a:xfrm>
            <a:off x="896112" y="2542032"/>
            <a:ext cx="310896" cy="310896"/>
          </a:xfrm>
          <a:prstGeom prst="ellipse">
            <a:avLst/>
          </a:prstGeom>
          <a:solidFill>
            <a:srgbClr val="C0552F"/>
          </a:solidFill>
          <a:ln/>
        </p:spPr>
      </p:sp>
      <p:sp>
        <p:nvSpPr>
          <p:cNvPr id="6" name="Text 4"/>
          <p:cNvSpPr/>
          <p:nvPr/>
        </p:nvSpPr>
        <p:spPr>
          <a:xfrm>
            <a:off x="1353312" y="2468880"/>
            <a:ext cx="2606040" cy="502920"/>
          </a:xfrm>
          <a:prstGeom prst="rect">
            <a:avLst/>
          </a:prstGeom>
          <a:noFill/>
          <a:ln/>
        </p:spPr>
        <p:txBody>
          <a:bodyPr wrap="square" rtlCol="0" anchor="ctr"/>
          <a:lstStyle/>
          <a:p>
            <a:pPr indent="0" marL="0">
              <a:lnSpc>
                <a:spcPts val="1650"/>
              </a:lnSpc>
              <a:buNone/>
            </a:pPr>
            <a:r>
              <a:rPr lang="en-US" sz="1350" b="1" dirty="0">
                <a:solidFill>
                  <a:srgbClr val="201E1B"/>
                </a:solidFill>
                <a:latin typeface="Calibri" pitchFamily="34" charset="0"/>
                <a:ea typeface="Calibri" pitchFamily="34" charset="-122"/>
                <a:cs typeface="Calibri" pitchFamily="34" charset="-120"/>
              </a:rPr>
              <a:t>Retrieval-augmented generation</a:t>
            </a:r>
            <a:endParaRPr lang="en-US" sz="1350" dirty="0"/>
          </a:p>
        </p:txBody>
      </p:sp>
      <p:sp>
        <p:nvSpPr>
          <p:cNvPr id="7" name="Text 5"/>
          <p:cNvSpPr/>
          <p:nvPr/>
        </p:nvSpPr>
        <p:spPr>
          <a:xfrm>
            <a:off x="896112" y="3063240"/>
            <a:ext cx="2926080" cy="731520"/>
          </a:xfrm>
          <a:prstGeom prst="rect">
            <a:avLst/>
          </a:prstGeom>
          <a:noFill/>
          <a:ln/>
        </p:spPr>
        <p:txBody>
          <a:bodyPr wrap="square" rtlCol="0" anchor="ctr"/>
          <a:lstStyle/>
          <a:p>
            <a:pPr indent="0" marL="0">
              <a:lnSpc>
                <a:spcPts val="1550"/>
              </a:lnSpc>
              <a:buNone/>
            </a:pPr>
            <a:r>
              <a:rPr lang="en-US" sz="1150" dirty="0">
                <a:solidFill>
                  <a:srgbClr val="2B2722"/>
                </a:solidFill>
                <a:latin typeface="Calibri" pitchFamily="34" charset="0"/>
                <a:ea typeface="Calibri" pitchFamily="34" charset="-122"/>
                <a:cs typeface="Calibri" pitchFamily="34" charset="-120"/>
              </a:rPr>
              <a:t>Gemini embeddings + pgvector retrieve relevant inventory before reasoning.</a:t>
            </a:r>
            <a:endParaRPr lang="en-US" sz="1150" dirty="0"/>
          </a:p>
        </p:txBody>
      </p:sp>
      <p:sp>
        <p:nvSpPr>
          <p:cNvPr id="8" name="Shape 6"/>
          <p:cNvSpPr/>
          <p:nvPr/>
        </p:nvSpPr>
        <p:spPr>
          <a:xfrm>
            <a:off x="4343400" y="2286000"/>
            <a:ext cx="3429000" cy="160020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9" name="Shape 7"/>
          <p:cNvSpPr/>
          <p:nvPr/>
        </p:nvSpPr>
        <p:spPr>
          <a:xfrm>
            <a:off x="4599432" y="2542032"/>
            <a:ext cx="310896" cy="310896"/>
          </a:xfrm>
          <a:prstGeom prst="ellipse">
            <a:avLst/>
          </a:prstGeom>
          <a:solidFill>
            <a:srgbClr val="C0552F"/>
          </a:solidFill>
          <a:ln/>
        </p:spPr>
      </p:sp>
      <p:sp>
        <p:nvSpPr>
          <p:cNvPr id="10" name="Text 8"/>
          <p:cNvSpPr/>
          <p:nvPr/>
        </p:nvSpPr>
        <p:spPr>
          <a:xfrm>
            <a:off x="5056632" y="2468880"/>
            <a:ext cx="2606040" cy="502920"/>
          </a:xfrm>
          <a:prstGeom prst="rect">
            <a:avLst/>
          </a:prstGeom>
          <a:noFill/>
          <a:ln/>
        </p:spPr>
        <p:txBody>
          <a:bodyPr wrap="square" rtlCol="0" anchor="ctr"/>
          <a:lstStyle/>
          <a:p>
            <a:pPr indent="0" marL="0">
              <a:lnSpc>
                <a:spcPts val="1650"/>
              </a:lnSpc>
              <a:buNone/>
            </a:pPr>
            <a:r>
              <a:rPr lang="en-US" sz="1350" b="1" dirty="0">
                <a:solidFill>
                  <a:srgbClr val="201E1B"/>
                </a:solidFill>
                <a:latin typeface="Calibri" pitchFamily="34" charset="0"/>
                <a:ea typeface="Calibri" pitchFamily="34" charset="-122"/>
                <a:cs typeface="Calibri" pitchFamily="34" charset="-120"/>
              </a:rPr>
              <a:t>Structured-output enforcement</a:t>
            </a:r>
            <a:endParaRPr lang="en-US" sz="1350" dirty="0"/>
          </a:p>
        </p:txBody>
      </p:sp>
      <p:sp>
        <p:nvSpPr>
          <p:cNvPr id="11" name="Text 9"/>
          <p:cNvSpPr/>
          <p:nvPr/>
        </p:nvSpPr>
        <p:spPr>
          <a:xfrm>
            <a:off x="4599432" y="3063240"/>
            <a:ext cx="2926080" cy="731520"/>
          </a:xfrm>
          <a:prstGeom prst="rect">
            <a:avLst/>
          </a:prstGeom>
          <a:noFill/>
          <a:ln/>
        </p:spPr>
        <p:txBody>
          <a:bodyPr wrap="square" rtlCol="0" anchor="ctr"/>
          <a:lstStyle/>
          <a:p>
            <a:pPr indent="0" marL="0">
              <a:lnSpc>
                <a:spcPts val="1550"/>
              </a:lnSpc>
              <a:buNone/>
            </a:pPr>
            <a:r>
              <a:rPr lang="en-US" sz="1150" dirty="0">
                <a:solidFill>
                  <a:srgbClr val="2B2722"/>
                </a:solidFill>
                <a:latin typeface="Calibri" pitchFamily="34" charset="0"/>
                <a:ea typeface="Calibri" pitchFamily="34" charset="-122"/>
                <a:cs typeface="Calibri" pitchFamily="34" charset="-120"/>
              </a:rPr>
              <a:t>A responseSchema guarantees clean, parseable scores every time.</a:t>
            </a:r>
            <a:endParaRPr lang="en-US" sz="1150" dirty="0"/>
          </a:p>
        </p:txBody>
      </p:sp>
      <p:sp>
        <p:nvSpPr>
          <p:cNvPr id="12" name="Shape 10"/>
          <p:cNvSpPr/>
          <p:nvPr/>
        </p:nvSpPr>
        <p:spPr>
          <a:xfrm>
            <a:off x="8046720" y="2286000"/>
            <a:ext cx="3429000" cy="160020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3" name="Shape 11"/>
          <p:cNvSpPr/>
          <p:nvPr/>
        </p:nvSpPr>
        <p:spPr>
          <a:xfrm>
            <a:off x="8302752" y="2542032"/>
            <a:ext cx="310896" cy="310896"/>
          </a:xfrm>
          <a:prstGeom prst="ellipse">
            <a:avLst/>
          </a:prstGeom>
          <a:solidFill>
            <a:srgbClr val="C0552F"/>
          </a:solidFill>
          <a:ln/>
        </p:spPr>
      </p:sp>
      <p:sp>
        <p:nvSpPr>
          <p:cNvPr id="14" name="Text 12"/>
          <p:cNvSpPr/>
          <p:nvPr/>
        </p:nvSpPr>
        <p:spPr>
          <a:xfrm>
            <a:off x="8759952" y="2468880"/>
            <a:ext cx="2606040" cy="502920"/>
          </a:xfrm>
          <a:prstGeom prst="rect">
            <a:avLst/>
          </a:prstGeom>
          <a:noFill/>
          <a:ln/>
        </p:spPr>
        <p:txBody>
          <a:bodyPr wrap="square" rtlCol="0" anchor="ctr"/>
          <a:lstStyle/>
          <a:p>
            <a:pPr indent="0" marL="0">
              <a:lnSpc>
                <a:spcPts val="1650"/>
              </a:lnSpc>
              <a:buNone/>
            </a:pPr>
            <a:r>
              <a:rPr lang="en-US" sz="1350" b="1" dirty="0">
                <a:solidFill>
                  <a:srgbClr val="201E1B"/>
                </a:solidFill>
                <a:latin typeface="Calibri" pitchFamily="34" charset="0"/>
                <a:ea typeface="Calibri" pitchFamily="34" charset="-122"/>
                <a:cs typeface="Calibri" pitchFamily="34" charset="-120"/>
              </a:rPr>
              <a:t>Multi-model fallback</a:t>
            </a:r>
            <a:endParaRPr lang="en-US" sz="1350" dirty="0"/>
          </a:p>
        </p:txBody>
      </p:sp>
      <p:sp>
        <p:nvSpPr>
          <p:cNvPr id="15" name="Text 13"/>
          <p:cNvSpPr/>
          <p:nvPr/>
        </p:nvSpPr>
        <p:spPr>
          <a:xfrm>
            <a:off x="8302752" y="3063240"/>
            <a:ext cx="2926080" cy="731520"/>
          </a:xfrm>
          <a:prstGeom prst="rect">
            <a:avLst/>
          </a:prstGeom>
          <a:noFill/>
          <a:ln/>
        </p:spPr>
        <p:txBody>
          <a:bodyPr wrap="square" rtlCol="0" anchor="ctr"/>
          <a:lstStyle/>
          <a:p>
            <a:pPr indent="0" marL="0">
              <a:lnSpc>
                <a:spcPts val="1550"/>
              </a:lnSpc>
              <a:buNone/>
            </a:pPr>
            <a:r>
              <a:rPr lang="en-US" sz="1150" dirty="0">
                <a:solidFill>
                  <a:srgbClr val="2B2722"/>
                </a:solidFill>
                <a:latin typeface="Calibri" pitchFamily="34" charset="0"/>
                <a:ea typeface="Calibri" pitchFamily="34" charset="-122"/>
                <a:cs typeface="Calibri" pitchFamily="34" charset="-120"/>
              </a:rPr>
              <a:t>A retry chain across four Gemini models keeps scoring alive under load.</a:t>
            </a:r>
            <a:endParaRPr lang="en-US" sz="1150" dirty="0"/>
          </a:p>
        </p:txBody>
      </p:sp>
      <p:sp>
        <p:nvSpPr>
          <p:cNvPr id="16" name="Shape 14"/>
          <p:cNvSpPr/>
          <p:nvPr/>
        </p:nvSpPr>
        <p:spPr>
          <a:xfrm>
            <a:off x="640080" y="4114800"/>
            <a:ext cx="3429000" cy="160020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7" name="Shape 15"/>
          <p:cNvSpPr/>
          <p:nvPr/>
        </p:nvSpPr>
        <p:spPr>
          <a:xfrm>
            <a:off x="896112" y="4370832"/>
            <a:ext cx="310896" cy="310896"/>
          </a:xfrm>
          <a:prstGeom prst="ellipse">
            <a:avLst/>
          </a:prstGeom>
          <a:solidFill>
            <a:srgbClr val="C0552F"/>
          </a:solidFill>
          <a:ln/>
        </p:spPr>
      </p:sp>
      <p:sp>
        <p:nvSpPr>
          <p:cNvPr id="18" name="Text 16"/>
          <p:cNvSpPr/>
          <p:nvPr/>
        </p:nvSpPr>
        <p:spPr>
          <a:xfrm>
            <a:off x="1353312" y="4297680"/>
            <a:ext cx="2606040" cy="502920"/>
          </a:xfrm>
          <a:prstGeom prst="rect">
            <a:avLst/>
          </a:prstGeom>
          <a:noFill/>
          <a:ln/>
        </p:spPr>
        <p:txBody>
          <a:bodyPr wrap="square" rtlCol="0" anchor="ctr"/>
          <a:lstStyle/>
          <a:p>
            <a:pPr indent="0" marL="0">
              <a:lnSpc>
                <a:spcPts val="1650"/>
              </a:lnSpc>
              <a:buNone/>
            </a:pPr>
            <a:r>
              <a:rPr lang="en-US" sz="1350" b="1" dirty="0">
                <a:solidFill>
                  <a:srgbClr val="201E1B"/>
                </a:solidFill>
                <a:latin typeface="Calibri" pitchFamily="34" charset="0"/>
                <a:ea typeface="Calibri" pitchFamily="34" charset="-122"/>
                <a:cs typeface="Calibri" pitchFamily="34" charset="-120"/>
              </a:rPr>
              <a:t>Intent normalization</a:t>
            </a:r>
            <a:endParaRPr lang="en-US" sz="1350" dirty="0"/>
          </a:p>
        </p:txBody>
      </p:sp>
      <p:sp>
        <p:nvSpPr>
          <p:cNvPr id="19" name="Text 17"/>
          <p:cNvSpPr/>
          <p:nvPr/>
        </p:nvSpPr>
        <p:spPr>
          <a:xfrm>
            <a:off x="896112" y="4892040"/>
            <a:ext cx="2926080" cy="731520"/>
          </a:xfrm>
          <a:prstGeom prst="rect">
            <a:avLst/>
          </a:prstGeom>
          <a:noFill/>
          <a:ln/>
        </p:spPr>
        <p:txBody>
          <a:bodyPr wrap="square" rtlCol="0" anchor="ctr"/>
          <a:lstStyle/>
          <a:p>
            <a:pPr indent="0" marL="0">
              <a:lnSpc>
                <a:spcPts val="1550"/>
              </a:lnSpc>
              <a:buNone/>
            </a:pPr>
            <a:r>
              <a:rPr lang="en-US" sz="1150" dirty="0">
                <a:solidFill>
                  <a:srgbClr val="2B2722"/>
                </a:solidFill>
                <a:latin typeface="Calibri" pitchFamily="34" charset="0"/>
                <a:ea typeface="Calibri" pitchFamily="34" charset="-122"/>
                <a:cs typeface="Calibri" pitchFamily="34" charset="-120"/>
              </a:rPr>
              <a:t>Any ad form, however shaped, maps into one fixed scoring model.</a:t>
            </a:r>
            <a:endParaRPr lang="en-US" sz="1150" dirty="0"/>
          </a:p>
        </p:txBody>
      </p:sp>
      <p:sp>
        <p:nvSpPr>
          <p:cNvPr id="20" name="Shape 18"/>
          <p:cNvSpPr/>
          <p:nvPr/>
        </p:nvSpPr>
        <p:spPr>
          <a:xfrm>
            <a:off x="4343400" y="4114800"/>
            <a:ext cx="3429000" cy="160020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21" name="Shape 19"/>
          <p:cNvSpPr/>
          <p:nvPr/>
        </p:nvSpPr>
        <p:spPr>
          <a:xfrm>
            <a:off x="4599432" y="4370832"/>
            <a:ext cx="310896" cy="310896"/>
          </a:xfrm>
          <a:prstGeom prst="ellipse">
            <a:avLst/>
          </a:prstGeom>
          <a:solidFill>
            <a:srgbClr val="C0552F"/>
          </a:solidFill>
          <a:ln/>
        </p:spPr>
      </p:sp>
      <p:sp>
        <p:nvSpPr>
          <p:cNvPr id="22" name="Text 20"/>
          <p:cNvSpPr/>
          <p:nvPr/>
        </p:nvSpPr>
        <p:spPr>
          <a:xfrm>
            <a:off x="5056632" y="4297680"/>
            <a:ext cx="2606040" cy="502920"/>
          </a:xfrm>
          <a:prstGeom prst="rect">
            <a:avLst/>
          </a:prstGeom>
          <a:noFill/>
          <a:ln/>
        </p:spPr>
        <p:txBody>
          <a:bodyPr wrap="square" rtlCol="0" anchor="ctr"/>
          <a:lstStyle/>
          <a:p>
            <a:pPr indent="0" marL="0">
              <a:lnSpc>
                <a:spcPts val="1650"/>
              </a:lnSpc>
              <a:buNone/>
            </a:pPr>
            <a:r>
              <a:rPr lang="en-US" sz="1350" b="1" dirty="0">
                <a:solidFill>
                  <a:srgbClr val="201E1B"/>
                </a:solidFill>
                <a:latin typeface="Calibri" pitchFamily="34" charset="0"/>
                <a:ea typeface="Calibri" pitchFamily="34" charset="-122"/>
                <a:cs typeface="Calibri" pitchFamily="34" charset="-120"/>
              </a:rPr>
              <a:t>Explainable scoring</a:t>
            </a:r>
            <a:endParaRPr lang="en-US" sz="1350" dirty="0"/>
          </a:p>
        </p:txBody>
      </p:sp>
      <p:sp>
        <p:nvSpPr>
          <p:cNvPr id="23" name="Text 21"/>
          <p:cNvSpPr/>
          <p:nvPr/>
        </p:nvSpPr>
        <p:spPr>
          <a:xfrm>
            <a:off x="4599432" y="4892040"/>
            <a:ext cx="2926080" cy="731520"/>
          </a:xfrm>
          <a:prstGeom prst="rect">
            <a:avLst/>
          </a:prstGeom>
          <a:noFill/>
          <a:ln/>
        </p:spPr>
        <p:txBody>
          <a:bodyPr wrap="square" rtlCol="0" anchor="ctr"/>
          <a:lstStyle/>
          <a:p>
            <a:pPr indent="0" marL="0">
              <a:lnSpc>
                <a:spcPts val="1550"/>
              </a:lnSpc>
              <a:buNone/>
            </a:pPr>
            <a:r>
              <a:rPr lang="en-US" sz="1150" dirty="0">
                <a:solidFill>
                  <a:srgbClr val="2B2722"/>
                </a:solidFill>
                <a:latin typeface="Calibri" pitchFamily="34" charset="0"/>
                <a:ea typeface="Calibri" pitchFamily="34" charset="-122"/>
                <a:cs typeface="Calibri" pitchFamily="34" charset="-120"/>
              </a:rPr>
              <a:t>Natural-language reasons, not a black-box hot-lead label.</a:t>
            </a:r>
            <a:endParaRPr lang="en-US" sz="1150" dirty="0"/>
          </a:p>
        </p:txBody>
      </p:sp>
      <p:sp>
        <p:nvSpPr>
          <p:cNvPr id="24" name="Shape 22"/>
          <p:cNvSpPr/>
          <p:nvPr/>
        </p:nvSpPr>
        <p:spPr>
          <a:xfrm>
            <a:off x="8046720" y="4114800"/>
            <a:ext cx="3429000" cy="160020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25" name="Shape 23"/>
          <p:cNvSpPr/>
          <p:nvPr/>
        </p:nvSpPr>
        <p:spPr>
          <a:xfrm>
            <a:off x="8302752" y="4370832"/>
            <a:ext cx="310896" cy="310896"/>
          </a:xfrm>
          <a:prstGeom prst="ellipse">
            <a:avLst/>
          </a:prstGeom>
          <a:solidFill>
            <a:srgbClr val="C0552F"/>
          </a:solidFill>
          <a:ln/>
        </p:spPr>
      </p:sp>
      <p:sp>
        <p:nvSpPr>
          <p:cNvPr id="26" name="Text 24"/>
          <p:cNvSpPr/>
          <p:nvPr/>
        </p:nvSpPr>
        <p:spPr>
          <a:xfrm>
            <a:off x="8759952" y="4297680"/>
            <a:ext cx="2606040" cy="502920"/>
          </a:xfrm>
          <a:prstGeom prst="rect">
            <a:avLst/>
          </a:prstGeom>
          <a:noFill/>
          <a:ln/>
        </p:spPr>
        <p:txBody>
          <a:bodyPr wrap="square" rtlCol="0" anchor="ctr"/>
          <a:lstStyle/>
          <a:p>
            <a:pPr indent="0" marL="0">
              <a:lnSpc>
                <a:spcPts val="1650"/>
              </a:lnSpc>
              <a:buNone/>
            </a:pPr>
            <a:r>
              <a:rPr lang="en-US" sz="1350" b="1" dirty="0">
                <a:solidFill>
                  <a:srgbClr val="201E1B"/>
                </a:solidFill>
                <a:latin typeface="Calibri" pitchFamily="34" charset="0"/>
                <a:ea typeface="Calibri" pitchFamily="34" charset="-122"/>
                <a:cs typeface="Calibri" pitchFamily="34" charset="-120"/>
              </a:rPr>
              <a:t>Human-in-the-loop</a:t>
            </a:r>
            <a:endParaRPr lang="en-US" sz="1350" dirty="0"/>
          </a:p>
        </p:txBody>
      </p:sp>
      <p:sp>
        <p:nvSpPr>
          <p:cNvPr id="27" name="Text 25"/>
          <p:cNvSpPr/>
          <p:nvPr/>
        </p:nvSpPr>
        <p:spPr>
          <a:xfrm>
            <a:off x="8302752" y="4892040"/>
            <a:ext cx="2926080" cy="731520"/>
          </a:xfrm>
          <a:prstGeom prst="rect">
            <a:avLst/>
          </a:prstGeom>
          <a:noFill/>
          <a:ln/>
        </p:spPr>
        <p:txBody>
          <a:bodyPr wrap="square" rtlCol="0" anchor="ctr"/>
          <a:lstStyle/>
          <a:p>
            <a:pPr indent="0" marL="0">
              <a:lnSpc>
                <a:spcPts val="1550"/>
              </a:lnSpc>
              <a:buNone/>
            </a:pPr>
            <a:r>
              <a:rPr lang="en-US" sz="1150" dirty="0">
                <a:solidFill>
                  <a:srgbClr val="2B2722"/>
                </a:solidFill>
                <a:latin typeface="Calibri" pitchFamily="34" charset="0"/>
                <a:ea typeface="Calibri" pitchFamily="34" charset="-122"/>
                <a:cs typeface="Calibri" pitchFamily="34" charset="-120"/>
              </a:rPr>
              <a:t>Every buyer-facing message passes a manager approval gate.</a:t>
            </a:r>
            <a:endParaRPr lang="en-US" sz="1150" dirty="0"/>
          </a:p>
        </p:txBody>
      </p:sp>
      <p:sp>
        <p:nvSpPr>
          <p:cNvPr id="28" name="Text 26"/>
          <p:cNvSpPr/>
          <p:nvPr/>
        </p:nvSpPr>
        <p:spPr>
          <a:xfrm>
            <a:off x="640080" y="6446520"/>
            <a:ext cx="2743200" cy="274320"/>
          </a:xfrm>
          <a:prstGeom prst="rect">
            <a:avLst/>
          </a:prstGeom>
          <a:noFill/>
          <a:ln/>
        </p:spPr>
        <p:txBody>
          <a:bodyPr wrap="square" rtlCol="0" anchor="ctr"/>
          <a:lstStyle/>
          <a:p>
            <a:pPr indent="0" marL="0">
              <a:buNone/>
            </a:pPr>
            <a:r>
              <a:rPr lang="en-US" sz="1000" i="1" dirty="0">
                <a:solidFill>
                  <a:srgbClr val="6F685E"/>
                </a:solidFill>
                <a:latin typeface="Georgia" pitchFamily="34" charset="0"/>
                <a:ea typeface="Georgia" pitchFamily="34" charset="-122"/>
                <a:cs typeface="Georgia" pitchFamily="34" charset="-120"/>
              </a:rPr>
              <a:t>Pentahouse</a:t>
            </a:r>
            <a:endParaRPr lang="en-US" sz="1000" dirty="0"/>
          </a:p>
        </p:txBody>
      </p:sp>
      <p:sp>
        <p:nvSpPr>
          <p:cNvPr id="29" name="Text 27"/>
          <p:cNvSpPr/>
          <p:nvPr/>
        </p:nvSpPr>
        <p:spPr>
          <a:xfrm>
            <a:off x="11091672" y="6446520"/>
            <a:ext cx="457200" cy="274320"/>
          </a:xfrm>
          <a:prstGeom prst="rect">
            <a:avLst/>
          </a:prstGeom>
          <a:noFill/>
          <a:ln/>
        </p:spPr>
        <p:txBody>
          <a:bodyPr wrap="square" rtlCol="0" anchor="ctr"/>
          <a:lstStyle/>
          <a:p>
            <a:pPr algn="r" indent="0" marL="0">
              <a:buNone/>
            </a:pPr>
            <a:r>
              <a:rPr lang="en-US" sz="1000" dirty="0">
                <a:solidFill>
                  <a:srgbClr val="6F685E"/>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01E1B"/>
        </a:solidFill>
      </p:bgPr>
    </p:bg>
    <p:spTree>
      <p:nvGrpSpPr>
        <p:cNvPr id="1" name=""/>
        <p:cNvGrpSpPr/>
        <p:nvPr/>
      </p:nvGrpSpPr>
      <p:grpSpPr>
        <a:xfrm>
          <a:off x="0" y="0"/>
          <a:ext cx="0" cy="0"/>
          <a:chOff x="0" y="0"/>
          <a:chExt cx="0" cy="0"/>
        </a:xfrm>
      </p:grpSpPr>
      <p:sp>
        <p:nvSpPr>
          <p:cNvPr id="2" name="Text 0"/>
          <p:cNvSpPr/>
          <p:nvPr/>
        </p:nvSpPr>
        <p:spPr>
          <a:xfrm>
            <a:off x="640080" y="502920"/>
            <a:ext cx="10908792" cy="274320"/>
          </a:xfrm>
          <a:prstGeom prst="rect">
            <a:avLst/>
          </a:prstGeom>
          <a:noFill/>
          <a:ln/>
        </p:spPr>
        <p:txBody>
          <a:bodyPr wrap="square" rtlCol="0" anchor="ctr"/>
          <a:lstStyle/>
          <a:p>
            <a:pPr indent="0" marL="0">
              <a:buNone/>
            </a:pPr>
            <a:r>
              <a:rPr lang="en-US" sz="1200" b="1" spc="300" kern="0" dirty="0">
                <a:solidFill>
                  <a:srgbClr val="E7D9BD"/>
                </a:solidFill>
                <a:latin typeface="Calibri" pitchFamily="34" charset="0"/>
                <a:ea typeface="Calibri" pitchFamily="34" charset="-122"/>
                <a:cs typeface="Calibri" pitchFamily="34" charset="-120"/>
              </a:rPr>
              <a:t>THE DESIGN CHOICE</a:t>
            </a:r>
            <a:endParaRPr lang="en-US" sz="1200" dirty="0"/>
          </a:p>
        </p:txBody>
      </p:sp>
      <p:sp>
        <p:nvSpPr>
          <p:cNvPr id="3" name="Text 1"/>
          <p:cNvSpPr/>
          <p:nvPr/>
        </p:nvSpPr>
        <p:spPr>
          <a:xfrm>
            <a:off x="640080" y="822960"/>
            <a:ext cx="10908792" cy="1005840"/>
          </a:xfrm>
          <a:prstGeom prst="rect">
            <a:avLst/>
          </a:prstGeom>
          <a:noFill/>
          <a:ln/>
        </p:spPr>
        <p:txBody>
          <a:bodyPr wrap="square" rtlCol="0" anchor="ctr"/>
          <a:lstStyle/>
          <a:p>
            <a:pPr indent="0" marL="0">
              <a:lnSpc>
                <a:spcPts val="3465"/>
              </a:lnSpc>
              <a:buNone/>
            </a:pPr>
            <a:r>
              <a:rPr lang="en-US" sz="3300" b="1" dirty="0">
                <a:solidFill>
                  <a:srgbClr val="FFFFFF"/>
                </a:solidFill>
                <a:latin typeface="Georgia" pitchFamily="34" charset="0"/>
                <a:ea typeface="Georgia" pitchFamily="34" charset="-122"/>
                <a:cs typeface="Georgia" pitchFamily="34" charset="-120"/>
              </a:rPr>
              <a:t>No agent talks to a buyer</a:t>
            </a:r>
            <a:endParaRPr lang="en-US" sz="3300" dirty="0"/>
          </a:p>
          <a:p>
            <a:pPr indent="0" marL="0">
              <a:lnSpc>
                <a:spcPts val="3465"/>
              </a:lnSpc>
              <a:buNone/>
            </a:pPr>
            <a:r>
              <a:rPr lang="en-US" sz="3300" b="1" dirty="0">
                <a:solidFill>
                  <a:srgbClr val="FFFFFF"/>
                </a:solidFill>
                <a:latin typeface="Georgia" pitchFamily="34" charset="0"/>
                <a:ea typeface="Georgia" pitchFamily="34" charset="-122"/>
                <a:cs typeface="Georgia" pitchFamily="34" charset="-120"/>
              </a:rPr>
              <a:t>without a human</a:t>
            </a:r>
            <a:endParaRPr lang="en-US" sz="3300" dirty="0"/>
          </a:p>
        </p:txBody>
      </p:sp>
      <p:sp>
        <p:nvSpPr>
          <p:cNvPr id="4" name="Text 2"/>
          <p:cNvSpPr/>
          <p:nvPr/>
        </p:nvSpPr>
        <p:spPr>
          <a:xfrm>
            <a:off x="640080" y="2606040"/>
            <a:ext cx="5943600" cy="2194560"/>
          </a:xfrm>
          <a:prstGeom prst="rect">
            <a:avLst/>
          </a:prstGeom>
          <a:noFill/>
          <a:ln/>
        </p:spPr>
        <p:txBody>
          <a:bodyPr wrap="square" rtlCol="0" anchor="ctr"/>
          <a:lstStyle/>
          <a:p>
            <a:pPr indent="0" marL="0">
              <a:lnSpc>
                <a:spcPts val="2600"/>
              </a:lnSpc>
              <a:buNone/>
            </a:pPr>
            <a:r>
              <a:rPr lang="en-US" sz="1600" dirty="0">
                <a:solidFill>
                  <a:srgbClr val="D7CFC3"/>
                </a:solidFill>
                <a:latin typeface="Calibri" pitchFamily="34" charset="0"/>
                <a:ea typeface="Calibri" pitchFamily="34" charset="-122"/>
                <a:cs typeface="Calibri" pitchFamily="34" charset="-120"/>
              </a:rPr>
              <a:t>Every outbound message is drafted by AI and sent only after a manager approves it. That single gate is the difference between an AI tool the sales floor quietly sabotages, and one the sales head defends to her MD. It is also DPDP-native — an auditable record of who said what, and when.</a:t>
            </a:r>
            <a:endParaRPr lang="en-US" sz="1600" dirty="0"/>
          </a:p>
        </p:txBody>
      </p:sp>
      <p:sp>
        <p:nvSpPr>
          <p:cNvPr id="5" name="Shape 3"/>
          <p:cNvSpPr/>
          <p:nvPr/>
        </p:nvSpPr>
        <p:spPr>
          <a:xfrm>
            <a:off x="7406640" y="2697480"/>
            <a:ext cx="3931920" cy="777240"/>
          </a:xfrm>
          <a:prstGeom prst="roundRect">
            <a:avLst>
              <a:gd name="adj" fmla="val 7059"/>
            </a:avLst>
          </a:prstGeom>
          <a:solidFill>
            <a:srgbClr val="2B2824"/>
          </a:solidFill>
          <a:ln w="19050">
            <a:solidFill>
              <a:srgbClr val="C0552F"/>
            </a:solidFill>
            <a:prstDash val="solid"/>
          </a:ln>
        </p:spPr>
      </p:sp>
      <p:sp>
        <p:nvSpPr>
          <p:cNvPr id="6" name="Text 4"/>
          <p:cNvSpPr/>
          <p:nvPr/>
        </p:nvSpPr>
        <p:spPr>
          <a:xfrm>
            <a:off x="7406640" y="2697480"/>
            <a:ext cx="3931920" cy="7772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AI drafts</a:t>
            </a:r>
            <a:endParaRPr lang="en-US" sz="1500" dirty="0"/>
          </a:p>
        </p:txBody>
      </p:sp>
      <p:sp>
        <p:nvSpPr>
          <p:cNvPr id="7" name="Text 5"/>
          <p:cNvSpPr/>
          <p:nvPr/>
        </p:nvSpPr>
        <p:spPr>
          <a:xfrm>
            <a:off x="7406640" y="3447288"/>
            <a:ext cx="3931920" cy="274320"/>
          </a:xfrm>
          <a:prstGeom prst="rect">
            <a:avLst/>
          </a:prstGeom>
          <a:noFill/>
          <a:ln/>
        </p:spPr>
        <p:txBody>
          <a:bodyPr wrap="square" rtlCol="0" anchor="ctr"/>
          <a:lstStyle/>
          <a:p>
            <a:pPr algn="ctr" indent="0" marL="0">
              <a:buNone/>
            </a:pPr>
            <a:r>
              <a:rPr lang="en-US" sz="1400" b="1" dirty="0">
                <a:solidFill>
                  <a:srgbClr val="E7D9BD"/>
                </a:solidFill>
                <a:latin typeface="Calibri" pitchFamily="34" charset="0"/>
                <a:ea typeface="Calibri" pitchFamily="34" charset="-122"/>
                <a:cs typeface="Calibri" pitchFamily="34" charset="-120"/>
              </a:rPr>
              <a:t>v</a:t>
            </a:r>
            <a:endParaRPr lang="en-US" sz="1400" dirty="0"/>
          </a:p>
        </p:txBody>
      </p:sp>
      <p:sp>
        <p:nvSpPr>
          <p:cNvPr id="8" name="Shape 6"/>
          <p:cNvSpPr/>
          <p:nvPr/>
        </p:nvSpPr>
        <p:spPr>
          <a:xfrm>
            <a:off x="7406640" y="3749040"/>
            <a:ext cx="3931920" cy="777240"/>
          </a:xfrm>
          <a:prstGeom prst="roundRect">
            <a:avLst>
              <a:gd name="adj" fmla="val 7059"/>
            </a:avLst>
          </a:prstGeom>
          <a:solidFill>
            <a:srgbClr val="2B2824"/>
          </a:solidFill>
          <a:ln w="19050">
            <a:solidFill>
              <a:srgbClr val="5E7261"/>
            </a:solidFill>
            <a:prstDash val="solid"/>
          </a:ln>
        </p:spPr>
      </p:sp>
      <p:sp>
        <p:nvSpPr>
          <p:cNvPr id="9" name="Text 7"/>
          <p:cNvSpPr/>
          <p:nvPr/>
        </p:nvSpPr>
        <p:spPr>
          <a:xfrm>
            <a:off x="7406640" y="3749040"/>
            <a:ext cx="3931920" cy="7772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Manager approves</a:t>
            </a:r>
            <a:endParaRPr lang="en-US" sz="1500" dirty="0"/>
          </a:p>
        </p:txBody>
      </p:sp>
      <p:sp>
        <p:nvSpPr>
          <p:cNvPr id="10" name="Text 8"/>
          <p:cNvSpPr/>
          <p:nvPr/>
        </p:nvSpPr>
        <p:spPr>
          <a:xfrm>
            <a:off x="7406640" y="4498848"/>
            <a:ext cx="3931920" cy="274320"/>
          </a:xfrm>
          <a:prstGeom prst="rect">
            <a:avLst/>
          </a:prstGeom>
          <a:noFill/>
          <a:ln/>
        </p:spPr>
        <p:txBody>
          <a:bodyPr wrap="square" rtlCol="0" anchor="ctr"/>
          <a:lstStyle/>
          <a:p>
            <a:pPr algn="ctr" indent="0" marL="0">
              <a:buNone/>
            </a:pPr>
            <a:r>
              <a:rPr lang="en-US" sz="1400" b="1" dirty="0">
                <a:solidFill>
                  <a:srgbClr val="E7D9BD"/>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7406640" y="4800600"/>
            <a:ext cx="3931920" cy="777240"/>
          </a:xfrm>
          <a:prstGeom prst="roundRect">
            <a:avLst>
              <a:gd name="adj" fmla="val 7059"/>
            </a:avLst>
          </a:prstGeom>
          <a:solidFill>
            <a:srgbClr val="E7D9BD"/>
          </a:solidFill>
          <a:ln w="19050">
            <a:solidFill>
              <a:srgbClr val="E7D9BD"/>
            </a:solidFill>
            <a:prstDash val="solid"/>
          </a:ln>
        </p:spPr>
      </p:sp>
      <p:sp>
        <p:nvSpPr>
          <p:cNvPr id="12" name="Text 10"/>
          <p:cNvSpPr/>
          <p:nvPr/>
        </p:nvSpPr>
        <p:spPr>
          <a:xfrm>
            <a:off x="7406640" y="4800600"/>
            <a:ext cx="3931920" cy="777240"/>
          </a:xfrm>
          <a:prstGeom prst="rect">
            <a:avLst/>
          </a:prstGeom>
          <a:noFill/>
          <a:ln/>
        </p:spPr>
        <p:txBody>
          <a:bodyPr wrap="square" rtlCol="0" anchor="ctr"/>
          <a:lstStyle/>
          <a:p>
            <a:pPr algn="ctr" indent="0" marL="0">
              <a:buNone/>
            </a:pPr>
            <a:r>
              <a:rPr lang="en-US" sz="1500" b="1" dirty="0">
                <a:solidFill>
                  <a:srgbClr val="201E1B"/>
                </a:solidFill>
                <a:latin typeface="Calibri" pitchFamily="34" charset="0"/>
                <a:ea typeface="Calibri" pitchFamily="34" charset="-122"/>
                <a:cs typeface="Calibri" pitchFamily="34" charset="-120"/>
              </a:rPr>
              <a:t>Buyer receives</a:t>
            </a:r>
            <a:endParaRPr lang="en-US" sz="1500" dirty="0"/>
          </a:p>
        </p:txBody>
      </p:sp>
      <p:sp>
        <p:nvSpPr>
          <p:cNvPr id="13" name="Text 11"/>
          <p:cNvSpPr/>
          <p:nvPr/>
        </p:nvSpPr>
        <p:spPr>
          <a:xfrm>
            <a:off x="640080" y="6446520"/>
            <a:ext cx="2743200" cy="274320"/>
          </a:xfrm>
          <a:prstGeom prst="rect">
            <a:avLst/>
          </a:prstGeom>
          <a:noFill/>
          <a:ln/>
        </p:spPr>
        <p:txBody>
          <a:bodyPr wrap="square" rtlCol="0" anchor="ctr"/>
          <a:lstStyle/>
          <a:p>
            <a:pPr indent="0" marL="0">
              <a:buNone/>
            </a:pPr>
            <a:r>
              <a:rPr lang="en-US" sz="1000" i="1" dirty="0">
                <a:solidFill>
                  <a:srgbClr val="8A8278"/>
                </a:solidFill>
                <a:latin typeface="Georgia" pitchFamily="34" charset="0"/>
                <a:ea typeface="Georgia" pitchFamily="34" charset="-122"/>
                <a:cs typeface="Georgia" pitchFamily="34" charset="-120"/>
              </a:rPr>
              <a:t>Pentahouse</a:t>
            </a:r>
            <a:endParaRPr lang="en-US" sz="1000" dirty="0"/>
          </a:p>
        </p:txBody>
      </p:sp>
      <p:sp>
        <p:nvSpPr>
          <p:cNvPr id="14" name="Text 12"/>
          <p:cNvSpPr/>
          <p:nvPr/>
        </p:nvSpPr>
        <p:spPr>
          <a:xfrm>
            <a:off x="11091672" y="6446520"/>
            <a:ext cx="457200" cy="274320"/>
          </a:xfrm>
          <a:prstGeom prst="rect">
            <a:avLst/>
          </a:prstGeom>
          <a:noFill/>
          <a:ln/>
        </p:spPr>
        <p:txBody>
          <a:bodyPr wrap="square" rtlCol="0" anchor="ctr"/>
          <a:lstStyle/>
          <a:p>
            <a:pPr algn="r" indent="0" marL="0">
              <a:buNone/>
            </a:pPr>
            <a:r>
              <a:rPr lang="en-US" sz="1000" dirty="0">
                <a:solidFill>
                  <a:srgbClr val="8A827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4EC"/>
        </a:solidFill>
      </p:bgPr>
    </p:bg>
    <p:spTree>
      <p:nvGrpSpPr>
        <p:cNvPr id="1" name=""/>
        <p:cNvGrpSpPr/>
        <p:nvPr/>
      </p:nvGrpSpPr>
      <p:grpSpPr>
        <a:xfrm>
          <a:off x="0" y="0"/>
          <a:ext cx="0" cy="0"/>
          <a:chOff x="0" y="0"/>
          <a:chExt cx="0" cy="0"/>
        </a:xfrm>
      </p:grpSpPr>
      <p:sp>
        <p:nvSpPr>
          <p:cNvPr id="2" name="Text 0"/>
          <p:cNvSpPr/>
          <p:nvPr/>
        </p:nvSpPr>
        <p:spPr>
          <a:xfrm>
            <a:off x="640080" y="502920"/>
            <a:ext cx="10908792" cy="274320"/>
          </a:xfrm>
          <a:prstGeom prst="rect">
            <a:avLst/>
          </a:prstGeom>
          <a:noFill/>
          <a:ln/>
        </p:spPr>
        <p:txBody>
          <a:bodyPr wrap="square" rtlCol="0" anchor="ctr"/>
          <a:lstStyle/>
          <a:p>
            <a:pPr indent="0" marL="0">
              <a:buNone/>
            </a:pPr>
            <a:r>
              <a:rPr lang="en-US" sz="1200" b="1" spc="300" kern="0" dirty="0">
                <a:solidFill>
                  <a:srgbClr val="C0552F"/>
                </a:solidFill>
                <a:latin typeface="Calibri" pitchFamily="34" charset="0"/>
                <a:ea typeface="Calibri" pitchFamily="34" charset="-122"/>
                <a:cs typeface="Calibri" pitchFamily="34" charset="-120"/>
              </a:rPr>
              <a:t>THE PRODUCT</a:t>
            </a:r>
            <a:endParaRPr lang="en-US" sz="1200" dirty="0"/>
          </a:p>
        </p:txBody>
      </p:sp>
      <p:sp>
        <p:nvSpPr>
          <p:cNvPr id="3" name="Text 1"/>
          <p:cNvSpPr/>
          <p:nvPr/>
        </p:nvSpPr>
        <p:spPr>
          <a:xfrm>
            <a:off x="640080" y="822960"/>
            <a:ext cx="10908792" cy="1005840"/>
          </a:xfrm>
          <a:prstGeom prst="rect">
            <a:avLst/>
          </a:prstGeom>
          <a:noFill/>
          <a:ln/>
        </p:spPr>
        <p:txBody>
          <a:bodyPr wrap="square" rtlCol="0" anchor="ctr"/>
          <a:lstStyle/>
          <a:p>
            <a:pPr indent="0" marL="0">
              <a:lnSpc>
                <a:spcPts val="3465"/>
              </a:lnSpc>
              <a:buNone/>
            </a:pPr>
            <a:r>
              <a:rPr lang="en-US" sz="3300" b="1" dirty="0">
                <a:solidFill>
                  <a:srgbClr val="201E1B"/>
                </a:solidFill>
                <a:latin typeface="Georgia" pitchFamily="34" charset="0"/>
                <a:ea typeface="Georgia" pitchFamily="34" charset="-122"/>
                <a:cs typeface="Georgia" pitchFamily="34" charset="-120"/>
              </a:rPr>
              <a:t>A role-aware dashboard, built for non-technical teams</a:t>
            </a:r>
            <a:endParaRPr lang="en-US" sz="3300" dirty="0"/>
          </a:p>
        </p:txBody>
      </p:sp>
      <p:sp>
        <p:nvSpPr>
          <p:cNvPr id="4" name="Shape 2"/>
          <p:cNvSpPr/>
          <p:nvPr/>
        </p:nvSpPr>
        <p:spPr>
          <a:xfrm>
            <a:off x="603504" y="2249424"/>
            <a:ext cx="6839712" cy="3410401"/>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pic>
        <p:nvPicPr>
          <p:cNvPr id="5" name="Image 0" descr="assets/today.png">    </p:cNvPr>
          <p:cNvPicPr>
            <a:picLocks noChangeAspect="1"/>
          </p:cNvPicPr>
          <p:nvPr/>
        </p:nvPicPr>
        <p:blipFill>
          <a:blip r:embed="rId1"/>
          <a:stretch>
            <a:fillRect/>
          </a:stretch>
        </p:blipFill>
        <p:spPr>
          <a:xfrm>
            <a:off x="640080" y="2286000"/>
            <a:ext cx="6766560" cy="3337249"/>
          </a:xfrm>
          <a:prstGeom prst="rect">
            <a:avLst/>
          </a:prstGeom>
        </p:spPr>
      </p:pic>
      <p:sp>
        <p:nvSpPr>
          <p:cNvPr id="6" name="Text 3"/>
          <p:cNvSpPr/>
          <p:nvPr/>
        </p:nvSpPr>
        <p:spPr>
          <a:xfrm>
            <a:off x="640080" y="5714689"/>
            <a:ext cx="6766560" cy="274320"/>
          </a:xfrm>
          <a:prstGeom prst="rect">
            <a:avLst/>
          </a:prstGeom>
          <a:noFill/>
          <a:ln/>
        </p:spPr>
        <p:txBody>
          <a:bodyPr wrap="square" rtlCol="0" anchor="ctr"/>
          <a:lstStyle/>
          <a:p>
            <a:pPr algn="ctr" indent="0" marL="0">
              <a:buNone/>
            </a:pPr>
            <a:r>
              <a:rPr lang="en-US" sz="1100" dirty="0">
                <a:solidFill>
                  <a:srgbClr val="6F685E"/>
                </a:solidFill>
                <a:latin typeface="Calibri" pitchFamily="34" charset="0"/>
                <a:ea typeface="Calibri" pitchFamily="34" charset="-122"/>
                <a:cs typeface="Calibri" pitchFamily="34" charset="-120"/>
              </a:rPr>
              <a:t>Sales Head command center</a:t>
            </a:r>
            <a:endParaRPr lang="en-US" sz="1100" dirty="0"/>
          </a:p>
        </p:txBody>
      </p:sp>
      <p:sp>
        <p:nvSpPr>
          <p:cNvPr id="7" name="Shape 4"/>
          <p:cNvSpPr/>
          <p:nvPr/>
        </p:nvSpPr>
        <p:spPr>
          <a:xfrm>
            <a:off x="7781544" y="2249424"/>
            <a:ext cx="4233672" cy="2125109"/>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pic>
        <p:nvPicPr>
          <p:cNvPr id="8" name="Image 1" descr="assets/lead.png">    </p:cNvPr>
          <p:cNvPicPr>
            <a:picLocks noChangeAspect="1"/>
          </p:cNvPicPr>
          <p:nvPr/>
        </p:nvPicPr>
        <p:blipFill>
          <a:blip r:embed="rId2"/>
          <a:stretch>
            <a:fillRect/>
          </a:stretch>
        </p:blipFill>
        <p:spPr>
          <a:xfrm>
            <a:off x="7818120" y="2286000"/>
            <a:ext cx="4160520" cy="2051957"/>
          </a:xfrm>
          <a:prstGeom prst="rect">
            <a:avLst/>
          </a:prstGeom>
        </p:spPr>
      </p:pic>
      <p:sp>
        <p:nvSpPr>
          <p:cNvPr id="9" name="Text 5"/>
          <p:cNvSpPr/>
          <p:nvPr/>
        </p:nvSpPr>
        <p:spPr>
          <a:xfrm>
            <a:off x="7818120" y="4429397"/>
            <a:ext cx="4160520" cy="274320"/>
          </a:xfrm>
          <a:prstGeom prst="rect">
            <a:avLst/>
          </a:prstGeom>
          <a:noFill/>
          <a:ln/>
        </p:spPr>
        <p:txBody>
          <a:bodyPr wrap="square" rtlCol="0" anchor="ctr"/>
          <a:lstStyle/>
          <a:p>
            <a:pPr algn="ctr" indent="0" marL="0">
              <a:buNone/>
            </a:pPr>
            <a:r>
              <a:rPr lang="en-US" sz="1100" dirty="0">
                <a:solidFill>
                  <a:srgbClr val="6F685E"/>
                </a:solidFill>
                <a:latin typeface="Calibri" pitchFamily="34" charset="0"/>
                <a:ea typeface="Calibri" pitchFamily="34" charset="-122"/>
                <a:cs typeface="Calibri" pitchFamily="34" charset="-120"/>
              </a:rPr>
              <a:t>"Should you call this lead?"</a:t>
            </a:r>
            <a:endParaRPr lang="en-US" sz="1100" dirty="0"/>
          </a:p>
        </p:txBody>
      </p:sp>
      <p:sp>
        <p:nvSpPr>
          <p:cNvPr id="10" name="Shape 6"/>
          <p:cNvSpPr/>
          <p:nvPr/>
        </p:nvSpPr>
        <p:spPr>
          <a:xfrm>
            <a:off x="7781544" y="4123944"/>
            <a:ext cx="4233672" cy="2125109"/>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pic>
        <p:nvPicPr>
          <p:cNvPr id="11" name="Image 2" descr="assets/attribution.png">    </p:cNvPr>
          <p:cNvPicPr>
            <a:picLocks noChangeAspect="1"/>
          </p:cNvPicPr>
          <p:nvPr/>
        </p:nvPicPr>
        <p:blipFill>
          <a:blip r:embed="rId3"/>
          <a:stretch>
            <a:fillRect/>
          </a:stretch>
        </p:blipFill>
        <p:spPr>
          <a:xfrm>
            <a:off x="7818120" y="4160520"/>
            <a:ext cx="4160520" cy="2051957"/>
          </a:xfrm>
          <a:prstGeom prst="rect">
            <a:avLst/>
          </a:prstGeom>
        </p:spPr>
      </p:pic>
      <p:sp>
        <p:nvSpPr>
          <p:cNvPr id="12" name="Text 7"/>
          <p:cNvSpPr/>
          <p:nvPr/>
        </p:nvSpPr>
        <p:spPr>
          <a:xfrm>
            <a:off x="7818120" y="6303917"/>
            <a:ext cx="4160520" cy="274320"/>
          </a:xfrm>
          <a:prstGeom prst="rect">
            <a:avLst/>
          </a:prstGeom>
          <a:noFill/>
          <a:ln/>
        </p:spPr>
        <p:txBody>
          <a:bodyPr wrap="square" rtlCol="0" anchor="ctr"/>
          <a:lstStyle/>
          <a:p>
            <a:pPr algn="ctr" indent="0" marL="0">
              <a:buNone/>
            </a:pPr>
            <a:r>
              <a:rPr lang="en-US" sz="1100" dirty="0">
                <a:solidFill>
                  <a:srgbClr val="6F685E"/>
                </a:solidFill>
                <a:latin typeface="Calibri" pitchFamily="34" charset="0"/>
                <a:ea typeface="Calibri" pitchFamily="34" charset="-122"/>
                <a:cs typeface="Calibri" pitchFamily="34" charset="-120"/>
              </a:rPr>
              <a:t>Where wins come from</a:t>
            </a:r>
            <a:endParaRPr lang="en-US" sz="1100" dirty="0"/>
          </a:p>
        </p:txBody>
      </p:sp>
      <p:sp>
        <p:nvSpPr>
          <p:cNvPr id="13" name="Text 8"/>
          <p:cNvSpPr/>
          <p:nvPr/>
        </p:nvSpPr>
        <p:spPr>
          <a:xfrm>
            <a:off x="640080" y="5989320"/>
            <a:ext cx="10908792" cy="365760"/>
          </a:xfrm>
          <a:prstGeom prst="rect">
            <a:avLst/>
          </a:prstGeom>
          <a:noFill/>
          <a:ln/>
        </p:spPr>
        <p:txBody>
          <a:bodyPr wrap="square" rtlCol="0" anchor="ctr"/>
          <a:lstStyle/>
          <a:p>
            <a:pPr indent="0" marL="0">
              <a:buNone/>
            </a:pPr>
            <a:r>
              <a:rPr lang="en-US" sz="1250" i="1" dirty="0">
                <a:solidFill>
                  <a:srgbClr val="2B2722"/>
                </a:solidFill>
                <a:latin typeface="Calibri" pitchFamily="34" charset="0"/>
                <a:ea typeface="Calibri" pitchFamily="34" charset="-122"/>
                <a:cs typeface="Calibri" pitchFamily="34" charset="-120"/>
              </a:rPr>
              <a:t>Each persona sees only what their job needs — and the model names, agents, and jargon are stripped from every sales screen.</a:t>
            </a:r>
            <a:endParaRPr lang="en-US" sz="1250" dirty="0"/>
          </a:p>
        </p:txBody>
      </p:sp>
      <p:sp>
        <p:nvSpPr>
          <p:cNvPr id="14" name="Text 9"/>
          <p:cNvSpPr/>
          <p:nvPr/>
        </p:nvSpPr>
        <p:spPr>
          <a:xfrm>
            <a:off x="640080" y="6446520"/>
            <a:ext cx="2743200" cy="274320"/>
          </a:xfrm>
          <a:prstGeom prst="rect">
            <a:avLst/>
          </a:prstGeom>
          <a:noFill/>
          <a:ln/>
        </p:spPr>
        <p:txBody>
          <a:bodyPr wrap="square" rtlCol="0" anchor="ctr"/>
          <a:lstStyle/>
          <a:p>
            <a:pPr indent="0" marL="0">
              <a:buNone/>
            </a:pPr>
            <a:r>
              <a:rPr lang="en-US" sz="1000" i="1" dirty="0">
                <a:solidFill>
                  <a:srgbClr val="6F685E"/>
                </a:solidFill>
                <a:latin typeface="Georgia" pitchFamily="34" charset="0"/>
                <a:ea typeface="Georgia" pitchFamily="34" charset="-122"/>
                <a:cs typeface="Georgia" pitchFamily="34" charset="-120"/>
              </a:rPr>
              <a:t>Pentahouse</a:t>
            </a:r>
            <a:endParaRPr lang="en-US" sz="1000" dirty="0"/>
          </a:p>
        </p:txBody>
      </p:sp>
      <p:sp>
        <p:nvSpPr>
          <p:cNvPr id="15" name="Text 10"/>
          <p:cNvSpPr/>
          <p:nvPr/>
        </p:nvSpPr>
        <p:spPr>
          <a:xfrm>
            <a:off x="11091672" y="6446520"/>
            <a:ext cx="457200" cy="274320"/>
          </a:xfrm>
          <a:prstGeom prst="rect">
            <a:avLst/>
          </a:prstGeom>
          <a:noFill/>
          <a:ln/>
        </p:spPr>
        <p:txBody>
          <a:bodyPr wrap="square" rtlCol="0" anchor="ctr"/>
          <a:lstStyle/>
          <a:p>
            <a:pPr algn="r" indent="0" marL="0">
              <a:buNone/>
            </a:pPr>
            <a:r>
              <a:rPr lang="en-US" sz="1000" dirty="0">
                <a:solidFill>
                  <a:srgbClr val="6F685E"/>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4EC"/>
        </a:solidFill>
      </p:bgPr>
    </p:bg>
    <p:spTree>
      <p:nvGrpSpPr>
        <p:cNvPr id="1" name=""/>
        <p:cNvGrpSpPr/>
        <p:nvPr/>
      </p:nvGrpSpPr>
      <p:grpSpPr>
        <a:xfrm>
          <a:off x="0" y="0"/>
          <a:ext cx="0" cy="0"/>
          <a:chOff x="0" y="0"/>
          <a:chExt cx="0" cy="0"/>
        </a:xfrm>
      </p:grpSpPr>
      <p:sp>
        <p:nvSpPr>
          <p:cNvPr id="2" name="Text 0"/>
          <p:cNvSpPr/>
          <p:nvPr/>
        </p:nvSpPr>
        <p:spPr>
          <a:xfrm>
            <a:off x="640080" y="502920"/>
            <a:ext cx="10908792" cy="274320"/>
          </a:xfrm>
          <a:prstGeom prst="rect">
            <a:avLst/>
          </a:prstGeom>
          <a:noFill/>
          <a:ln/>
        </p:spPr>
        <p:txBody>
          <a:bodyPr wrap="square" rtlCol="0" anchor="ctr"/>
          <a:lstStyle/>
          <a:p>
            <a:pPr indent="0" marL="0">
              <a:buNone/>
            </a:pPr>
            <a:r>
              <a:rPr lang="en-US" sz="1200" b="1" spc="300" kern="0" dirty="0">
                <a:solidFill>
                  <a:srgbClr val="C0552F"/>
                </a:solidFill>
                <a:latin typeface="Calibri" pitchFamily="34" charset="0"/>
                <a:ea typeface="Calibri" pitchFamily="34" charset="-122"/>
                <a:cs typeface="Calibri" pitchFamily="34" charset="-120"/>
              </a:rPr>
              <a:t>OUTCOMES</a:t>
            </a:r>
            <a:endParaRPr lang="en-US" sz="1200" dirty="0"/>
          </a:p>
        </p:txBody>
      </p:sp>
      <p:sp>
        <p:nvSpPr>
          <p:cNvPr id="3" name="Text 1"/>
          <p:cNvSpPr/>
          <p:nvPr/>
        </p:nvSpPr>
        <p:spPr>
          <a:xfrm>
            <a:off x="640080" y="822960"/>
            <a:ext cx="10908792" cy="1005840"/>
          </a:xfrm>
          <a:prstGeom prst="rect">
            <a:avLst/>
          </a:prstGeom>
          <a:noFill/>
          <a:ln/>
        </p:spPr>
        <p:txBody>
          <a:bodyPr wrap="square" rtlCol="0" anchor="ctr"/>
          <a:lstStyle/>
          <a:p>
            <a:pPr indent="0" marL="0">
              <a:lnSpc>
                <a:spcPts val="3465"/>
              </a:lnSpc>
              <a:buNone/>
            </a:pPr>
            <a:r>
              <a:rPr lang="en-US" sz="3300" b="1" dirty="0">
                <a:solidFill>
                  <a:srgbClr val="201E1B"/>
                </a:solidFill>
                <a:latin typeface="Georgia" pitchFamily="34" charset="0"/>
                <a:ea typeface="Georgia" pitchFamily="34" charset="-122"/>
                <a:cs typeface="Georgia" pitchFamily="34" charset="-120"/>
              </a:rPr>
              <a:t>What good looks like</a:t>
            </a:r>
            <a:endParaRPr lang="en-US" sz="3300" dirty="0"/>
          </a:p>
        </p:txBody>
      </p:sp>
      <p:sp>
        <p:nvSpPr>
          <p:cNvPr id="4" name="Shape 2"/>
          <p:cNvSpPr/>
          <p:nvPr/>
        </p:nvSpPr>
        <p:spPr>
          <a:xfrm>
            <a:off x="640080" y="2286000"/>
            <a:ext cx="5212080" cy="2103120"/>
          </a:xfrm>
          <a:prstGeom prst="roundRect">
            <a:avLst>
              <a:gd name="adj" fmla="val 3043"/>
            </a:avLst>
          </a:prstGeom>
          <a:solidFill>
            <a:srgbClr val="201E1B"/>
          </a:solidFill>
          <a:ln/>
        </p:spPr>
      </p:sp>
      <p:sp>
        <p:nvSpPr>
          <p:cNvPr id="5" name="Text 3"/>
          <p:cNvSpPr/>
          <p:nvPr/>
        </p:nvSpPr>
        <p:spPr>
          <a:xfrm>
            <a:off x="1005840" y="2468880"/>
            <a:ext cx="4572000" cy="320040"/>
          </a:xfrm>
          <a:prstGeom prst="rect">
            <a:avLst/>
          </a:prstGeom>
          <a:noFill/>
          <a:ln/>
        </p:spPr>
        <p:txBody>
          <a:bodyPr wrap="square" rtlCol="0" anchor="ctr"/>
          <a:lstStyle/>
          <a:p>
            <a:pPr indent="0" marL="0">
              <a:buNone/>
            </a:pPr>
            <a:r>
              <a:rPr lang="en-US" sz="1300" b="1" dirty="0">
                <a:solidFill>
                  <a:srgbClr val="E7D9BD"/>
                </a:solidFill>
                <a:latin typeface="Calibri" pitchFamily="34" charset="0"/>
                <a:ea typeface="Calibri" pitchFamily="34" charset="-122"/>
                <a:cs typeface="Calibri" pitchFamily="34" charset="-120"/>
              </a:rPr>
              <a:t>First qualifying response</a:t>
            </a:r>
            <a:endParaRPr lang="en-US" sz="1300" dirty="0"/>
          </a:p>
        </p:txBody>
      </p:sp>
      <p:sp>
        <p:nvSpPr>
          <p:cNvPr id="6" name="Text 4"/>
          <p:cNvSpPr/>
          <p:nvPr/>
        </p:nvSpPr>
        <p:spPr>
          <a:xfrm>
            <a:off x="1005840" y="2880360"/>
            <a:ext cx="4572000" cy="914400"/>
          </a:xfrm>
          <a:prstGeom prst="rect">
            <a:avLst/>
          </a:prstGeom>
          <a:noFill/>
          <a:ln/>
        </p:spPr>
        <p:txBody>
          <a:bodyPr wrap="square" rtlCol="0" anchor="ctr"/>
          <a:lstStyle/>
          <a:p>
            <a:pPr indent="0" marL="0">
              <a:buNone/>
            </a:pPr>
            <a:r>
              <a:rPr lang="en-US" sz="2600" strike="sngStrike" dirty="0">
                <a:solidFill>
                  <a:srgbClr val="8A8278"/>
                </a:solidFill>
                <a:latin typeface="Georgia" pitchFamily="34" charset="0"/>
                <a:ea typeface="Georgia" pitchFamily="34" charset="-122"/>
                <a:cs typeface="Georgia" pitchFamily="34" charset="-120"/>
              </a:rPr>
              <a:t>~5 hrs</a:t>
            </a:r>
            <a:pPr indent="0" marL="0">
              <a:buNone/>
            </a:pPr>
            <a:r>
              <a:rPr lang="en-US" sz="2000" dirty="0">
                <a:solidFill>
                  <a:srgbClr val="C0552F"/>
                </a:solidFill>
                <a:latin typeface="Georgia" pitchFamily="34" charset="0"/>
                <a:ea typeface="Georgia" pitchFamily="34" charset="-122"/>
                <a:cs typeface="Georgia" pitchFamily="34" charset="-120"/>
              </a:rPr>
              <a:t>   to   </a:t>
            </a:r>
            <a:pPr indent="0" marL="0">
              <a:buNone/>
            </a:pPr>
            <a:r>
              <a:rPr lang="en-US" sz="3800" b="1" dirty="0">
                <a:solidFill>
                  <a:srgbClr val="FFFFFF"/>
                </a:solidFill>
                <a:latin typeface="Georgia" pitchFamily="34" charset="0"/>
                <a:ea typeface="Georgia" pitchFamily="34" charset="-122"/>
                <a:cs typeface="Georgia" pitchFamily="34" charset="-120"/>
              </a:rPr>
              <a:t>&lt; 60 sec</a:t>
            </a:r>
            <a:endParaRPr lang="en-US" sz="2600" dirty="0"/>
          </a:p>
        </p:txBody>
      </p:sp>
      <p:sp>
        <p:nvSpPr>
          <p:cNvPr id="7" name="Text 5"/>
          <p:cNvSpPr/>
          <p:nvPr/>
        </p:nvSpPr>
        <p:spPr>
          <a:xfrm>
            <a:off x="1005840" y="3840480"/>
            <a:ext cx="4572000" cy="365760"/>
          </a:xfrm>
          <a:prstGeom prst="rect">
            <a:avLst/>
          </a:prstGeom>
          <a:noFill/>
          <a:ln/>
        </p:spPr>
        <p:txBody>
          <a:bodyPr wrap="square" rtlCol="0" anchor="ctr"/>
          <a:lstStyle/>
          <a:p>
            <a:pPr indent="0" marL="0">
              <a:buNone/>
            </a:pPr>
            <a:r>
              <a:rPr lang="en-US" sz="1250" i="1" dirty="0">
                <a:solidFill>
                  <a:srgbClr val="C7BEB2"/>
                </a:solidFill>
                <a:latin typeface="Calibri" pitchFamily="34" charset="0"/>
                <a:ea typeface="Calibri" pitchFamily="34" charset="-122"/>
                <a:cs typeface="Calibri" pitchFamily="34" charset="-120"/>
              </a:rPr>
              <a:t>North star: median Time-to-Qualification</a:t>
            </a:r>
            <a:endParaRPr lang="en-US" sz="1250" dirty="0"/>
          </a:p>
        </p:txBody>
      </p:sp>
      <p:sp>
        <p:nvSpPr>
          <p:cNvPr id="8" name="Shape 6"/>
          <p:cNvSpPr/>
          <p:nvPr/>
        </p:nvSpPr>
        <p:spPr>
          <a:xfrm>
            <a:off x="6355080" y="2286000"/>
            <a:ext cx="2468880" cy="91440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9" name="Shape 7"/>
          <p:cNvSpPr/>
          <p:nvPr/>
        </p:nvSpPr>
        <p:spPr>
          <a:xfrm>
            <a:off x="6355080" y="2286000"/>
            <a:ext cx="64008" cy="914400"/>
          </a:xfrm>
          <a:prstGeom prst="rect">
            <a:avLst/>
          </a:prstGeom>
          <a:solidFill>
            <a:srgbClr val="5E7261"/>
          </a:solidFill>
          <a:ln/>
        </p:spPr>
      </p:sp>
      <p:sp>
        <p:nvSpPr>
          <p:cNvPr id="10" name="Text 8"/>
          <p:cNvSpPr/>
          <p:nvPr/>
        </p:nvSpPr>
        <p:spPr>
          <a:xfrm>
            <a:off x="6537960" y="2404872"/>
            <a:ext cx="2194560" cy="365760"/>
          </a:xfrm>
          <a:prstGeom prst="rect">
            <a:avLst/>
          </a:prstGeom>
          <a:noFill/>
          <a:ln/>
        </p:spPr>
        <p:txBody>
          <a:bodyPr wrap="square" rtlCol="0" anchor="ctr"/>
          <a:lstStyle/>
          <a:p>
            <a:pPr indent="0" marL="0">
              <a:buNone/>
            </a:pPr>
            <a:r>
              <a:rPr lang="en-US" sz="1600" b="1" dirty="0">
                <a:solidFill>
                  <a:srgbClr val="C0552F"/>
                </a:solidFill>
                <a:latin typeface="Georgia" pitchFamily="34" charset="0"/>
                <a:ea typeface="Georgia" pitchFamily="34" charset="-122"/>
                <a:cs typeface="Georgia" pitchFamily="34" charset="-120"/>
              </a:rPr>
              <a:t>Lead → visit</a:t>
            </a:r>
            <a:endParaRPr lang="en-US" sz="1600" dirty="0"/>
          </a:p>
        </p:txBody>
      </p:sp>
      <p:sp>
        <p:nvSpPr>
          <p:cNvPr id="11" name="Text 9"/>
          <p:cNvSpPr/>
          <p:nvPr/>
        </p:nvSpPr>
        <p:spPr>
          <a:xfrm>
            <a:off x="6537960" y="2761488"/>
            <a:ext cx="2194560" cy="411480"/>
          </a:xfrm>
          <a:prstGeom prst="rect">
            <a:avLst/>
          </a:prstGeom>
          <a:noFill/>
          <a:ln/>
        </p:spPr>
        <p:txBody>
          <a:bodyPr wrap="square" rtlCol="0" anchor="ctr"/>
          <a:lstStyle/>
          <a:p>
            <a:pPr indent="0" marL="0">
              <a:lnSpc>
                <a:spcPts val="1300"/>
              </a:lnSpc>
              <a:buNone/>
            </a:pPr>
            <a:r>
              <a:rPr lang="en-US" sz="1050" dirty="0">
                <a:solidFill>
                  <a:srgbClr val="2B2722"/>
                </a:solidFill>
                <a:latin typeface="Calibri" pitchFamily="34" charset="0"/>
                <a:ea typeface="Calibri" pitchFamily="34" charset="-122"/>
                <a:cs typeface="Calibri" pitchFamily="34" charset="-120"/>
              </a:rPr>
              <a:t>conversion lifted, measured per source</a:t>
            </a:r>
            <a:endParaRPr lang="en-US" sz="1050" dirty="0"/>
          </a:p>
        </p:txBody>
      </p:sp>
      <p:sp>
        <p:nvSpPr>
          <p:cNvPr id="12" name="Shape 10"/>
          <p:cNvSpPr/>
          <p:nvPr/>
        </p:nvSpPr>
        <p:spPr>
          <a:xfrm>
            <a:off x="9052560" y="2286000"/>
            <a:ext cx="2468880" cy="91440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3" name="Shape 11"/>
          <p:cNvSpPr/>
          <p:nvPr/>
        </p:nvSpPr>
        <p:spPr>
          <a:xfrm>
            <a:off x="9052560" y="2286000"/>
            <a:ext cx="64008" cy="914400"/>
          </a:xfrm>
          <a:prstGeom prst="rect">
            <a:avLst/>
          </a:prstGeom>
          <a:solidFill>
            <a:srgbClr val="5E7261"/>
          </a:solidFill>
          <a:ln/>
        </p:spPr>
      </p:sp>
      <p:sp>
        <p:nvSpPr>
          <p:cNvPr id="14" name="Text 12"/>
          <p:cNvSpPr/>
          <p:nvPr/>
        </p:nvSpPr>
        <p:spPr>
          <a:xfrm>
            <a:off x="9235440" y="2404872"/>
            <a:ext cx="2194560" cy="365760"/>
          </a:xfrm>
          <a:prstGeom prst="rect">
            <a:avLst/>
          </a:prstGeom>
          <a:noFill/>
          <a:ln/>
        </p:spPr>
        <p:txBody>
          <a:bodyPr wrap="square" rtlCol="0" anchor="ctr"/>
          <a:lstStyle/>
          <a:p>
            <a:pPr indent="0" marL="0">
              <a:buNone/>
            </a:pPr>
            <a:r>
              <a:rPr lang="en-US" sz="1600" b="1" dirty="0">
                <a:solidFill>
                  <a:srgbClr val="C0552F"/>
                </a:solidFill>
                <a:latin typeface="Georgia" pitchFamily="34" charset="0"/>
                <a:ea typeface="Georgia" pitchFamily="34" charset="-122"/>
                <a:cs typeface="Georgia" pitchFamily="34" charset="-120"/>
              </a:rPr>
              <a:t>Visit → booking</a:t>
            </a:r>
            <a:endParaRPr lang="en-US" sz="1600" dirty="0"/>
          </a:p>
        </p:txBody>
      </p:sp>
      <p:sp>
        <p:nvSpPr>
          <p:cNvPr id="15" name="Text 13"/>
          <p:cNvSpPr/>
          <p:nvPr/>
        </p:nvSpPr>
        <p:spPr>
          <a:xfrm>
            <a:off x="9235440" y="2761488"/>
            <a:ext cx="2194560" cy="411480"/>
          </a:xfrm>
          <a:prstGeom prst="rect">
            <a:avLst/>
          </a:prstGeom>
          <a:noFill/>
          <a:ln/>
        </p:spPr>
        <p:txBody>
          <a:bodyPr wrap="square" rtlCol="0" anchor="ctr"/>
          <a:lstStyle/>
          <a:p>
            <a:pPr indent="0" marL="0">
              <a:lnSpc>
                <a:spcPts val="1300"/>
              </a:lnSpc>
              <a:buNone/>
            </a:pPr>
            <a:r>
              <a:rPr lang="en-US" sz="1050" dirty="0">
                <a:solidFill>
                  <a:srgbClr val="2B2722"/>
                </a:solidFill>
                <a:latin typeface="Calibri" pitchFamily="34" charset="0"/>
                <a:ea typeface="Calibri" pitchFamily="34" charset="-122"/>
                <a:cs typeface="Calibri" pitchFamily="34" charset="-120"/>
              </a:rPr>
              <a:t>tracked with AI-extracted objections</a:t>
            </a:r>
            <a:endParaRPr lang="en-US" sz="1050" dirty="0"/>
          </a:p>
        </p:txBody>
      </p:sp>
      <p:sp>
        <p:nvSpPr>
          <p:cNvPr id="16" name="Shape 14"/>
          <p:cNvSpPr/>
          <p:nvPr/>
        </p:nvSpPr>
        <p:spPr>
          <a:xfrm>
            <a:off x="6355080" y="3383280"/>
            <a:ext cx="2468880" cy="91440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7" name="Shape 15"/>
          <p:cNvSpPr/>
          <p:nvPr/>
        </p:nvSpPr>
        <p:spPr>
          <a:xfrm>
            <a:off x="6355080" y="3383280"/>
            <a:ext cx="64008" cy="914400"/>
          </a:xfrm>
          <a:prstGeom prst="rect">
            <a:avLst/>
          </a:prstGeom>
          <a:solidFill>
            <a:srgbClr val="5E7261"/>
          </a:solidFill>
          <a:ln/>
        </p:spPr>
      </p:sp>
      <p:sp>
        <p:nvSpPr>
          <p:cNvPr id="18" name="Text 16"/>
          <p:cNvSpPr/>
          <p:nvPr/>
        </p:nvSpPr>
        <p:spPr>
          <a:xfrm>
            <a:off x="6537960" y="3502152"/>
            <a:ext cx="2194560" cy="365760"/>
          </a:xfrm>
          <a:prstGeom prst="rect">
            <a:avLst/>
          </a:prstGeom>
          <a:noFill/>
          <a:ln/>
        </p:spPr>
        <p:txBody>
          <a:bodyPr wrap="square" rtlCol="0" anchor="ctr"/>
          <a:lstStyle/>
          <a:p>
            <a:pPr indent="0" marL="0">
              <a:buNone/>
            </a:pPr>
            <a:r>
              <a:rPr lang="en-US" sz="1600" b="1" dirty="0">
                <a:solidFill>
                  <a:srgbClr val="C0552F"/>
                </a:solidFill>
                <a:latin typeface="Georgia" pitchFamily="34" charset="0"/>
                <a:ea typeface="Georgia" pitchFamily="34" charset="-122"/>
                <a:cs typeface="Georgia" pitchFamily="34" charset="-120"/>
              </a:rPr>
              <a:t>100%</a:t>
            </a:r>
            <a:endParaRPr lang="en-US" sz="1600" dirty="0"/>
          </a:p>
        </p:txBody>
      </p:sp>
      <p:sp>
        <p:nvSpPr>
          <p:cNvPr id="19" name="Text 17"/>
          <p:cNvSpPr/>
          <p:nvPr/>
        </p:nvSpPr>
        <p:spPr>
          <a:xfrm>
            <a:off x="6537960" y="3858768"/>
            <a:ext cx="2194560" cy="411480"/>
          </a:xfrm>
          <a:prstGeom prst="rect">
            <a:avLst/>
          </a:prstGeom>
          <a:noFill/>
          <a:ln/>
        </p:spPr>
        <p:txBody>
          <a:bodyPr wrap="square" rtlCol="0" anchor="ctr"/>
          <a:lstStyle/>
          <a:p>
            <a:pPr indent="0" marL="0">
              <a:lnSpc>
                <a:spcPts val="1300"/>
              </a:lnSpc>
              <a:buNone/>
            </a:pPr>
            <a:r>
              <a:rPr lang="en-US" sz="1050" dirty="0">
                <a:solidFill>
                  <a:srgbClr val="2B2722"/>
                </a:solidFill>
                <a:latin typeface="Calibri" pitchFamily="34" charset="0"/>
                <a:ea typeface="Calibri" pitchFamily="34" charset="-122"/>
                <a:cs typeface="Calibri" pitchFamily="34" charset="-120"/>
              </a:rPr>
              <a:t>of bookings traced source → booking</a:t>
            </a:r>
            <a:endParaRPr lang="en-US" sz="1050" dirty="0"/>
          </a:p>
        </p:txBody>
      </p:sp>
      <p:sp>
        <p:nvSpPr>
          <p:cNvPr id="20" name="Shape 18"/>
          <p:cNvSpPr/>
          <p:nvPr/>
        </p:nvSpPr>
        <p:spPr>
          <a:xfrm>
            <a:off x="9052560" y="3383280"/>
            <a:ext cx="2468880" cy="91440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21" name="Shape 19"/>
          <p:cNvSpPr/>
          <p:nvPr/>
        </p:nvSpPr>
        <p:spPr>
          <a:xfrm>
            <a:off x="9052560" y="3383280"/>
            <a:ext cx="64008" cy="914400"/>
          </a:xfrm>
          <a:prstGeom prst="rect">
            <a:avLst/>
          </a:prstGeom>
          <a:solidFill>
            <a:srgbClr val="5E7261"/>
          </a:solidFill>
          <a:ln/>
        </p:spPr>
      </p:sp>
      <p:sp>
        <p:nvSpPr>
          <p:cNvPr id="22" name="Text 20"/>
          <p:cNvSpPr/>
          <p:nvPr/>
        </p:nvSpPr>
        <p:spPr>
          <a:xfrm>
            <a:off x="9235440" y="3502152"/>
            <a:ext cx="2194560" cy="365760"/>
          </a:xfrm>
          <a:prstGeom prst="rect">
            <a:avLst/>
          </a:prstGeom>
          <a:noFill/>
          <a:ln/>
        </p:spPr>
        <p:txBody>
          <a:bodyPr wrap="square" rtlCol="0" anchor="ctr"/>
          <a:lstStyle/>
          <a:p>
            <a:pPr indent="0" marL="0">
              <a:buNone/>
            </a:pPr>
            <a:r>
              <a:rPr lang="en-US" sz="1600" b="1" dirty="0">
                <a:solidFill>
                  <a:srgbClr val="C0552F"/>
                </a:solidFill>
                <a:latin typeface="Georgia" pitchFamily="34" charset="0"/>
                <a:ea typeface="Georgia" pitchFamily="34" charset="-122"/>
                <a:cs typeface="Georgia" pitchFamily="34" charset="-120"/>
              </a:rPr>
              <a:t>15-lead eval</a:t>
            </a:r>
            <a:endParaRPr lang="en-US" sz="1600" dirty="0"/>
          </a:p>
        </p:txBody>
      </p:sp>
      <p:sp>
        <p:nvSpPr>
          <p:cNvPr id="23" name="Text 21"/>
          <p:cNvSpPr/>
          <p:nvPr/>
        </p:nvSpPr>
        <p:spPr>
          <a:xfrm>
            <a:off x="9235440" y="3858768"/>
            <a:ext cx="2194560" cy="411480"/>
          </a:xfrm>
          <a:prstGeom prst="rect">
            <a:avLst/>
          </a:prstGeom>
          <a:noFill/>
          <a:ln/>
        </p:spPr>
        <p:txBody>
          <a:bodyPr wrap="square" rtlCol="0" anchor="ctr"/>
          <a:lstStyle/>
          <a:p>
            <a:pPr indent="0" marL="0">
              <a:lnSpc>
                <a:spcPts val="1300"/>
              </a:lnSpc>
              <a:buNone/>
            </a:pPr>
            <a:r>
              <a:rPr lang="en-US" sz="1050" dirty="0">
                <a:solidFill>
                  <a:srgbClr val="2B2722"/>
                </a:solidFill>
                <a:latin typeface="Calibri" pitchFamily="34" charset="0"/>
                <a:ea typeface="Calibri" pitchFamily="34" charset="-122"/>
                <a:cs typeface="Calibri" pitchFamily="34" charset="-120"/>
              </a:rPr>
              <a:t>scoring checked vs ground truth</a:t>
            </a:r>
            <a:endParaRPr lang="en-US" sz="1050" dirty="0"/>
          </a:p>
        </p:txBody>
      </p:sp>
      <p:sp>
        <p:nvSpPr>
          <p:cNvPr id="24" name="Text 22"/>
          <p:cNvSpPr/>
          <p:nvPr/>
        </p:nvSpPr>
        <p:spPr>
          <a:xfrm>
            <a:off x="640080" y="4617720"/>
            <a:ext cx="5212080" cy="548640"/>
          </a:xfrm>
          <a:prstGeom prst="rect">
            <a:avLst/>
          </a:prstGeom>
          <a:noFill/>
          <a:ln/>
        </p:spPr>
        <p:txBody>
          <a:bodyPr wrap="square" rtlCol="0" anchor="ctr"/>
          <a:lstStyle/>
          <a:p>
            <a:pPr indent="0" marL="0">
              <a:lnSpc>
                <a:spcPts val="1600"/>
              </a:lnSpc>
              <a:buNone/>
            </a:pPr>
            <a:r>
              <a:rPr lang="en-US" sz="1200" i="1" dirty="0">
                <a:solidFill>
                  <a:srgbClr val="6F685E"/>
                </a:solidFill>
                <a:latin typeface="Calibri" pitchFamily="34" charset="0"/>
                <a:ea typeface="Calibri" pitchFamily="34" charset="-122"/>
                <a:cs typeface="Calibri" pitchFamily="34" charset="-120"/>
              </a:rPr>
              <a:t>Every metric on the dashboard is computed from real workflow runs — no hardcoded numbers.</a:t>
            </a:r>
            <a:endParaRPr lang="en-US" sz="1200" dirty="0"/>
          </a:p>
        </p:txBody>
      </p:sp>
      <p:sp>
        <p:nvSpPr>
          <p:cNvPr id="25" name="Text 23"/>
          <p:cNvSpPr/>
          <p:nvPr/>
        </p:nvSpPr>
        <p:spPr>
          <a:xfrm>
            <a:off x="640080" y="6446520"/>
            <a:ext cx="2743200" cy="274320"/>
          </a:xfrm>
          <a:prstGeom prst="rect">
            <a:avLst/>
          </a:prstGeom>
          <a:noFill/>
          <a:ln/>
        </p:spPr>
        <p:txBody>
          <a:bodyPr wrap="square" rtlCol="0" anchor="ctr"/>
          <a:lstStyle/>
          <a:p>
            <a:pPr indent="0" marL="0">
              <a:buNone/>
            </a:pPr>
            <a:r>
              <a:rPr lang="en-US" sz="1000" i="1" dirty="0">
                <a:solidFill>
                  <a:srgbClr val="6F685E"/>
                </a:solidFill>
                <a:latin typeface="Georgia" pitchFamily="34" charset="0"/>
                <a:ea typeface="Georgia" pitchFamily="34" charset="-122"/>
                <a:cs typeface="Georgia" pitchFamily="34" charset="-120"/>
              </a:rPr>
              <a:t>Pentahouse</a:t>
            </a:r>
            <a:endParaRPr lang="en-US" sz="1000" dirty="0"/>
          </a:p>
        </p:txBody>
      </p:sp>
      <p:sp>
        <p:nvSpPr>
          <p:cNvPr id="26" name="Text 24"/>
          <p:cNvSpPr/>
          <p:nvPr/>
        </p:nvSpPr>
        <p:spPr>
          <a:xfrm>
            <a:off x="11091672" y="6446520"/>
            <a:ext cx="457200" cy="274320"/>
          </a:xfrm>
          <a:prstGeom prst="rect">
            <a:avLst/>
          </a:prstGeom>
          <a:noFill/>
          <a:ln/>
        </p:spPr>
        <p:txBody>
          <a:bodyPr wrap="square" rtlCol="0" anchor="ctr"/>
          <a:lstStyle/>
          <a:p>
            <a:pPr algn="r" indent="0" marL="0">
              <a:buNone/>
            </a:pPr>
            <a:r>
              <a:rPr lang="en-US" sz="1000" dirty="0">
                <a:solidFill>
                  <a:srgbClr val="6F685E"/>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4EC"/>
        </a:solidFill>
      </p:bgPr>
    </p:bg>
    <p:spTree>
      <p:nvGrpSpPr>
        <p:cNvPr id="1" name=""/>
        <p:cNvGrpSpPr/>
        <p:nvPr/>
      </p:nvGrpSpPr>
      <p:grpSpPr>
        <a:xfrm>
          <a:off x="0" y="0"/>
          <a:ext cx="0" cy="0"/>
          <a:chOff x="0" y="0"/>
          <a:chExt cx="0" cy="0"/>
        </a:xfrm>
      </p:grpSpPr>
      <p:sp>
        <p:nvSpPr>
          <p:cNvPr id="2" name="Text 0"/>
          <p:cNvSpPr/>
          <p:nvPr/>
        </p:nvSpPr>
        <p:spPr>
          <a:xfrm>
            <a:off x="640080" y="502920"/>
            <a:ext cx="10908792" cy="274320"/>
          </a:xfrm>
          <a:prstGeom prst="rect">
            <a:avLst/>
          </a:prstGeom>
          <a:noFill/>
          <a:ln/>
        </p:spPr>
        <p:txBody>
          <a:bodyPr wrap="square" rtlCol="0" anchor="ctr"/>
          <a:lstStyle/>
          <a:p>
            <a:pPr indent="0" marL="0">
              <a:buNone/>
            </a:pPr>
            <a:r>
              <a:rPr lang="en-US" sz="1200" b="1" spc="300" kern="0" dirty="0">
                <a:solidFill>
                  <a:srgbClr val="C0552F"/>
                </a:solidFill>
                <a:latin typeface="Calibri" pitchFamily="34" charset="0"/>
                <a:ea typeface="Calibri" pitchFamily="34" charset="-122"/>
                <a:cs typeface="Calibri" pitchFamily="34" charset="-120"/>
              </a:rPr>
              <a:t>HONEST SCOPE</a:t>
            </a:r>
            <a:endParaRPr lang="en-US" sz="1200" dirty="0"/>
          </a:p>
        </p:txBody>
      </p:sp>
      <p:sp>
        <p:nvSpPr>
          <p:cNvPr id="3" name="Text 1"/>
          <p:cNvSpPr/>
          <p:nvPr/>
        </p:nvSpPr>
        <p:spPr>
          <a:xfrm>
            <a:off x="640080" y="822960"/>
            <a:ext cx="10908792" cy="1005840"/>
          </a:xfrm>
          <a:prstGeom prst="rect">
            <a:avLst/>
          </a:prstGeom>
          <a:noFill/>
          <a:ln/>
        </p:spPr>
        <p:txBody>
          <a:bodyPr wrap="square" rtlCol="0" anchor="ctr"/>
          <a:lstStyle/>
          <a:p>
            <a:pPr indent="0" marL="0">
              <a:lnSpc>
                <a:spcPts val="3465"/>
              </a:lnSpc>
              <a:buNone/>
            </a:pPr>
            <a:r>
              <a:rPr lang="en-US" sz="3300" b="1" dirty="0">
                <a:solidFill>
                  <a:srgbClr val="201E1B"/>
                </a:solidFill>
                <a:latin typeface="Georgia" pitchFamily="34" charset="0"/>
                <a:ea typeface="Georgia" pitchFamily="34" charset="-122"/>
                <a:cs typeface="Georgia" pitchFamily="34" charset="-120"/>
              </a:rPr>
              <a:t>Shipped today vs the roadmap</a:t>
            </a:r>
            <a:endParaRPr lang="en-US" sz="3300" dirty="0"/>
          </a:p>
        </p:txBody>
      </p:sp>
      <p:sp>
        <p:nvSpPr>
          <p:cNvPr id="4" name="Shape 2"/>
          <p:cNvSpPr/>
          <p:nvPr/>
        </p:nvSpPr>
        <p:spPr>
          <a:xfrm>
            <a:off x="640080" y="2286000"/>
            <a:ext cx="5349240" cy="356616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5" name="Shape 3"/>
          <p:cNvSpPr/>
          <p:nvPr/>
        </p:nvSpPr>
        <p:spPr>
          <a:xfrm>
            <a:off x="640080" y="2286000"/>
            <a:ext cx="64008" cy="3566160"/>
          </a:xfrm>
          <a:prstGeom prst="rect">
            <a:avLst/>
          </a:prstGeom>
          <a:solidFill>
            <a:srgbClr val="5E7261"/>
          </a:solidFill>
          <a:ln/>
        </p:spPr>
      </p:sp>
      <p:sp>
        <p:nvSpPr>
          <p:cNvPr id="6" name="Text 4"/>
          <p:cNvSpPr/>
          <p:nvPr/>
        </p:nvSpPr>
        <p:spPr>
          <a:xfrm>
            <a:off x="960120" y="2468880"/>
            <a:ext cx="4572000" cy="365760"/>
          </a:xfrm>
          <a:prstGeom prst="rect">
            <a:avLst/>
          </a:prstGeom>
          <a:noFill/>
          <a:ln/>
        </p:spPr>
        <p:txBody>
          <a:bodyPr wrap="square" rtlCol="0" anchor="ctr"/>
          <a:lstStyle/>
          <a:p>
            <a:pPr indent="0" marL="0">
              <a:buNone/>
            </a:pPr>
            <a:r>
              <a:rPr lang="en-US" sz="1800" b="1" dirty="0">
                <a:solidFill>
                  <a:srgbClr val="5E7261"/>
                </a:solidFill>
                <a:latin typeface="Georgia" pitchFamily="34" charset="0"/>
                <a:ea typeface="Georgia" pitchFamily="34" charset="-122"/>
                <a:cs typeface="Georgia" pitchFamily="34" charset="-120"/>
              </a:rPr>
              <a:t>Live now</a:t>
            </a:r>
            <a:endParaRPr lang="en-US" sz="1800" dirty="0"/>
          </a:p>
        </p:txBody>
      </p:sp>
      <p:sp>
        <p:nvSpPr>
          <p:cNvPr id="7" name="Text 5"/>
          <p:cNvSpPr/>
          <p:nvPr/>
        </p:nvSpPr>
        <p:spPr>
          <a:xfrm>
            <a:off x="1280160" y="2926080"/>
            <a:ext cx="4572000" cy="365760"/>
          </a:xfrm>
          <a:prstGeom prst="rect">
            <a:avLst/>
          </a:prstGeom>
          <a:noFill/>
          <a:ln/>
        </p:spPr>
        <p:txBody>
          <a:bodyPr wrap="square" rtlCol="0" anchor="ctr"/>
          <a:lstStyle/>
          <a:p>
            <a:pPr marL="342900" indent="-342900">
              <a:buSzPct val="100000"/>
              <a:buChar char="✓"/>
            </a:pPr>
            <a:r>
              <a:rPr lang="en-US" sz="1250" dirty="0">
                <a:solidFill>
                  <a:srgbClr val="2B2722"/>
                </a:solidFill>
                <a:latin typeface="Calibri" pitchFamily="34" charset="0"/>
                <a:ea typeface="Calibri" pitchFamily="34" charset="-122"/>
                <a:cs typeface="Calibri" pitchFamily="34" charset="-120"/>
              </a:rPr>
              <a:t>Five n8n agents, event-wired</a:t>
            </a:r>
            <a:endParaRPr lang="en-US" sz="1250" dirty="0"/>
          </a:p>
        </p:txBody>
      </p:sp>
      <p:sp>
        <p:nvSpPr>
          <p:cNvPr id="8" name="Text 6"/>
          <p:cNvSpPr/>
          <p:nvPr/>
        </p:nvSpPr>
        <p:spPr>
          <a:xfrm>
            <a:off x="1280160" y="3319272"/>
            <a:ext cx="4572000" cy="365760"/>
          </a:xfrm>
          <a:prstGeom prst="rect">
            <a:avLst/>
          </a:prstGeom>
          <a:noFill/>
          <a:ln/>
        </p:spPr>
        <p:txBody>
          <a:bodyPr wrap="square" rtlCol="0" anchor="ctr"/>
          <a:lstStyle/>
          <a:p>
            <a:pPr marL="342900" indent="-342900">
              <a:buSzPct val="100000"/>
              <a:buChar char="✓"/>
            </a:pPr>
            <a:r>
              <a:rPr lang="en-US" sz="1250" dirty="0">
                <a:solidFill>
                  <a:srgbClr val="2B2722"/>
                </a:solidFill>
                <a:latin typeface="Calibri" pitchFamily="34" charset="0"/>
                <a:ea typeface="Calibri" pitchFamily="34" charset="-122"/>
                <a:cs typeface="Calibri" pitchFamily="34" charset="-120"/>
              </a:rPr>
              <a:t>RAG scoring + four-model fallback</a:t>
            </a:r>
            <a:endParaRPr lang="en-US" sz="1250" dirty="0"/>
          </a:p>
        </p:txBody>
      </p:sp>
      <p:sp>
        <p:nvSpPr>
          <p:cNvPr id="9" name="Text 7"/>
          <p:cNvSpPr/>
          <p:nvPr/>
        </p:nvSpPr>
        <p:spPr>
          <a:xfrm>
            <a:off x="1280160" y="3712464"/>
            <a:ext cx="4572000" cy="365760"/>
          </a:xfrm>
          <a:prstGeom prst="rect">
            <a:avLst/>
          </a:prstGeom>
          <a:noFill/>
          <a:ln/>
        </p:spPr>
        <p:txBody>
          <a:bodyPr wrap="square" rtlCol="0" anchor="ctr"/>
          <a:lstStyle/>
          <a:p>
            <a:pPr marL="342900" indent="-342900">
              <a:buSzPct val="100000"/>
              <a:buChar char="✓"/>
            </a:pPr>
            <a:r>
              <a:rPr lang="en-US" sz="1250" dirty="0">
                <a:solidFill>
                  <a:srgbClr val="2B2722"/>
                </a:solidFill>
                <a:latin typeface="Calibri" pitchFamily="34" charset="0"/>
                <a:ea typeface="Calibri" pitchFamily="34" charset="-122"/>
                <a:cs typeface="Calibri" pitchFamily="34" charset="-120"/>
              </a:rPr>
              <a:t>WhatsApp draft to approve to send (Twilio)</a:t>
            </a:r>
            <a:endParaRPr lang="en-US" sz="1250" dirty="0"/>
          </a:p>
        </p:txBody>
      </p:sp>
      <p:sp>
        <p:nvSpPr>
          <p:cNvPr id="10" name="Text 8"/>
          <p:cNvSpPr/>
          <p:nvPr/>
        </p:nvSpPr>
        <p:spPr>
          <a:xfrm>
            <a:off x="1280160" y="4105656"/>
            <a:ext cx="4572000" cy="365760"/>
          </a:xfrm>
          <a:prstGeom prst="rect">
            <a:avLst/>
          </a:prstGeom>
          <a:noFill/>
          <a:ln/>
        </p:spPr>
        <p:txBody>
          <a:bodyPr wrap="square" rtlCol="0" anchor="ctr"/>
          <a:lstStyle/>
          <a:p>
            <a:pPr marL="342900" indent="-342900">
              <a:buSzPct val="100000"/>
              <a:buChar char="✓"/>
            </a:pPr>
            <a:r>
              <a:rPr lang="en-US" sz="1250" dirty="0">
                <a:solidFill>
                  <a:srgbClr val="2B2722"/>
                </a:solidFill>
                <a:latin typeface="Calibri" pitchFamily="34" charset="0"/>
                <a:ea typeface="Calibri" pitchFamily="34" charset="-122"/>
                <a:cs typeface="Calibri" pitchFamily="34" charset="-120"/>
              </a:rPr>
              <a:t>Google Calendar visits + Sheets mirror</a:t>
            </a:r>
            <a:endParaRPr lang="en-US" sz="1250" dirty="0"/>
          </a:p>
        </p:txBody>
      </p:sp>
      <p:sp>
        <p:nvSpPr>
          <p:cNvPr id="11" name="Text 9"/>
          <p:cNvSpPr/>
          <p:nvPr/>
        </p:nvSpPr>
        <p:spPr>
          <a:xfrm>
            <a:off x="1280160" y="4498848"/>
            <a:ext cx="4572000" cy="365760"/>
          </a:xfrm>
          <a:prstGeom prst="rect">
            <a:avLst/>
          </a:prstGeom>
          <a:noFill/>
          <a:ln/>
        </p:spPr>
        <p:txBody>
          <a:bodyPr wrap="square" rtlCol="0" anchor="ctr"/>
          <a:lstStyle/>
          <a:p>
            <a:pPr marL="342900" indent="-342900">
              <a:buSzPct val="100000"/>
              <a:buChar char="✓"/>
            </a:pPr>
            <a:r>
              <a:rPr lang="en-US" sz="1250" dirty="0">
                <a:solidFill>
                  <a:srgbClr val="2B2722"/>
                </a:solidFill>
                <a:latin typeface="Calibri" pitchFamily="34" charset="0"/>
                <a:ea typeface="Calibri" pitchFamily="34" charset="-122"/>
                <a:cs typeface="Calibri" pitchFamily="34" charset="-120"/>
              </a:rPr>
              <a:t>Meta lead-ad ingest (HMAC-verified)</a:t>
            </a:r>
            <a:endParaRPr lang="en-US" sz="1250" dirty="0"/>
          </a:p>
        </p:txBody>
      </p:sp>
      <p:sp>
        <p:nvSpPr>
          <p:cNvPr id="12" name="Text 10"/>
          <p:cNvSpPr/>
          <p:nvPr/>
        </p:nvSpPr>
        <p:spPr>
          <a:xfrm>
            <a:off x="1280160" y="4892040"/>
            <a:ext cx="4572000" cy="365760"/>
          </a:xfrm>
          <a:prstGeom prst="rect">
            <a:avLst/>
          </a:prstGeom>
          <a:noFill/>
          <a:ln/>
        </p:spPr>
        <p:txBody>
          <a:bodyPr wrap="square" rtlCol="0" anchor="ctr"/>
          <a:lstStyle/>
          <a:p>
            <a:pPr marL="342900" indent="-342900">
              <a:buSzPct val="100000"/>
              <a:buChar char="✓"/>
            </a:pPr>
            <a:r>
              <a:rPr lang="en-US" sz="1250" dirty="0">
                <a:solidFill>
                  <a:srgbClr val="2B2722"/>
                </a:solidFill>
                <a:latin typeface="Calibri" pitchFamily="34" charset="0"/>
                <a:ea typeface="Calibri" pitchFamily="34" charset="-122"/>
                <a:cs typeface="Calibri" pitchFamily="34" charset="-120"/>
              </a:rPr>
              <a:t>Three-persona dashboard + observability</a:t>
            </a:r>
            <a:endParaRPr lang="en-US" sz="1250" dirty="0"/>
          </a:p>
        </p:txBody>
      </p:sp>
      <p:sp>
        <p:nvSpPr>
          <p:cNvPr id="13" name="Text 11"/>
          <p:cNvSpPr/>
          <p:nvPr/>
        </p:nvSpPr>
        <p:spPr>
          <a:xfrm>
            <a:off x="1280160" y="5285232"/>
            <a:ext cx="4572000" cy="365760"/>
          </a:xfrm>
          <a:prstGeom prst="rect">
            <a:avLst/>
          </a:prstGeom>
          <a:noFill/>
          <a:ln/>
        </p:spPr>
        <p:txBody>
          <a:bodyPr wrap="square" rtlCol="0" anchor="ctr"/>
          <a:lstStyle/>
          <a:p>
            <a:pPr marL="342900" indent="-342900">
              <a:buSzPct val="100000"/>
              <a:buChar char="✓"/>
            </a:pPr>
            <a:r>
              <a:rPr lang="en-US" sz="1250" dirty="0">
                <a:solidFill>
                  <a:srgbClr val="2B2722"/>
                </a:solidFill>
                <a:latin typeface="Calibri" pitchFamily="34" charset="0"/>
                <a:ea typeface="Calibri" pitchFamily="34" charset="-122"/>
                <a:cs typeface="Calibri" pitchFamily="34" charset="-120"/>
              </a:rPr>
              <a:t>Lead dedup + source-to-booking attribution</a:t>
            </a:r>
            <a:endParaRPr lang="en-US" sz="1250" dirty="0"/>
          </a:p>
        </p:txBody>
      </p:sp>
      <p:sp>
        <p:nvSpPr>
          <p:cNvPr id="14" name="Shape 12"/>
          <p:cNvSpPr/>
          <p:nvPr/>
        </p:nvSpPr>
        <p:spPr>
          <a:xfrm>
            <a:off x="6309360" y="2286000"/>
            <a:ext cx="5349240" cy="356616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5" name="Shape 13"/>
          <p:cNvSpPr/>
          <p:nvPr/>
        </p:nvSpPr>
        <p:spPr>
          <a:xfrm>
            <a:off x="6309360" y="2286000"/>
            <a:ext cx="64008" cy="3566160"/>
          </a:xfrm>
          <a:prstGeom prst="rect">
            <a:avLst/>
          </a:prstGeom>
          <a:solidFill>
            <a:srgbClr val="C0552F"/>
          </a:solidFill>
          <a:ln/>
        </p:spPr>
      </p:sp>
      <p:sp>
        <p:nvSpPr>
          <p:cNvPr id="16" name="Text 14"/>
          <p:cNvSpPr/>
          <p:nvPr/>
        </p:nvSpPr>
        <p:spPr>
          <a:xfrm>
            <a:off x="6629400" y="2468880"/>
            <a:ext cx="4572000" cy="365760"/>
          </a:xfrm>
          <a:prstGeom prst="rect">
            <a:avLst/>
          </a:prstGeom>
          <a:noFill/>
          <a:ln/>
        </p:spPr>
        <p:txBody>
          <a:bodyPr wrap="square" rtlCol="0" anchor="ctr"/>
          <a:lstStyle/>
          <a:p>
            <a:pPr indent="0" marL="0">
              <a:buNone/>
            </a:pPr>
            <a:r>
              <a:rPr lang="en-US" sz="1800" b="1" dirty="0">
                <a:solidFill>
                  <a:srgbClr val="8F3D20"/>
                </a:solidFill>
                <a:latin typeface="Georgia" pitchFamily="34" charset="0"/>
                <a:ea typeface="Georgia" pitchFamily="34" charset="-122"/>
                <a:cs typeface="Georgia" pitchFamily="34" charset="-120"/>
              </a:rPr>
              <a:t>Next — v2</a:t>
            </a:r>
            <a:endParaRPr lang="en-US" sz="1800" dirty="0"/>
          </a:p>
        </p:txBody>
      </p:sp>
      <p:sp>
        <p:nvSpPr>
          <p:cNvPr id="17" name="Text 15"/>
          <p:cNvSpPr/>
          <p:nvPr/>
        </p:nvSpPr>
        <p:spPr>
          <a:xfrm>
            <a:off x="6949440" y="2926080"/>
            <a:ext cx="4572000" cy="365760"/>
          </a:xfrm>
          <a:prstGeom prst="rect">
            <a:avLst/>
          </a:prstGeom>
          <a:noFill/>
          <a:ln/>
        </p:spPr>
        <p:txBody>
          <a:bodyPr wrap="square" rtlCol="0" anchor="ctr"/>
          <a:lstStyle/>
          <a:p>
            <a:pPr marL="342900" indent="-342900">
              <a:buSzPct val="100000"/>
              <a:buChar char="→"/>
            </a:pPr>
            <a:r>
              <a:rPr lang="en-US" sz="1250" dirty="0">
                <a:solidFill>
                  <a:srgbClr val="2B2722"/>
                </a:solidFill>
                <a:latin typeface="Calibri" pitchFamily="34" charset="0"/>
                <a:ea typeface="Calibri" pitchFamily="34" charset="-122"/>
                <a:cs typeface="Calibri" pitchFamily="34" charset="-120"/>
              </a:rPr>
              <a:t>Live Meta / Google ad posting (API)</a:t>
            </a:r>
            <a:endParaRPr lang="en-US" sz="1250" dirty="0"/>
          </a:p>
        </p:txBody>
      </p:sp>
      <p:sp>
        <p:nvSpPr>
          <p:cNvPr id="18" name="Text 16"/>
          <p:cNvSpPr/>
          <p:nvPr/>
        </p:nvSpPr>
        <p:spPr>
          <a:xfrm>
            <a:off x="6949440" y="3319272"/>
            <a:ext cx="4572000" cy="365760"/>
          </a:xfrm>
          <a:prstGeom prst="rect">
            <a:avLst/>
          </a:prstGeom>
          <a:noFill/>
          <a:ln/>
        </p:spPr>
        <p:txBody>
          <a:bodyPr wrap="square" rtlCol="0" anchor="ctr"/>
          <a:lstStyle/>
          <a:p>
            <a:pPr marL="342900" indent="-342900">
              <a:buSzPct val="100000"/>
              <a:buChar char="→"/>
            </a:pPr>
            <a:r>
              <a:rPr lang="en-US" sz="1250" dirty="0">
                <a:solidFill>
                  <a:srgbClr val="2B2722"/>
                </a:solidFill>
                <a:latin typeface="Calibri" pitchFamily="34" charset="0"/>
                <a:ea typeface="Calibri" pitchFamily="34" charset="-122"/>
                <a:cs typeface="Calibri" pitchFamily="34" charset="-120"/>
              </a:rPr>
              <a:t>Multi-tenant aggregator portal</a:t>
            </a:r>
            <a:endParaRPr lang="en-US" sz="1250" dirty="0"/>
          </a:p>
        </p:txBody>
      </p:sp>
      <p:sp>
        <p:nvSpPr>
          <p:cNvPr id="19" name="Text 17"/>
          <p:cNvSpPr/>
          <p:nvPr/>
        </p:nvSpPr>
        <p:spPr>
          <a:xfrm>
            <a:off x="6949440" y="3712464"/>
            <a:ext cx="4572000" cy="365760"/>
          </a:xfrm>
          <a:prstGeom prst="rect">
            <a:avLst/>
          </a:prstGeom>
          <a:noFill/>
          <a:ln/>
        </p:spPr>
        <p:txBody>
          <a:bodyPr wrap="square" rtlCol="0" anchor="ctr"/>
          <a:lstStyle/>
          <a:p>
            <a:pPr marL="342900" indent="-342900">
              <a:buSzPct val="100000"/>
              <a:buChar char="→"/>
            </a:pPr>
            <a:r>
              <a:rPr lang="en-US" sz="1250" dirty="0">
                <a:solidFill>
                  <a:srgbClr val="2B2722"/>
                </a:solidFill>
                <a:latin typeface="Calibri" pitchFamily="34" charset="0"/>
                <a:ea typeface="Calibri" pitchFamily="34" charset="-122"/>
                <a:cs typeface="Calibri" pitchFamily="34" charset="-120"/>
              </a:rPr>
              <a:t>Drip sequences + inbound chat loop</a:t>
            </a:r>
            <a:endParaRPr lang="en-US" sz="1250" dirty="0"/>
          </a:p>
        </p:txBody>
      </p:sp>
      <p:sp>
        <p:nvSpPr>
          <p:cNvPr id="20" name="Text 18"/>
          <p:cNvSpPr/>
          <p:nvPr/>
        </p:nvSpPr>
        <p:spPr>
          <a:xfrm>
            <a:off x="6949440" y="4105656"/>
            <a:ext cx="4572000" cy="365760"/>
          </a:xfrm>
          <a:prstGeom prst="rect">
            <a:avLst/>
          </a:prstGeom>
          <a:noFill/>
          <a:ln/>
        </p:spPr>
        <p:txBody>
          <a:bodyPr wrap="square" rtlCol="0" anchor="ctr"/>
          <a:lstStyle/>
          <a:p>
            <a:pPr marL="342900" indent="-342900">
              <a:buSzPct val="100000"/>
              <a:buChar char="→"/>
            </a:pPr>
            <a:r>
              <a:rPr lang="en-US" sz="1250" dirty="0">
                <a:solidFill>
                  <a:srgbClr val="2B2722"/>
                </a:solidFill>
                <a:latin typeface="Calibri" pitchFamily="34" charset="0"/>
                <a:ea typeface="Calibri" pitchFamily="34" charset="-122"/>
                <a:cs typeface="Calibri" pitchFamily="34" charset="-120"/>
              </a:rPr>
              <a:t>Closed-loop budget optimization</a:t>
            </a:r>
            <a:endParaRPr lang="en-US" sz="1250" dirty="0"/>
          </a:p>
        </p:txBody>
      </p:sp>
      <p:sp>
        <p:nvSpPr>
          <p:cNvPr id="21" name="Text 19"/>
          <p:cNvSpPr/>
          <p:nvPr/>
        </p:nvSpPr>
        <p:spPr>
          <a:xfrm>
            <a:off x="6949440" y="4498848"/>
            <a:ext cx="4572000" cy="365760"/>
          </a:xfrm>
          <a:prstGeom prst="rect">
            <a:avLst/>
          </a:prstGeom>
          <a:noFill/>
          <a:ln/>
        </p:spPr>
        <p:txBody>
          <a:bodyPr wrap="square" rtlCol="0" anchor="ctr"/>
          <a:lstStyle/>
          <a:p>
            <a:pPr marL="342900" indent="-342900">
              <a:buSzPct val="100000"/>
              <a:buChar char="→"/>
            </a:pPr>
            <a:r>
              <a:rPr lang="en-US" sz="1250" dirty="0">
                <a:solidFill>
                  <a:srgbClr val="2B2722"/>
                </a:solidFill>
                <a:latin typeface="Calibri" pitchFamily="34" charset="0"/>
                <a:ea typeface="Calibri" pitchFamily="34" charset="-122"/>
                <a:cs typeface="Calibri" pitchFamily="34" charset="-120"/>
              </a:rPr>
              <a:t>Vector memory over long buyer threads</a:t>
            </a:r>
            <a:endParaRPr lang="en-US" sz="1250" dirty="0"/>
          </a:p>
        </p:txBody>
      </p:sp>
      <p:sp>
        <p:nvSpPr>
          <p:cNvPr id="22" name="Text 20"/>
          <p:cNvSpPr/>
          <p:nvPr/>
        </p:nvSpPr>
        <p:spPr>
          <a:xfrm>
            <a:off x="6949440" y="4892040"/>
            <a:ext cx="4572000" cy="365760"/>
          </a:xfrm>
          <a:prstGeom prst="rect">
            <a:avLst/>
          </a:prstGeom>
          <a:noFill/>
          <a:ln/>
        </p:spPr>
        <p:txBody>
          <a:bodyPr wrap="square" rtlCol="0" anchor="ctr"/>
          <a:lstStyle/>
          <a:p>
            <a:pPr marL="342900" indent="-342900">
              <a:buSzPct val="100000"/>
              <a:buChar char="→"/>
            </a:pPr>
            <a:r>
              <a:rPr lang="en-US" sz="1250" dirty="0">
                <a:solidFill>
                  <a:srgbClr val="2B2722"/>
                </a:solidFill>
                <a:latin typeface="Calibri" pitchFamily="34" charset="0"/>
                <a:ea typeface="Calibri" pitchFamily="34" charset="-122"/>
                <a:cs typeface="Calibri" pitchFamily="34" charset="-120"/>
              </a:rPr>
              <a:t>Fine-tuned intent classifier</a:t>
            </a:r>
            <a:endParaRPr lang="en-US" sz="1250" dirty="0"/>
          </a:p>
        </p:txBody>
      </p:sp>
      <p:sp>
        <p:nvSpPr>
          <p:cNvPr id="23" name="Text 21"/>
          <p:cNvSpPr/>
          <p:nvPr/>
        </p:nvSpPr>
        <p:spPr>
          <a:xfrm>
            <a:off x="640080" y="5943600"/>
            <a:ext cx="10908792" cy="320040"/>
          </a:xfrm>
          <a:prstGeom prst="rect">
            <a:avLst/>
          </a:prstGeom>
          <a:noFill/>
          <a:ln/>
        </p:spPr>
        <p:txBody>
          <a:bodyPr wrap="square" rtlCol="0" anchor="ctr"/>
          <a:lstStyle/>
          <a:p>
            <a:pPr algn="ctr" indent="0" marL="0">
              <a:buNone/>
            </a:pPr>
            <a:r>
              <a:rPr lang="en-US" sz="1300" i="1" dirty="0">
                <a:solidFill>
                  <a:srgbClr val="201E1B"/>
                </a:solidFill>
                <a:latin typeface="Calibri" pitchFamily="34" charset="0"/>
                <a:ea typeface="Calibri" pitchFamily="34" charset="-122"/>
                <a:cs typeface="Calibri" pitchFamily="34" charset="-120"/>
              </a:rPr>
              <a:t>Four of five concept-brief tool integrations are real and working today.</a:t>
            </a:r>
            <a:endParaRPr lang="en-US" sz="1300" dirty="0"/>
          </a:p>
        </p:txBody>
      </p:sp>
      <p:sp>
        <p:nvSpPr>
          <p:cNvPr id="24" name="Text 22"/>
          <p:cNvSpPr/>
          <p:nvPr/>
        </p:nvSpPr>
        <p:spPr>
          <a:xfrm>
            <a:off x="640080" y="6446520"/>
            <a:ext cx="2743200" cy="274320"/>
          </a:xfrm>
          <a:prstGeom prst="rect">
            <a:avLst/>
          </a:prstGeom>
          <a:noFill/>
          <a:ln/>
        </p:spPr>
        <p:txBody>
          <a:bodyPr wrap="square" rtlCol="0" anchor="ctr"/>
          <a:lstStyle/>
          <a:p>
            <a:pPr indent="0" marL="0">
              <a:buNone/>
            </a:pPr>
            <a:r>
              <a:rPr lang="en-US" sz="1000" i="1" dirty="0">
                <a:solidFill>
                  <a:srgbClr val="6F685E"/>
                </a:solidFill>
                <a:latin typeface="Georgia" pitchFamily="34" charset="0"/>
                <a:ea typeface="Georgia" pitchFamily="34" charset="-122"/>
                <a:cs typeface="Georgia" pitchFamily="34" charset="-120"/>
              </a:rPr>
              <a:t>Pentahouse</a:t>
            </a:r>
            <a:endParaRPr lang="en-US" sz="1000" dirty="0"/>
          </a:p>
        </p:txBody>
      </p:sp>
      <p:sp>
        <p:nvSpPr>
          <p:cNvPr id="25" name="Text 23"/>
          <p:cNvSpPr/>
          <p:nvPr/>
        </p:nvSpPr>
        <p:spPr>
          <a:xfrm>
            <a:off x="11091672" y="6446520"/>
            <a:ext cx="457200" cy="274320"/>
          </a:xfrm>
          <a:prstGeom prst="rect">
            <a:avLst/>
          </a:prstGeom>
          <a:noFill/>
          <a:ln/>
        </p:spPr>
        <p:txBody>
          <a:bodyPr wrap="square" rtlCol="0" anchor="ctr"/>
          <a:lstStyle/>
          <a:p>
            <a:pPr algn="r" indent="0" marL="0">
              <a:buNone/>
            </a:pPr>
            <a:r>
              <a:rPr lang="en-US" sz="1000" dirty="0">
                <a:solidFill>
                  <a:srgbClr val="6F685E"/>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4EC"/>
        </a:solidFill>
      </p:bgPr>
    </p:bg>
    <p:spTree>
      <p:nvGrpSpPr>
        <p:cNvPr id="1" name=""/>
        <p:cNvGrpSpPr/>
        <p:nvPr/>
      </p:nvGrpSpPr>
      <p:grpSpPr>
        <a:xfrm>
          <a:off x="0" y="0"/>
          <a:ext cx="0" cy="0"/>
          <a:chOff x="0" y="0"/>
          <a:chExt cx="0" cy="0"/>
        </a:xfrm>
      </p:grpSpPr>
      <p:sp>
        <p:nvSpPr>
          <p:cNvPr id="2" name="Text 0"/>
          <p:cNvSpPr/>
          <p:nvPr/>
        </p:nvSpPr>
        <p:spPr>
          <a:xfrm>
            <a:off x="640080" y="502920"/>
            <a:ext cx="10908792" cy="274320"/>
          </a:xfrm>
          <a:prstGeom prst="rect">
            <a:avLst/>
          </a:prstGeom>
          <a:noFill/>
          <a:ln/>
        </p:spPr>
        <p:txBody>
          <a:bodyPr wrap="square" rtlCol="0" anchor="ctr"/>
          <a:lstStyle/>
          <a:p>
            <a:pPr indent="0" marL="0">
              <a:buNone/>
            </a:pPr>
            <a:r>
              <a:rPr lang="en-US" sz="1200" b="1" spc="300" kern="0" dirty="0">
                <a:solidFill>
                  <a:srgbClr val="C0552F"/>
                </a:solidFill>
                <a:latin typeface="Calibri" pitchFamily="34" charset="0"/>
                <a:ea typeface="Calibri" pitchFamily="34" charset="-122"/>
                <a:cs typeface="Calibri" pitchFamily="34" charset="-120"/>
              </a:rPr>
              <a:t>GO TO MARKET</a:t>
            </a:r>
            <a:endParaRPr lang="en-US" sz="1200" dirty="0"/>
          </a:p>
        </p:txBody>
      </p:sp>
      <p:sp>
        <p:nvSpPr>
          <p:cNvPr id="3" name="Text 1"/>
          <p:cNvSpPr/>
          <p:nvPr/>
        </p:nvSpPr>
        <p:spPr>
          <a:xfrm>
            <a:off x="640080" y="822960"/>
            <a:ext cx="10908792" cy="1005840"/>
          </a:xfrm>
          <a:prstGeom prst="rect">
            <a:avLst/>
          </a:prstGeom>
          <a:noFill/>
          <a:ln/>
        </p:spPr>
        <p:txBody>
          <a:bodyPr wrap="square" rtlCol="0" anchor="ctr"/>
          <a:lstStyle/>
          <a:p>
            <a:pPr indent="0" marL="0">
              <a:lnSpc>
                <a:spcPts val="3465"/>
              </a:lnSpc>
              <a:buNone/>
            </a:pPr>
            <a:r>
              <a:rPr lang="en-US" sz="3300" b="1" dirty="0">
                <a:solidFill>
                  <a:srgbClr val="201E1B"/>
                </a:solidFill>
                <a:latin typeface="Georgia" pitchFamily="34" charset="0"/>
                <a:ea typeface="Georgia" pitchFamily="34" charset="-122"/>
                <a:cs typeface="Georgia" pitchFamily="34" charset="-120"/>
              </a:rPr>
              <a:t>Who pays, and why</a:t>
            </a:r>
            <a:endParaRPr lang="en-US" sz="3300" dirty="0"/>
          </a:p>
        </p:txBody>
      </p:sp>
      <p:sp>
        <p:nvSpPr>
          <p:cNvPr id="4" name="Shape 2"/>
          <p:cNvSpPr/>
          <p:nvPr/>
        </p:nvSpPr>
        <p:spPr>
          <a:xfrm>
            <a:off x="640080" y="2331720"/>
            <a:ext cx="10908792" cy="105156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5" name="Shape 3"/>
          <p:cNvSpPr/>
          <p:nvPr/>
        </p:nvSpPr>
        <p:spPr>
          <a:xfrm>
            <a:off x="640080" y="2331720"/>
            <a:ext cx="64008" cy="1051560"/>
          </a:xfrm>
          <a:prstGeom prst="rect">
            <a:avLst/>
          </a:prstGeom>
          <a:solidFill>
            <a:srgbClr val="5E7261"/>
          </a:solidFill>
          <a:ln/>
        </p:spPr>
      </p:sp>
      <p:sp>
        <p:nvSpPr>
          <p:cNvPr id="6" name="Text 4"/>
          <p:cNvSpPr/>
          <p:nvPr/>
        </p:nvSpPr>
        <p:spPr>
          <a:xfrm>
            <a:off x="960120" y="2441448"/>
            <a:ext cx="2194560" cy="822960"/>
          </a:xfrm>
          <a:prstGeom prst="rect">
            <a:avLst/>
          </a:prstGeom>
          <a:noFill/>
          <a:ln/>
        </p:spPr>
        <p:txBody>
          <a:bodyPr wrap="square" rtlCol="0" anchor="ctr"/>
          <a:lstStyle/>
          <a:p>
            <a:pPr indent="0" marL="0">
              <a:buNone/>
            </a:pPr>
            <a:r>
              <a:rPr lang="en-US" sz="1800" b="1" dirty="0">
                <a:solidFill>
                  <a:srgbClr val="5E7261"/>
                </a:solidFill>
                <a:latin typeface="Georgia" pitchFamily="34" charset="0"/>
                <a:ea typeface="Georgia" pitchFamily="34" charset="-122"/>
                <a:cs typeface="Georgia" pitchFamily="34" charset="-120"/>
              </a:rPr>
              <a:t>Who</a:t>
            </a:r>
            <a:endParaRPr lang="en-US" sz="1800" dirty="0"/>
          </a:p>
        </p:txBody>
      </p:sp>
      <p:sp>
        <p:nvSpPr>
          <p:cNvPr id="7" name="Text 5"/>
          <p:cNvSpPr/>
          <p:nvPr/>
        </p:nvSpPr>
        <p:spPr>
          <a:xfrm>
            <a:off x="3383280" y="2441448"/>
            <a:ext cx="7891272" cy="822960"/>
          </a:xfrm>
          <a:prstGeom prst="rect">
            <a:avLst/>
          </a:prstGeom>
          <a:noFill/>
          <a:ln/>
        </p:spPr>
        <p:txBody>
          <a:bodyPr wrap="square" rtlCol="0" anchor="ctr"/>
          <a:lstStyle/>
          <a:p>
            <a:pPr indent="0" marL="0">
              <a:lnSpc>
                <a:spcPts val="1800"/>
              </a:lnSpc>
              <a:buNone/>
            </a:pPr>
            <a:r>
              <a:rPr lang="en-US" sz="1350" dirty="0">
                <a:solidFill>
                  <a:srgbClr val="2B2722"/>
                </a:solidFill>
                <a:latin typeface="Calibri" pitchFamily="34" charset="0"/>
                <a:ea typeface="Calibri" pitchFamily="34" charset="-122"/>
                <a:cs typeface="Calibri" pitchFamily="34" charset="-120"/>
              </a:rPr>
              <a:t>Mid-tier residential developers — roughly 600 nationally, 50–500 units a year, running on portals and CRMs they don't love.</a:t>
            </a:r>
            <a:endParaRPr lang="en-US" sz="1350" dirty="0"/>
          </a:p>
        </p:txBody>
      </p:sp>
      <p:sp>
        <p:nvSpPr>
          <p:cNvPr id="8" name="Shape 6"/>
          <p:cNvSpPr/>
          <p:nvPr/>
        </p:nvSpPr>
        <p:spPr>
          <a:xfrm>
            <a:off x="640080" y="3566160"/>
            <a:ext cx="10908792" cy="105156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9" name="Shape 7"/>
          <p:cNvSpPr/>
          <p:nvPr/>
        </p:nvSpPr>
        <p:spPr>
          <a:xfrm>
            <a:off x="640080" y="3566160"/>
            <a:ext cx="64008" cy="1051560"/>
          </a:xfrm>
          <a:prstGeom prst="rect">
            <a:avLst/>
          </a:prstGeom>
          <a:solidFill>
            <a:srgbClr val="C0552F"/>
          </a:solidFill>
          <a:ln/>
        </p:spPr>
      </p:sp>
      <p:sp>
        <p:nvSpPr>
          <p:cNvPr id="10" name="Text 8"/>
          <p:cNvSpPr/>
          <p:nvPr/>
        </p:nvSpPr>
        <p:spPr>
          <a:xfrm>
            <a:off x="960120" y="3675888"/>
            <a:ext cx="2194560" cy="822960"/>
          </a:xfrm>
          <a:prstGeom prst="rect">
            <a:avLst/>
          </a:prstGeom>
          <a:noFill/>
          <a:ln/>
        </p:spPr>
        <p:txBody>
          <a:bodyPr wrap="square" rtlCol="0" anchor="ctr"/>
          <a:lstStyle/>
          <a:p>
            <a:pPr indent="0" marL="0">
              <a:buNone/>
            </a:pPr>
            <a:r>
              <a:rPr lang="en-US" sz="1800" b="1" dirty="0">
                <a:solidFill>
                  <a:srgbClr val="8F3D20"/>
                </a:solidFill>
                <a:latin typeface="Georgia" pitchFamily="34" charset="0"/>
                <a:ea typeface="Georgia" pitchFamily="34" charset="-122"/>
                <a:cs typeface="Georgia" pitchFamily="34" charset="-120"/>
              </a:rPr>
              <a:t>How they pay</a:t>
            </a:r>
            <a:endParaRPr lang="en-US" sz="1800" dirty="0"/>
          </a:p>
        </p:txBody>
      </p:sp>
      <p:sp>
        <p:nvSpPr>
          <p:cNvPr id="11" name="Text 9"/>
          <p:cNvSpPr/>
          <p:nvPr/>
        </p:nvSpPr>
        <p:spPr>
          <a:xfrm>
            <a:off x="3383280" y="3675888"/>
            <a:ext cx="7891272" cy="822960"/>
          </a:xfrm>
          <a:prstGeom prst="rect">
            <a:avLst/>
          </a:prstGeom>
          <a:noFill/>
          <a:ln/>
        </p:spPr>
        <p:txBody>
          <a:bodyPr wrap="square" rtlCol="0" anchor="ctr"/>
          <a:lstStyle/>
          <a:p>
            <a:pPr indent="0" marL="0">
              <a:lnSpc>
                <a:spcPts val="1800"/>
              </a:lnSpc>
              <a:buNone/>
            </a:pPr>
            <a:r>
              <a:rPr lang="en-US" sz="1350" dirty="0">
                <a:solidFill>
                  <a:srgbClr val="2B2722"/>
                </a:solidFill>
                <a:latin typeface="Calibri" pitchFamily="34" charset="0"/>
                <a:ea typeface="Calibri" pitchFamily="34" charset="-122"/>
                <a:cs typeface="Calibri" pitchFamily="34" charset="-120"/>
              </a:rPr>
              <a:t>SaaS per project or seat, plus an outcome fee on qualified site-visits and attributed bookings, plus a premium ad-management tier.</a:t>
            </a:r>
            <a:endParaRPr lang="en-US" sz="1350" dirty="0"/>
          </a:p>
        </p:txBody>
      </p:sp>
      <p:sp>
        <p:nvSpPr>
          <p:cNvPr id="12" name="Shape 10"/>
          <p:cNvSpPr/>
          <p:nvPr/>
        </p:nvSpPr>
        <p:spPr>
          <a:xfrm>
            <a:off x="640080" y="4800600"/>
            <a:ext cx="10908792" cy="1051560"/>
          </a:xfrm>
          <a:prstGeom prst="rect">
            <a:avLst/>
          </a:prstGeom>
          <a:solidFill>
            <a:srgbClr val="FFFFFF"/>
          </a:solidFill>
          <a:ln w="12700">
            <a:solidFill>
              <a:srgbClr val="E4DBCB"/>
            </a:solidFill>
            <a:prstDash val="solid"/>
          </a:ln>
          <a:effectLst>
            <a:outerShdw sx="100000" sy="100000" kx="0" ky="0" algn="bl" rotWithShape="0" blurRad="114300" dist="38100" dir="8100000">
              <a:srgbClr val="000000">
                <a:alpha val="10000"/>
              </a:srgbClr>
            </a:outerShdw>
          </a:effectLst>
        </p:spPr>
      </p:sp>
      <p:sp>
        <p:nvSpPr>
          <p:cNvPr id="13" name="Shape 11"/>
          <p:cNvSpPr/>
          <p:nvPr/>
        </p:nvSpPr>
        <p:spPr>
          <a:xfrm>
            <a:off x="640080" y="4800600"/>
            <a:ext cx="64008" cy="1051560"/>
          </a:xfrm>
          <a:prstGeom prst="rect">
            <a:avLst/>
          </a:prstGeom>
          <a:solidFill>
            <a:srgbClr val="5E7261"/>
          </a:solidFill>
          <a:ln/>
        </p:spPr>
      </p:sp>
      <p:sp>
        <p:nvSpPr>
          <p:cNvPr id="14" name="Text 12"/>
          <p:cNvSpPr/>
          <p:nvPr/>
        </p:nvSpPr>
        <p:spPr>
          <a:xfrm>
            <a:off x="960120" y="4910328"/>
            <a:ext cx="2194560" cy="822960"/>
          </a:xfrm>
          <a:prstGeom prst="rect">
            <a:avLst/>
          </a:prstGeom>
          <a:noFill/>
          <a:ln/>
        </p:spPr>
        <p:txBody>
          <a:bodyPr wrap="square" rtlCol="0" anchor="ctr"/>
          <a:lstStyle/>
          <a:p>
            <a:pPr indent="0" marL="0">
              <a:buNone/>
            </a:pPr>
            <a:r>
              <a:rPr lang="en-US" sz="1800" b="1" dirty="0">
                <a:solidFill>
                  <a:srgbClr val="5E7261"/>
                </a:solidFill>
                <a:latin typeface="Georgia" pitchFamily="34" charset="0"/>
                <a:ea typeface="Georgia" pitchFamily="34" charset="-122"/>
                <a:cs typeface="Georgia" pitchFamily="34" charset="-120"/>
              </a:rPr>
              <a:t>The motion</a:t>
            </a:r>
            <a:endParaRPr lang="en-US" sz="1800" dirty="0"/>
          </a:p>
        </p:txBody>
      </p:sp>
      <p:sp>
        <p:nvSpPr>
          <p:cNvPr id="15" name="Text 13"/>
          <p:cNvSpPr/>
          <p:nvPr/>
        </p:nvSpPr>
        <p:spPr>
          <a:xfrm>
            <a:off x="3383280" y="4910328"/>
            <a:ext cx="7891272" cy="822960"/>
          </a:xfrm>
          <a:prstGeom prst="rect">
            <a:avLst/>
          </a:prstGeom>
          <a:noFill/>
          <a:ln/>
        </p:spPr>
        <p:txBody>
          <a:bodyPr wrap="square" rtlCol="0" anchor="ctr"/>
          <a:lstStyle/>
          <a:p>
            <a:pPr indent="0" marL="0">
              <a:lnSpc>
                <a:spcPts val="1800"/>
              </a:lnSpc>
              <a:buNone/>
            </a:pPr>
            <a:r>
              <a:rPr lang="en-US" sz="1350" dirty="0">
                <a:solidFill>
                  <a:srgbClr val="2B2722"/>
                </a:solidFill>
                <a:latin typeface="Calibri" pitchFamily="34" charset="0"/>
                <a:ea typeface="Calibri" pitchFamily="34" charset="-122"/>
                <a:cs typeface="Calibri" pitchFamily="34" charset="-120"/>
              </a:rPr>
              <a:t>Paid pilots with Pune and Bangalore sales heads — speed-to-lead and attribution as the proof, before any deck math.</a:t>
            </a:r>
            <a:endParaRPr lang="en-US" sz="1350" dirty="0"/>
          </a:p>
        </p:txBody>
      </p:sp>
      <p:sp>
        <p:nvSpPr>
          <p:cNvPr id="16" name="Text 14"/>
          <p:cNvSpPr/>
          <p:nvPr/>
        </p:nvSpPr>
        <p:spPr>
          <a:xfrm>
            <a:off x="640080" y="6446520"/>
            <a:ext cx="2743200" cy="274320"/>
          </a:xfrm>
          <a:prstGeom prst="rect">
            <a:avLst/>
          </a:prstGeom>
          <a:noFill/>
          <a:ln/>
        </p:spPr>
        <p:txBody>
          <a:bodyPr wrap="square" rtlCol="0" anchor="ctr"/>
          <a:lstStyle/>
          <a:p>
            <a:pPr indent="0" marL="0">
              <a:buNone/>
            </a:pPr>
            <a:r>
              <a:rPr lang="en-US" sz="1000" i="1" dirty="0">
                <a:solidFill>
                  <a:srgbClr val="6F685E"/>
                </a:solidFill>
                <a:latin typeface="Georgia" pitchFamily="34" charset="0"/>
                <a:ea typeface="Georgia" pitchFamily="34" charset="-122"/>
                <a:cs typeface="Georgia" pitchFamily="34" charset="-120"/>
              </a:rPr>
              <a:t>Pentahouse</a:t>
            </a:r>
            <a:endParaRPr lang="en-US" sz="1000" dirty="0"/>
          </a:p>
        </p:txBody>
      </p:sp>
      <p:sp>
        <p:nvSpPr>
          <p:cNvPr id="17" name="Text 15"/>
          <p:cNvSpPr/>
          <p:nvPr/>
        </p:nvSpPr>
        <p:spPr>
          <a:xfrm>
            <a:off x="11091672" y="6446520"/>
            <a:ext cx="457200" cy="274320"/>
          </a:xfrm>
          <a:prstGeom prst="rect">
            <a:avLst/>
          </a:prstGeom>
          <a:noFill/>
          <a:ln/>
        </p:spPr>
        <p:txBody>
          <a:bodyPr wrap="square" rtlCol="0" anchor="ctr"/>
          <a:lstStyle/>
          <a:p>
            <a:pPr algn="r" indent="0" marL="0">
              <a:buNone/>
            </a:pPr>
            <a:r>
              <a:rPr lang="en-US" sz="1000" dirty="0">
                <a:solidFill>
                  <a:srgbClr val="6F685E"/>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01E1B"/>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0552F"/>
          </a:solidFill>
          <a:ln/>
        </p:spPr>
      </p:sp>
      <p:sp>
        <p:nvSpPr>
          <p:cNvPr id="3" name="Text 1"/>
          <p:cNvSpPr/>
          <p:nvPr/>
        </p:nvSpPr>
        <p:spPr>
          <a:xfrm>
            <a:off x="1005840" y="1828800"/>
            <a:ext cx="10058400" cy="1737360"/>
          </a:xfrm>
          <a:prstGeom prst="rect">
            <a:avLst/>
          </a:prstGeom>
          <a:noFill/>
          <a:ln/>
        </p:spPr>
        <p:txBody>
          <a:bodyPr wrap="square" rtlCol="0" anchor="ctr"/>
          <a:lstStyle/>
          <a:p>
            <a:pPr indent="0" marL="0">
              <a:lnSpc>
                <a:spcPts val="5000"/>
              </a:lnSpc>
              <a:buNone/>
            </a:pPr>
            <a:r>
              <a:rPr lang="en-US" sz="4600" b="1" dirty="0">
                <a:solidFill>
                  <a:srgbClr val="FFFFFF"/>
                </a:solidFill>
                <a:latin typeface="Georgia" pitchFamily="34" charset="0"/>
                <a:ea typeface="Georgia" pitchFamily="34" charset="-122"/>
                <a:cs typeface="Georgia" pitchFamily="34" charset="-120"/>
              </a:rPr>
              <a:t>Lead decay is the problem.</a:t>
            </a:r>
            <a:endParaRPr lang="en-US" sz="4600" dirty="0"/>
          </a:p>
          <a:p>
            <a:pPr indent="0" marL="0">
              <a:lnSpc>
                <a:spcPts val="5000"/>
              </a:lnSpc>
              <a:buNone/>
            </a:pPr>
            <a:r>
              <a:rPr lang="en-US" sz="4600" b="1" dirty="0">
                <a:solidFill>
                  <a:srgbClr val="FFFFFF"/>
                </a:solidFill>
                <a:latin typeface="Georgia" pitchFamily="34" charset="0"/>
                <a:ea typeface="Georgia" pitchFamily="34" charset="-122"/>
                <a:cs typeface="Georgia" pitchFamily="34" charset="-120"/>
              </a:rPr>
              <a:t>Intelligence is the cure.</a:t>
            </a:r>
            <a:endParaRPr lang="en-US" sz="4600" dirty="0"/>
          </a:p>
        </p:txBody>
      </p:sp>
      <p:sp>
        <p:nvSpPr>
          <p:cNvPr id="4" name="Text 2"/>
          <p:cNvSpPr/>
          <p:nvPr/>
        </p:nvSpPr>
        <p:spPr>
          <a:xfrm>
            <a:off x="1005840" y="3703320"/>
            <a:ext cx="9692640" cy="822960"/>
          </a:xfrm>
          <a:prstGeom prst="rect">
            <a:avLst/>
          </a:prstGeom>
          <a:noFill/>
          <a:ln/>
        </p:spPr>
        <p:txBody>
          <a:bodyPr wrap="square" rtlCol="0" anchor="ctr"/>
          <a:lstStyle/>
          <a:p>
            <a:pPr indent="0" marL="0">
              <a:lnSpc>
                <a:spcPts val="2400"/>
              </a:lnSpc>
              <a:buNone/>
            </a:pPr>
            <a:r>
              <a:rPr lang="en-US" sz="1650" dirty="0">
                <a:solidFill>
                  <a:srgbClr val="C7BEB2"/>
                </a:solidFill>
                <a:latin typeface="Calibri" pitchFamily="34" charset="0"/>
                <a:ea typeface="Calibri" pitchFamily="34" charset="-122"/>
                <a:cs typeface="Calibri" pitchFamily="34" charset="-120"/>
              </a:rPr>
              <a:t>Pentahouse turns every inquiry into a qualified visit — and traces every booking back to the rupee that paid for it.</a:t>
            </a:r>
            <a:endParaRPr lang="en-US" sz="1650" dirty="0"/>
          </a:p>
        </p:txBody>
      </p:sp>
      <p:sp>
        <p:nvSpPr>
          <p:cNvPr id="5" name="Text 3"/>
          <p:cNvSpPr/>
          <p:nvPr/>
        </p:nvSpPr>
        <p:spPr>
          <a:xfrm>
            <a:off x="1005840" y="5120640"/>
            <a:ext cx="10058400" cy="365760"/>
          </a:xfrm>
          <a:prstGeom prst="rect">
            <a:avLst/>
          </a:prstGeom>
          <a:noFill/>
          <a:ln/>
        </p:spPr>
        <p:txBody>
          <a:bodyPr wrap="square" rtlCol="0" anchor="ctr"/>
          <a:lstStyle/>
          <a:p>
            <a:pPr indent="0" marL="0">
              <a:buNone/>
            </a:pPr>
            <a:r>
              <a:rPr lang="en-US" sz="1400" dirty="0">
                <a:solidFill>
                  <a:srgbClr val="E7D9BD"/>
                </a:solidFill>
                <a:latin typeface="Calibri" pitchFamily="34" charset="0"/>
                <a:ea typeface="Calibri" pitchFamily="34" charset="-122"/>
                <a:cs typeface="Calibri" pitchFamily="34" charset="-120"/>
              </a:rPr>
              <a:t>Thank you   ·   </a:t>
            </a:r>
            <a:pPr indent="0" marL="0">
              <a:buNone/>
            </a:pPr>
            <a:r>
              <a:rPr lang="en-US" sz="1400" b="1" dirty="0">
                <a:solidFill>
                  <a:srgbClr val="FFFFFF"/>
                </a:solidFill>
                <a:latin typeface="Calibri" pitchFamily="34" charset="0"/>
                <a:ea typeface="Calibri" pitchFamily="34" charset="-122"/>
                <a:cs typeface="Calibri" pitchFamily="34" charset="-120"/>
              </a:rPr>
              <a:t>Abhishek Ranjan</a:t>
            </a:r>
            <a:pPr indent="0" marL="0">
              <a:buNone/>
            </a:pPr>
            <a:r>
              <a:rPr lang="en-US" sz="1400" dirty="0">
                <a:solidFill>
                  <a:srgbClr val="9C9488"/>
                </a:solidFill>
                <a:latin typeface="Calibri" pitchFamily="34" charset="0"/>
                <a:ea typeface="Calibri" pitchFamily="34" charset="-122"/>
                <a:cs typeface="Calibri" pitchFamily="34" charset="-120"/>
              </a:rPr>
              <a:t>   ·   arjha97@gmail.com</a:t>
            </a:r>
            <a:endParaRPr lang="en-US" sz="1400" dirty="0"/>
          </a:p>
        </p:txBody>
      </p:sp>
      <p:sp>
        <p:nvSpPr>
          <p:cNvPr id="6" name="Text 4"/>
          <p:cNvSpPr/>
          <p:nvPr/>
        </p:nvSpPr>
        <p:spPr>
          <a:xfrm>
            <a:off x="1005840" y="5532120"/>
            <a:ext cx="10058400" cy="274320"/>
          </a:xfrm>
          <a:prstGeom prst="rect">
            <a:avLst/>
          </a:prstGeom>
          <a:noFill/>
          <a:ln/>
        </p:spPr>
        <p:txBody>
          <a:bodyPr wrap="square" rtlCol="0" anchor="ctr"/>
          <a:lstStyle/>
          <a:p>
            <a:pPr indent="0" marL="0">
              <a:buNone/>
            </a:pPr>
            <a:r>
              <a:rPr lang="en-US" sz="1150" spc="100" kern="0" dirty="0">
                <a:solidFill>
                  <a:srgbClr val="7C746A"/>
                </a:solidFill>
                <a:latin typeface="Calibri" pitchFamily="34" charset="0"/>
                <a:ea typeface="Calibri" pitchFamily="34" charset="-122"/>
                <a:cs typeface="Calibri" pitchFamily="34" charset="-120"/>
              </a:rPr>
              <a:t>Product Space · Advanced AI Program · Cohort 11</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Pentahouse — RE Marketing &amp; Conversion Intelligence Agent</dc:title>
  <dc:subject>PptxGenJS Presentation</dc:subject>
  <dc:creator>Abhishek Ranjan</dc:creator>
  <cp:lastModifiedBy>Abhishek Ranjan</cp:lastModifiedBy>
  <cp:revision>1</cp:revision>
  <dcterms:created xsi:type="dcterms:W3CDTF">2026-06-05T16:43:45Z</dcterms:created>
  <dcterms:modified xsi:type="dcterms:W3CDTF">2026-06-05T16:43:45Z</dcterms:modified>
</cp:coreProperties>
</file>